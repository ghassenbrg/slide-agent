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embeddedFontLst>
    <p:embeddedFont>
      <p:font typeface="Helvetica Neue"/>
      <p:regular r:id="rId15"/>
      <p:bold r:id="rId12"/>
      <p:italic r:id="rId14"/>
      <p:boldItalic r:id="rId13"/>
    </p:embeddedFont>
    <p:embeddedFont>
      <p:font typeface="Menlo"/>
      <p:regular r:id="rId19"/>
      <p:bold r:id="rId16"/>
      <p:italic r:id="rId18"/>
      <p:boldItalic r:id="rId17"/>
    </p:embeddedFont>
  </p:embeddedFontLst>
  <p:defaultTextStyle>
    <a:lvl1pPr marL="0" indent="0" algn="l" defTabSz="914400" rtl="0" eaLnBrk="1" latinLnBrk="0" hangingPunct="1">
      <a:lnSpc>
        <a:spcPct val="100000"/>
      </a:lnSpc>
      <a:spcBef>
        <a:spcPts val="0"/>
      </a:spcBef>
      <a:buNone/>
      <a:defRPr sz="1600" kern="1200">
        <a:solidFill>
          <a:schemeClr val="tx1"/>
        </a:solidFill>
        <a:latin typeface="+mn-lt"/>
        <a:ea typeface="+mn-lt"/>
        <a:cs typeface="+mn-lt"/>
      </a:defRPr>
    </a:lvl1pPr>
    <a:lvl2pPr marL="0" indent="0" algn="l" defTabSz="914400" rtl="0" eaLnBrk="1" latinLnBrk="0" hangingPunct="1">
      <a:lnSpc>
        <a:spcPct val="100000"/>
      </a:lnSpc>
      <a:spcBef>
        <a:spcPts val="0"/>
      </a:spcBef>
      <a:buNone/>
      <a:defRPr sz="1600" kern="1200">
        <a:solidFill>
          <a:schemeClr val="tx1"/>
        </a:solidFill>
        <a:latin typeface="+mn-lt"/>
        <a:ea typeface="+mn-lt"/>
        <a:cs typeface="+mn-lt"/>
      </a:defRPr>
    </a:lvl2pPr>
    <a:lvl3pPr marL="0" indent="0" algn="l" defTabSz="914400" rtl="0" eaLnBrk="1" latinLnBrk="0" hangingPunct="1">
      <a:lnSpc>
        <a:spcPct val="100000"/>
      </a:lnSpc>
      <a:spcBef>
        <a:spcPts val="0"/>
      </a:spcBef>
      <a:buNone/>
      <a:defRPr sz="1600" kern="1200">
        <a:solidFill>
          <a:schemeClr val="tx1"/>
        </a:solidFill>
        <a:latin typeface="+mn-lt"/>
        <a:ea typeface="+mn-lt"/>
        <a:cs typeface="+mn-lt"/>
      </a:defRPr>
    </a:lvl3pPr>
    <a:lvl4pPr marL="0" indent="0" algn="l" defTabSz="914400" rtl="0" eaLnBrk="1" latinLnBrk="0" hangingPunct="1">
      <a:lnSpc>
        <a:spcPct val="100000"/>
      </a:lnSpc>
      <a:spcBef>
        <a:spcPts val="0"/>
      </a:spcBef>
      <a:buNone/>
      <a:defRPr sz="1600" kern="1200">
        <a:solidFill>
          <a:schemeClr val="tx1"/>
        </a:solidFill>
        <a:latin typeface="+mn-lt"/>
        <a:ea typeface="+mn-lt"/>
        <a:cs typeface="+mn-lt"/>
      </a:defRPr>
    </a:lvl4pPr>
    <a:lvl5pPr marL="0" indent="0" algn="l" defTabSz="914400" rtl="0" eaLnBrk="1" latinLnBrk="0" hangingPunct="1">
      <a:lnSpc>
        <a:spcPct val="100000"/>
      </a:lnSpc>
      <a:spcBef>
        <a:spcPts val="0"/>
      </a:spcBef>
      <a:buNone/>
      <a:defRPr sz="1600" kern="1200">
        <a:solidFill>
          <a:schemeClr val="tx1"/>
        </a:solidFill>
        <a:latin typeface="+mn-lt"/>
        <a:ea typeface="+mn-lt"/>
        <a:cs typeface="+mn-lt"/>
      </a:defRPr>
    </a:lvl5pPr>
    <a:lvl6pPr marL="0" indent="0" algn="l" defTabSz="914400" rtl="0" eaLnBrk="1" latinLnBrk="0" hangingPunct="1">
      <a:lnSpc>
        <a:spcPct val="100000"/>
      </a:lnSpc>
      <a:spcBef>
        <a:spcPts val="0"/>
      </a:spcBef>
      <a:buNone/>
      <a:defRPr sz="1600" kern="1200">
        <a:solidFill>
          <a:schemeClr val="tx1"/>
        </a:solidFill>
        <a:latin typeface="+mn-lt"/>
        <a:ea typeface="+mn-lt"/>
        <a:cs typeface="+mn-lt"/>
      </a:defRPr>
    </a:lvl6pPr>
    <a:lvl7pPr marL="0" indent="0" algn="l" defTabSz="914400" rtl="0" eaLnBrk="1" latinLnBrk="0" hangingPunct="1">
      <a:lnSpc>
        <a:spcPct val="100000"/>
      </a:lnSpc>
      <a:spcBef>
        <a:spcPts val="0"/>
      </a:spcBef>
      <a:buNone/>
      <a:defRPr sz="1600" kern="1200">
        <a:solidFill>
          <a:schemeClr val="tx1"/>
        </a:solidFill>
        <a:latin typeface="+mn-lt"/>
        <a:ea typeface="+mn-lt"/>
        <a:cs typeface="+mn-lt"/>
      </a:defRPr>
    </a:lvl7pPr>
    <a:lvl8pPr marL="0" indent="0" algn="l" defTabSz="914400" rtl="0" eaLnBrk="1" latinLnBrk="0" hangingPunct="1">
      <a:lnSpc>
        <a:spcPct val="100000"/>
      </a:lnSpc>
      <a:spcBef>
        <a:spcPts val="0"/>
      </a:spcBef>
      <a:buNone/>
      <a:defRPr sz="1600" kern="1200">
        <a:solidFill>
          <a:schemeClr val="tx1"/>
        </a:solidFill>
        <a:latin typeface="+mn-lt"/>
        <a:ea typeface="+mn-lt"/>
        <a:cs typeface="+mn-lt"/>
      </a:defRPr>
    </a:lvl8pPr>
    <a:lvl9pPr marL="0" indent="0" algn="l" defTabSz="914400" rtl="0" eaLnBrk="1" latinLnBrk="0" hangingPunct="1">
      <a:lnSpc>
        <a:spcPct val="100000"/>
      </a:lnSpc>
      <a:spcBef>
        <a:spcPts val="0"/>
      </a:spcBef>
      <a:buNone/>
      <a:defRPr sz="16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theme" Target="theme/theme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ableStyles" Target="tableStyles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font" Target="fonts/font5.fntdata"/><Relationship Id="rId17" Type="http://schemas.openxmlformats.org/officeDocument/2006/relationships/font" Target="fonts/font6.fntdata"/><Relationship Id="rId18" Type="http://schemas.openxmlformats.org/officeDocument/2006/relationships/font" Target="fonts/font7.fntdata"/><Relationship Id="rId19" Type="http://schemas.openxmlformats.org/officeDocument/2006/relationships/font" Target="fonts/font8.fntdata"/></Relationships>
</file>

<file path=ppt/charts/_rels/chart1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MAU (K)</c:v>
                </c:pt>
              </c:strCache>
            </c:strRef>
          </c:tx>
          <c:spPr>
            <a:solidFill>
              <a:srgbClr val="8F8F92"/>
            </a:solidFill>
            <a:ln>
              <a:noFill/>
            </a:ln>
          </c:spPr>
          <c:invertIfNegative val="0"/>
          <c:dPt>
            <c:idx val="5"/>
            <c:invertIfNegative val="0"/>
            <c:bubble3D val="0"/>
            <c:spPr>
              <a:solidFill>
                <a:schemeClr val="accent1"/>
              </a:solidFill>
            </c:spPr>
          </c:dPt>
          <c:dLbls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300">
                    <a:solidFill>
                      <a:schemeClr val="dk1"/>
                    </a:solidFill>
                    <a:latin typeface="Helvetica Neue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</c:v>
                </c:pt>
                <c:pt idx="1">
                  <c:v>47</c:v>
                </c:pt>
                <c:pt idx="2">
                  <c:v>53</c:v>
                </c:pt>
                <c:pt idx="3">
                  <c:v>61</c:v>
                </c:pt>
                <c:pt idx="4">
                  <c:v>68</c:v>
                </c:pt>
                <c:pt idx="5">
                  <c:v>79</c:v>
                </c:pt>
              </c:numCache>
            </c:numRef>
          </c:val>
        </c:ser>
        <c:gapWidth val="55"/>
        <c:axId val="1001"/>
        <c:axId val="1002"/>
      </c:barChart>
      <c:catAx>
        <c:axId val="100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6350">
            <a:solidFill>
              <a:schemeClr val="accent3"/>
            </a:solidFill>
          </a:ln>
        </c:spPr>
        <c:txPr>
          <a:bodyPr/>
          <a:lstStyle/>
          <a:p>
            <a:pPr>
              <a:defRPr sz="1300">
                <a:solidFill>
                  <a:schemeClr val="dk2"/>
                </a:solidFill>
                <a:latin typeface="Helvetica Neue"/>
              </a:defRPr>
            </a:pPr>
            <a:endParaRPr lang="en-US"/>
          </a:p>
        </c:txPr>
        <c:crossAx val="1002"/>
        <c:crosses val="autoZero"/>
        <c:auto val="1"/>
        <c:lblAlgn val="ctr"/>
        <c:lblOffset val="100"/>
        <c:noMultiLvlLbl val="0"/>
      </c:catAx>
      <c:valAx>
        <c:axId val="100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solidFill>
                  <a:schemeClr val="dk2"/>
                </a:solidFill>
                <a:latin typeface="Helvetica Neue"/>
              </a:defRPr>
            </a:pPr>
            <a:endParaRPr lang="en-US"/>
          </a:p>
        </c:txPr>
        <c:crossAx val="100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sz="1300">
          <a:solidFill>
            <a:schemeClr val="dk1"/>
          </a:solidFill>
          <a:latin typeface="Helvetica Neue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/>
          </p:cNvSpPr>
          <p:nvPr>
            <p:ph type="sldImg" idx="2"/>
          </p:nvPr>
        </p:nvSpPr>
        <p:spPr>
          <a:xfrm>
            <a:off x="1042416" y="685800"/>
            <a:ext cx="4773168" cy="2688336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"/>
          <p:cNvSpPr>
            <a:spLocks noGrp="1"/>
          </p:cNvSpPr>
          <p:nvPr>
            <p:ph type="body" idx="3"/>
          </p:nvPr>
        </p:nvSpPr>
        <p:spPr>
          <a:xfrm>
            <a:off x="685800" y="3657600"/>
            <a:ext cx="5486400" cy="4297680"/>
          </a:xfr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indent="0" algn="l" defTabSz="914400" rtl="0" eaLnBrk="1" latinLnBrk="0" hangingPunct="1">
      <a:lnSpc>
        <a:spcPct val="100000"/>
      </a:lnSpc>
      <a:spcBef>
        <a:spcPts val="0"/>
      </a:spcBef>
      <a:buNone/>
      <a:defRPr sz="1200" kern="1200">
        <a:solidFill>
          <a:schemeClr val="tx1"/>
        </a:solidFill>
        <a:latin typeface="+mn-lt"/>
        <a:ea typeface="+mn-lt"/>
        <a:cs typeface="+mn-lt"/>
      </a:defRPr>
    </a:lvl1pPr>
    <a:lvl2pPr marL="0" indent="0" algn="l" defTabSz="914400" rtl="0" eaLnBrk="1" latinLnBrk="0" hangingPunct="1">
      <a:lnSpc>
        <a:spcPct val="100000"/>
      </a:lnSpc>
      <a:spcBef>
        <a:spcPts val="0"/>
      </a:spcBef>
      <a:buNone/>
      <a:defRPr sz="1200" kern="1200">
        <a:solidFill>
          <a:schemeClr val="tx1"/>
        </a:solidFill>
        <a:latin typeface="+mn-lt"/>
        <a:ea typeface="+mn-lt"/>
        <a:cs typeface="+mn-lt"/>
      </a:defRPr>
    </a:lvl2pPr>
    <a:lvl3pPr marL="0" indent="0" algn="l" defTabSz="914400" rtl="0" eaLnBrk="1" latinLnBrk="0" hangingPunct="1">
      <a:lnSpc>
        <a:spcPct val="100000"/>
      </a:lnSpc>
      <a:spcBef>
        <a:spcPts val="0"/>
      </a:spcBef>
      <a:buNone/>
      <a:defRPr sz="1200" kern="1200">
        <a:solidFill>
          <a:schemeClr val="tx1"/>
        </a:solidFill>
        <a:latin typeface="+mn-lt"/>
        <a:ea typeface="+mn-lt"/>
        <a:cs typeface="+mn-lt"/>
      </a:defRPr>
    </a:lvl3pPr>
    <a:lvl4pPr marL="0" indent="0" algn="l" defTabSz="914400" rtl="0" eaLnBrk="1" latinLnBrk="0" hangingPunct="1">
      <a:lnSpc>
        <a:spcPct val="100000"/>
      </a:lnSpc>
      <a:spcBef>
        <a:spcPts val="0"/>
      </a:spcBef>
      <a:buNone/>
      <a:defRPr sz="1200" kern="1200">
        <a:solidFill>
          <a:schemeClr val="tx1"/>
        </a:solidFill>
        <a:latin typeface="+mn-lt"/>
        <a:ea typeface="+mn-lt"/>
        <a:cs typeface="+mn-lt"/>
      </a:defRPr>
    </a:lvl4pPr>
    <a:lvl5pPr marL="0" indent="0" algn="l" defTabSz="914400" rtl="0" eaLnBrk="1" latinLnBrk="0" hangingPunct="1">
      <a:lnSpc>
        <a:spcPct val="100000"/>
      </a:lnSpc>
      <a:spcBef>
        <a:spcPts val="0"/>
      </a:spcBef>
      <a:buNone/>
      <a:defRPr sz="1200" kern="1200">
        <a:solidFill>
          <a:schemeClr val="tx1"/>
        </a:solidFill>
        <a:latin typeface="+mn-lt"/>
        <a:ea typeface="+mn-lt"/>
        <a:cs typeface="+mn-lt"/>
      </a:defRPr>
    </a:lvl5pPr>
    <a:lvl6pPr marL="0" indent="0" algn="l" defTabSz="914400" rtl="0" eaLnBrk="1" latinLnBrk="0" hangingPunct="1">
      <a:lnSpc>
        <a:spcPct val="100000"/>
      </a:lnSpc>
      <a:spcBef>
        <a:spcPts val="0"/>
      </a:spcBef>
      <a:buNone/>
      <a:defRPr sz="1200" kern="1200">
        <a:solidFill>
          <a:schemeClr val="tx1"/>
        </a:solidFill>
        <a:latin typeface="+mn-lt"/>
        <a:ea typeface="+mn-lt"/>
        <a:cs typeface="+mn-lt"/>
      </a:defRPr>
    </a:lvl6pPr>
    <a:lvl7pPr marL="0" indent="0" algn="l" defTabSz="914400" rtl="0" eaLnBrk="1" latinLnBrk="0" hangingPunct="1">
      <a:lnSpc>
        <a:spcPct val="100000"/>
      </a:lnSpc>
      <a:spcBef>
        <a:spcPts val="0"/>
      </a:spcBef>
      <a:buNone/>
      <a:defRPr sz="1200" kern="1200">
        <a:solidFill>
          <a:schemeClr val="tx1"/>
        </a:solidFill>
        <a:latin typeface="+mn-lt"/>
        <a:ea typeface="+mn-lt"/>
        <a:cs typeface="+mn-lt"/>
      </a:defRPr>
    </a:lvl7pPr>
    <a:lvl8pPr marL="0" indent="0" algn="l" defTabSz="914400" rtl="0" eaLnBrk="1" latinLnBrk="0" hangingPunct="1">
      <a:lnSpc>
        <a:spcPct val="100000"/>
      </a:lnSpc>
      <a:spcBef>
        <a:spcPts val="0"/>
      </a:spcBef>
      <a:buNone/>
      <a:defRPr sz="1200" kern="1200">
        <a:solidFill>
          <a:schemeClr val="tx1"/>
        </a:solidFill>
        <a:latin typeface="+mn-lt"/>
        <a:ea typeface="+mn-lt"/>
        <a:cs typeface="+mn-lt"/>
      </a:defRPr>
    </a:lvl8pPr>
    <a:lvl9pPr marL="0" indent="0" algn="l" defTabSz="914400" rtl="0" eaLnBrk="1" latinLnBrk="0" hangingPunct="1">
      <a:lnSpc>
        <a:spcPct val="100000"/>
      </a:lnSpc>
      <a:spcBef>
        <a:spcPts val="0"/>
      </a:spcBef>
      <a:buNone/>
      <a:defRPr sz="1200" kern="1200">
        <a:solidFill>
          <a:schemeClr val="tx1"/>
        </a:solidFill>
        <a:latin typeface="+mn-lt"/>
        <a:ea typeface="+mn-lt"/>
        <a:cs typeface="+mn-lt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dirty="0"/>
              <a:t>Executive / project-management dashboard: KPI cards, progress rings, workstream bars, a milestone timeline, the key risk and the decision needed.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dirty="0"/>
              <a:t>Technical architecture: grouped system boundaries, orthogonal routed wiring, domain colour coding, icons, an infrastructure layer.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dirty="0"/>
              <a:t>Data storytelling: three numbered acts read left to right — a highlighted column chart, a retention curve and a proportional funnel — resolving into one takeaway band.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dirty="0"/>
              <a:t>Product launch / keynote: oversized type, generous white space, a lit background and a native, fully editable device and UI mockup.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dirty="0"/>
              <a:t>Strategy / transformation: a chevron maturity model with a maturity meter per stage, then a year-by-year roadmap with initiative lanes and milestones.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100584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100584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ext Placeholder"/>
          <p:cNvSpPr>
            <a:spLocks noGrp="1"/>
          </p:cNvSpPr>
          <p:nvPr>
            <p:ph type="body" idx="1"/>
          </p:nvPr>
        </p:nvSpPr>
        <p:spPr>
          <a:xfrm>
            <a:off x="457200" y="1645920"/>
            <a:ext cx="11277600" cy="47548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ooter Placeholder"/>
          <p:cNvSpPr>
            <a:spLocks noGrp="1"/>
          </p:cNvSpPr>
          <p:nvPr>
            <p:ph type="ftr" idx="11"/>
          </p:nvPr>
        </p:nvSpPr>
        <p:spPr>
          <a:xfrm>
            <a:off x="457200" y="6492240"/>
            <a:ext cx="676656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"/>
          <p:cNvSpPr>
            <a:spLocks noGrp="1"/>
          </p:cNvSpPr>
          <p:nvPr>
            <p:ph type="sldNum" idx="12"/>
          </p:nvPr>
        </p:nvSpPr>
        <p:spPr>
          <a:xfrm>
            <a:off x="11003280" y="6492240"/>
            <a:ext cx="731520" cy="274320"/>
          </a:xfrm>
        </p:spPr>
        <p:txBody>
          <a:bodyPr/>
          <a:lstStyle/>
          <a:p>
            <a:pPr algn="r"/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3150" kern="1200">
          <a:solidFill>
            <a:schemeClr val="tx1"/>
          </a:solidFill>
          <a:latin typeface="+mj-lt"/>
          <a:ea typeface="+mj-lt"/>
          <a:cs typeface="+mj-lt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3150" kern="1200">
          <a:solidFill>
            <a:schemeClr val="tx1"/>
          </a:solidFill>
          <a:latin typeface="+mj-lt"/>
          <a:ea typeface="+mj-lt"/>
          <a:cs typeface="+mj-lt"/>
        </a:defRPr>
      </a:lvl2pPr>
      <a:lvl3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3150" kern="1200">
          <a:solidFill>
            <a:schemeClr val="tx1"/>
          </a:solidFill>
          <a:latin typeface="+mj-lt"/>
          <a:ea typeface="+mj-lt"/>
          <a:cs typeface="+mj-lt"/>
        </a:defRPr>
      </a:lvl3pPr>
      <a:lvl4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3150" kern="1200">
          <a:solidFill>
            <a:schemeClr val="tx1"/>
          </a:solidFill>
          <a:latin typeface="+mj-lt"/>
          <a:ea typeface="+mj-lt"/>
          <a:cs typeface="+mj-lt"/>
        </a:defRPr>
      </a:lvl4pPr>
      <a:lvl5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3150" kern="1200">
          <a:solidFill>
            <a:schemeClr val="tx1"/>
          </a:solidFill>
          <a:latin typeface="+mj-lt"/>
          <a:ea typeface="+mj-lt"/>
          <a:cs typeface="+mj-lt"/>
        </a:defRPr>
      </a:lvl5pPr>
      <a:lvl6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3150" kern="1200">
          <a:solidFill>
            <a:schemeClr val="tx1"/>
          </a:solidFill>
          <a:latin typeface="+mj-lt"/>
          <a:ea typeface="+mj-lt"/>
          <a:cs typeface="+mj-lt"/>
        </a:defRPr>
      </a:lvl6pPr>
      <a:lvl7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3150" kern="1200">
          <a:solidFill>
            <a:schemeClr val="tx1"/>
          </a:solidFill>
          <a:latin typeface="+mj-lt"/>
          <a:ea typeface="+mj-lt"/>
          <a:cs typeface="+mj-lt"/>
        </a:defRPr>
      </a:lvl7pPr>
      <a:lvl8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3150" kern="1200">
          <a:solidFill>
            <a:schemeClr val="tx1"/>
          </a:solidFill>
          <a:latin typeface="+mj-lt"/>
          <a:ea typeface="+mj-lt"/>
          <a:cs typeface="+mj-lt"/>
        </a:defRPr>
      </a:lvl8pPr>
      <a:lvl9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3150" kern="1200">
          <a:solidFill>
            <a:schemeClr val="tx1"/>
          </a:solidFill>
          <a:latin typeface="+mj-lt"/>
          <a:ea typeface="+mj-lt"/>
          <a:cs typeface="+mj-lt"/>
        </a:defRPr>
      </a:lvl9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5pPr>
      <a:lvl6pPr marL="1371600" indent="-228600" algn="l" defTabSz="914400" rtl="0" eaLnBrk="1" latinLnBrk="0" hangingPunct="1">
        <a:lnSpc>
          <a:spcPct val="100000"/>
        </a:lnSpc>
        <a:spcBef>
          <a:spcPts val="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6pPr>
      <a:lvl7pPr marL="1600200" indent="-228600" algn="l" defTabSz="914400" rtl="0" eaLnBrk="1" latinLnBrk="0" hangingPunct="1">
        <a:lnSpc>
          <a:spcPct val="100000"/>
        </a:lnSpc>
        <a:spcBef>
          <a:spcPts val="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7pPr>
      <a:lvl8pPr marL="1828800" indent="-228600" algn="l" defTabSz="914400" rtl="0" eaLnBrk="1" latinLnBrk="0" hangingPunct="1">
        <a:lnSpc>
          <a:spcPct val="100000"/>
        </a:lnSpc>
        <a:spcBef>
          <a:spcPts val="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8pPr>
      <a:lvl9pPr marL="2057400" indent="-228600" algn="l" defTabSz="914400" rtl="0" eaLnBrk="1" latinLnBrk="0" hangingPunct="1">
        <a:lnSpc>
          <a:spcPct val="100000"/>
        </a:lnSpc>
        <a:spcBef>
          <a:spcPts val="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600" kern="1200">
          <a:solidFill>
            <a:schemeClr val="tx1"/>
          </a:solidFill>
          <a:latin typeface="+mn-lt"/>
          <a:ea typeface="+mn-lt"/>
          <a:cs typeface="+mn-lt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600" kern="1200">
          <a:solidFill>
            <a:schemeClr val="tx1"/>
          </a:solidFill>
          <a:latin typeface="+mn-lt"/>
          <a:ea typeface="+mn-lt"/>
          <a:cs typeface="+mn-lt"/>
        </a:defRPr>
      </a:lvl2pPr>
      <a:lvl3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600" kern="1200">
          <a:solidFill>
            <a:schemeClr val="tx1"/>
          </a:solidFill>
          <a:latin typeface="+mn-lt"/>
          <a:ea typeface="+mn-lt"/>
          <a:cs typeface="+mn-lt"/>
        </a:defRPr>
      </a:lvl3pPr>
      <a:lvl4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600" kern="1200">
          <a:solidFill>
            <a:schemeClr val="tx1"/>
          </a:solidFill>
          <a:latin typeface="+mn-lt"/>
          <a:ea typeface="+mn-lt"/>
          <a:cs typeface="+mn-lt"/>
        </a:defRPr>
      </a:lvl4pPr>
      <a:lvl5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600" kern="1200">
          <a:solidFill>
            <a:schemeClr val="tx1"/>
          </a:solidFill>
          <a:latin typeface="+mn-lt"/>
          <a:ea typeface="+mn-lt"/>
          <a:cs typeface="+mn-lt"/>
        </a:defRPr>
      </a:lvl5pPr>
      <a:lvl6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600" kern="1200">
          <a:solidFill>
            <a:schemeClr val="tx1"/>
          </a:solidFill>
          <a:latin typeface="+mn-lt"/>
          <a:ea typeface="+mn-lt"/>
          <a:cs typeface="+mn-lt"/>
        </a:defRPr>
      </a:lvl6pPr>
      <a:lvl7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600" kern="1200">
          <a:solidFill>
            <a:schemeClr val="tx1"/>
          </a:solidFill>
          <a:latin typeface="+mn-lt"/>
          <a:ea typeface="+mn-lt"/>
          <a:cs typeface="+mn-lt"/>
        </a:defRPr>
      </a:lvl7pPr>
      <a:lvl8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600" kern="1200">
          <a:solidFill>
            <a:schemeClr val="tx1"/>
          </a:solidFill>
          <a:latin typeface="+mn-lt"/>
          <a:ea typeface="+mn-lt"/>
          <a:cs typeface="+mn-lt"/>
        </a:defRPr>
      </a:lvl8pPr>
      <a:lvl9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6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8802436dfb0be6fe2609.png"/><Relationship Id="rId3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4166ed3f64217fac7abf.png"/><Relationship Id="rId3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ecutive-dashboard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484632"/>
            <a:ext cx="228600" cy="228600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8000" y="3000"/>
                </a:moveTo>
                <a:lnTo>
                  <a:pt x="12000" y="11000"/>
                </a:lnTo>
                <a:lnTo>
                  <a:pt x="17000" y="6000"/>
                </a:lnTo>
                <a:lnTo>
                  <a:pt x="22000" y="21000"/>
                </a:lnTo>
                <a:lnTo>
                  <a:pt x="2000" y="21000"/>
                </a:lnTo>
                <a:lnTo>
                  <a:pt x="8000" y="3000"/>
                </a:lnTo>
                <a:close/>
              </a:path>
            </a:pathLst>
          </a:custGeom>
          <a:noFill/>
          <a:ln w="19050" cap="rnd">
            <a:solidFill>
              <a:srgbClr val="2563EB"/>
            </a:solidFill>
            <a:round/>
          </a:ln>
        </p:spPr>
      </p:sp>
      <p:sp>
        <p:nvSpPr>
          <p:cNvPr id="3" name="text2"/>
          <p:cNvSpPr txBox="1"/>
          <p:nvPr/>
        </p:nvSpPr>
        <p:spPr>
          <a:xfrm>
            <a:off x="768096" y="45720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buNone/>
            </a:pPr>
            <a:r>
              <a:rPr lang="en" sz="1200" b="1" i="0" spc="300" dirty="0">
                <a:solidFill>
                  <a:srgbClr val="0F1B33"/>
                </a:solidFill>
                <a:latin typeface="Avenir Next"/>
                <a:ea typeface="Avenir Next"/>
                <a:cs typeface="Avenir Next"/>
              </a:rPr>
              <a:t>ATLAS</a:t>
            </a:r>
            <a:endParaRPr lang="en" sz="1200" dirty="0"/>
          </a:p>
        </p:txBody>
      </p:sp>
      <p:sp>
        <p:nvSpPr>
          <p:cNvPr id="4" name="text3"/>
          <p:cNvSpPr txBox="1"/>
          <p:nvPr/>
        </p:nvSpPr>
        <p:spPr>
          <a:xfrm>
            <a:off x="6245352" y="457200"/>
            <a:ext cx="5486491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buNone/>
            </a:pPr>
            <a:r>
              <a:rPr lang="en" sz="1100" b="0" i="0" dirty="0">
                <a:solidFill>
                  <a:srgbClr val="5B6478"/>
                </a:solidFill>
                <a:latin typeface="Avenir Next"/>
                <a:ea typeface="Avenir Next"/>
                <a:cs typeface="Avenir Next"/>
              </a:rPr>
              <a:t>Q4 2024     |     Steering Committee     |     28 Nov</a:t>
            </a:r>
            <a:endParaRPr lang="en" sz="1100" dirty="0"/>
          </a:p>
        </p:txBody>
      </p:sp>
      <p:sp>
        <p:nvSpPr>
          <p:cNvPr id="5" name="text4"/>
          <p:cNvSpPr>
            <a:spLocks noGrp="1"/>
          </p:cNvSpPr>
          <p:nvPr>
            <p:ph type="title"/>
          </p:nvPr>
        </p:nvSpPr>
        <p:spPr>
          <a:xfrm>
            <a:off x="457200" y="822960"/>
            <a:ext cx="9144091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150"/>
              </a:lnSpc>
              <a:spcBef>
                <a:spcPts val="0"/>
              </a:spcBef>
              <a:buNone/>
            </a:pPr>
            <a:r>
              <a:rPr lang="en" sz="3000" b="1" i="0" dirty="0">
                <a:solidFill>
                  <a:srgbClr val="0F1B33"/>
                </a:solidFill>
                <a:latin typeface="Avenir Next"/>
                <a:ea typeface="Avenir Next"/>
                <a:cs typeface="Avenir Next"/>
              </a:rPr>
              <a:t>Project Atlas — Q4 Executive Status</a:t>
            </a:r>
            <a:endParaRPr lang="en" sz="3000" dirty="0"/>
          </a:p>
        </p:txBody>
      </p:sp>
      <p:sp>
        <p:nvSpPr>
          <p:cNvPr id="6" name="text5"/>
          <p:cNvSpPr txBox="1"/>
          <p:nvPr/>
        </p:nvSpPr>
        <p:spPr>
          <a:xfrm>
            <a:off x="457200" y="1371600"/>
            <a:ext cx="9144091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buNone/>
            </a:pPr>
            <a:r>
              <a:rPr lang="en" sz="1300" b="0" i="0" dirty="0">
                <a:solidFill>
                  <a:srgbClr val="5B6478"/>
                </a:solidFill>
                <a:latin typeface="Avenir Next"/>
                <a:ea typeface="Avenir Next"/>
                <a:cs typeface="Avenir Next"/>
              </a:rPr>
              <a:t>Building the next-generation AI platform for a more productive enterprise</a:t>
            </a:r>
            <a:endParaRPr lang="en" sz="1300" dirty="0"/>
          </a:p>
        </p:txBody>
      </p:sp>
      <p:sp>
        <p:nvSpPr>
          <p:cNvPr id="7" name="free6-surface"/>
          <p:cNvSpPr/>
          <p:nvPr/>
        </p:nvSpPr>
        <p:spPr>
          <a:xfrm>
            <a:off x="457200" y="1828800"/>
            <a:ext cx="2681935" cy="1188720"/>
          </a:xfrm>
          <a:prstGeom prst="roundRect">
            <a:avLst>
              <a:gd name="adj" fmla="val 10684"/>
            </a:avLst>
          </a:prstGeom>
          <a:solidFill>
            <a:srgbClr val="E6F5EC"/>
          </a:solidFill>
          <a:ln>
            <a:noFill/>
          </a:ln>
        </p:spPr>
      </p:sp>
      <p:sp>
        <p:nvSpPr>
          <p:cNvPr id="8" name="icon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4944" y="2194560"/>
            <a:ext cx="457200" cy="457200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2000" y="12000"/>
                </a:moveTo>
                <a:cubicBezTo>
                  <a:pt x="2000" y="17523"/>
                  <a:pt x="6477" y="22000"/>
                  <a:pt x="12000" y="22000"/>
                </a:cubicBezTo>
                <a:cubicBezTo>
                  <a:pt x="17523" y="22000"/>
                  <a:pt x="22000" y="17523"/>
                  <a:pt x="22000" y="12000"/>
                </a:cubicBezTo>
                <a:cubicBezTo>
                  <a:pt x="22000" y="6477"/>
                  <a:pt x="17523" y="2000"/>
                  <a:pt x="12000" y="2000"/>
                </a:cubicBezTo>
                <a:cubicBezTo>
                  <a:pt x="6477" y="2000"/>
                  <a:pt x="2000" y="6477"/>
                  <a:pt x="2000" y="12000"/>
                </a:cubicBezTo>
                <a:close/>
              </a:path>
              <a:path w="24000" h="24000" fill="none">
                <a:moveTo>
                  <a:pt x="16000" y="9000"/>
                </a:moveTo>
                <a:lnTo>
                  <a:pt x="10500" y="14500"/>
                </a:lnTo>
                <a:lnTo>
                  <a:pt x="8000" y="12000"/>
                </a:lnTo>
              </a:path>
            </a:pathLst>
          </a:custGeom>
          <a:noFill/>
          <a:ln w="42863" cap="rnd">
            <a:solidFill>
              <a:srgbClr val="157A3B"/>
            </a:solidFill>
            <a:round/>
          </a:ln>
        </p:spPr>
      </p:sp>
      <p:sp>
        <p:nvSpPr>
          <p:cNvPr id="9" name="text8"/>
          <p:cNvSpPr txBox="1"/>
          <p:nvPr/>
        </p:nvSpPr>
        <p:spPr>
          <a:xfrm>
            <a:off x="1298448" y="2048256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360"/>
              </a:lnSpc>
              <a:spcBef>
                <a:spcPts val="0"/>
              </a:spcBef>
              <a:buNone/>
            </a:pPr>
            <a:r>
              <a:rPr lang="en" sz="2000" b="1" i="0" spc="80" dirty="0">
                <a:solidFill>
                  <a:srgbClr val="157A3B"/>
                </a:solidFill>
                <a:latin typeface="Avenir Next"/>
                <a:ea typeface="Avenir Next"/>
                <a:cs typeface="Avenir Next"/>
              </a:rPr>
              <a:t>ON TRACK</a:t>
            </a:r>
            <a:endParaRPr lang="en" sz="2000" dirty="0"/>
          </a:p>
        </p:txBody>
      </p:sp>
      <p:sp>
        <p:nvSpPr>
          <p:cNvPr id="10" name="text9"/>
          <p:cNvSpPr txBox="1"/>
          <p:nvPr/>
        </p:nvSpPr>
        <p:spPr>
          <a:xfrm>
            <a:off x="1298448" y="2404872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buNone/>
            </a:pPr>
            <a:r>
              <a:rPr lang="en" sz="1200" b="0" i="0" dirty="0">
                <a:solidFill>
                  <a:srgbClr val="0F1B33"/>
                </a:solidFill>
                <a:latin typeface="Avenir Next"/>
                <a:ea typeface="Avenir Next"/>
                <a:cs typeface="Avenir Next"/>
              </a:rPr>
              <a:t>Overall project health</a:t>
            </a:r>
            <a:endParaRPr lang="en" sz="1200" dirty="0"/>
          </a:p>
        </p:txBody>
      </p:sp>
      <p:sp>
        <p:nvSpPr>
          <p:cNvPr id="11" name="text10"/>
          <p:cNvSpPr txBox="1"/>
          <p:nvPr/>
        </p:nvSpPr>
        <p:spPr>
          <a:xfrm>
            <a:off x="1298448" y="2633472"/>
            <a:ext cx="17373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313"/>
              </a:lnSpc>
              <a:spcBef>
                <a:spcPts val="0"/>
              </a:spcBef>
              <a:buNone/>
            </a:pPr>
            <a:r>
              <a:rPr lang="en" sz="1050" b="0" i="0" dirty="0">
                <a:solidFill>
                  <a:srgbClr val="5B6478"/>
                </a:solidFill>
                <a:latin typeface="Avenir Next"/>
                <a:ea typeface="Avenir Next"/>
                <a:cs typeface="Avenir Next"/>
              </a:rPr>
              <a:t>Unchanged since Q3</a:t>
            </a:r>
            <a:endParaRPr lang="en" sz="1050" dirty="0"/>
          </a:p>
        </p:txBody>
      </p:sp>
      <p:sp>
        <p:nvSpPr>
          <p:cNvPr id="12" name="free11-surface"/>
          <p:cNvSpPr/>
          <p:nvPr/>
        </p:nvSpPr>
        <p:spPr>
          <a:xfrm>
            <a:off x="3322015" y="1828800"/>
            <a:ext cx="2681935" cy="1188720"/>
          </a:xfrm>
          <a:prstGeom prst="roundRect">
            <a:avLst>
              <a:gd name="adj" fmla="val 10684"/>
            </a:avLst>
          </a:prstGeom>
          <a:solidFill>
            <a:schemeClr val="bg2"/>
          </a:solidFill>
          <a:ln>
            <a:noFill/>
          </a:ln>
          <a:effectLst>
            <a:outerShdw blurRad="152400" dist="38100" dir="5400000" algn="t" rotWithShape="0">
              <a:srgbClr val="000000">
                <a:alpha val="16000"/>
              </a:srgbClr>
            </a:outerShdw>
          </a:effectLst>
        </p:spPr>
      </p:sp>
      <p:sp>
        <p:nvSpPr>
          <p:cNvPr id="13" name="text12"/>
          <p:cNvSpPr txBox="1"/>
          <p:nvPr/>
        </p:nvSpPr>
        <p:spPr>
          <a:xfrm>
            <a:off x="3559759" y="2011680"/>
            <a:ext cx="15544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buNone/>
            </a:pPr>
            <a:r>
              <a:rPr lang="en" sz="1200" b="0" i="0" dirty="0">
                <a:solidFill>
                  <a:srgbClr val="5B6478"/>
                </a:solidFill>
                <a:latin typeface="Avenir Next"/>
                <a:ea typeface="Avenir Next"/>
                <a:cs typeface="Avenir Next"/>
              </a:rPr>
              <a:t>Completion</a:t>
            </a:r>
            <a:endParaRPr lang="en" sz="1200" dirty="0"/>
          </a:p>
        </p:txBody>
      </p:sp>
      <p:sp>
        <p:nvSpPr>
          <p:cNvPr id="14" name="text13"/>
          <p:cNvSpPr txBox="1"/>
          <p:nvPr/>
        </p:nvSpPr>
        <p:spPr>
          <a:xfrm>
            <a:off x="3559759" y="2231136"/>
            <a:ext cx="155448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420"/>
              </a:lnSpc>
              <a:spcBef>
                <a:spcPts val="0"/>
              </a:spcBef>
              <a:buNone/>
            </a:pPr>
            <a:r>
              <a:rPr lang="en" sz="3600" b="1" i="0" dirty="0">
                <a:solidFill>
                  <a:srgbClr val="0F1B33"/>
                </a:solidFill>
                <a:latin typeface="Avenir Next"/>
                <a:ea typeface="Avenir Next"/>
                <a:cs typeface="Avenir Next"/>
              </a:rPr>
              <a:t>72%</a:t>
            </a:r>
            <a:endParaRPr lang="en" sz="3600" dirty="0"/>
          </a:p>
        </p:txBody>
      </p:sp>
      <p:sp>
        <p:nvSpPr>
          <p:cNvPr id="15" name="text14"/>
          <p:cNvSpPr txBox="1"/>
          <p:nvPr/>
        </p:nvSpPr>
        <p:spPr>
          <a:xfrm>
            <a:off x="3559759" y="2724912"/>
            <a:ext cx="16916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buNone/>
            </a:pPr>
            <a:r>
              <a:rPr lang="en" sz="1100" b="0" i="0" dirty="0">
                <a:solidFill>
                  <a:srgbClr val="5B6478"/>
                </a:solidFill>
                <a:latin typeface="Avenir Next"/>
                <a:ea typeface="Avenir Next"/>
                <a:cs typeface="Avenir Next"/>
              </a:rPr>
              <a:t>of scope delivered</a:t>
            </a:r>
            <a:endParaRPr lang="en" sz="1100" dirty="0"/>
          </a:p>
        </p:txBody>
      </p:sp>
      <p:sp>
        <p:nvSpPr>
          <p:cNvPr id="16" name="shape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2799" y="2048256"/>
            <a:ext cx="749808" cy="749808"/>
          </a:xfrm>
          <a:prstGeom prst="ellipse">
            <a:avLst/>
          </a:prstGeom>
          <a:noFill/>
          <a:ln w="88900">
            <a:solidFill>
              <a:srgbClr val="E7EBF2"/>
            </a:solidFill>
          </a:ln>
        </p:spPr>
      </p:sp>
      <p:sp>
        <p:nvSpPr>
          <p:cNvPr id="17" name="shape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2799" y="2048256"/>
            <a:ext cx="749808" cy="749808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500" y="0"/>
                </a:moveTo>
                <a:cubicBezTo>
                  <a:pt x="764" y="0"/>
                  <a:pt x="982" y="205"/>
                  <a:pt x="999" y="469"/>
                </a:cubicBezTo>
                <a:cubicBezTo>
                  <a:pt x="1016" y="732"/>
                  <a:pt x="825" y="963"/>
                  <a:pt x="563" y="996"/>
                </a:cubicBezTo>
                <a:cubicBezTo>
                  <a:pt x="301" y="1029"/>
                  <a:pt x="58" y="853"/>
                  <a:pt x="9" y="594"/>
                </a:cubicBezTo>
              </a:path>
            </a:pathLst>
          </a:custGeom>
          <a:noFill/>
          <a:ln w="88900">
            <a:solidFill>
              <a:srgbClr val="2563EB"/>
            </a:solidFill>
          </a:ln>
        </p:spPr>
      </p:sp>
      <p:sp>
        <p:nvSpPr>
          <p:cNvPr id="18" name="free17-surface"/>
          <p:cNvSpPr/>
          <p:nvPr/>
        </p:nvSpPr>
        <p:spPr>
          <a:xfrm>
            <a:off x="6187745" y="1828800"/>
            <a:ext cx="2681935" cy="1188720"/>
          </a:xfrm>
          <a:prstGeom prst="roundRect">
            <a:avLst>
              <a:gd name="adj" fmla="val 10684"/>
            </a:avLst>
          </a:prstGeom>
          <a:solidFill>
            <a:schemeClr val="bg2"/>
          </a:solidFill>
          <a:ln>
            <a:noFill/>
          </a:ln>
          <a:effectLst>
            <a:outerShdw blurRad="152400" dist="38100" dir="5400000" algn="t" rotWithShape="0">
              <a:srgbClr val="000000">
                <a:alpha val="16000"/>
              </a:srgbClr>
            </a:outerShdw>
          </a:effectLst>
        </p:spPr>
      </p:sp>
      <p:sp>
        <p:nvSpPr>
          <p:cNvPr id="19" name="text18"/>
          <p:cNvSpPr txBox="1"/>
          <p:nvPr/>
        </p:nvSpPr>
        <p:spPr>
          <a:xfrm>
            <a:off x="6425489" y="2011680"/>
            <a:ext cx="15544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buNone/>
            </a:pPr>
            <a:r>
              <a:rPr lang="en" sz="1200" b="0" i="0" dirty="0">
                <a:solidFill>
                  <a:srgbClr val="5B6478"/>
                </a:solidFill>
                <a:latin typeface="Avenir Next"/>
                <a:ea typeface="Avenir Next"/>
                <a:cs typeface="Avenir Next"/>
              </a:rPr>
              <a:t>Budget used</a:t>
            </a:r>
            <a:endParaRPr lang="en" sz="1200" dirty="0"/>
          </a:p>
        </p:txBody>
      </p:sp>
      <p:sp>
        <p:nvSpPr>
          <p:cNvPr id="20" name="text19"/>
          <p:cNvSpPr txBox="1"/>
          <p:nvPr/>
        </p:nvSpPr>
        <p:spPr>
          <a:xfrm>
            <a:off x="6425489" y="2231136"/>
            <a:ext cx="155448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420"/>
              </a:lnSpc>
              <a:spcBef>
                <a:spcPts val="0"/>
              </a:spcBef>
              <a:buNone/>
            </a:pPr>
            <a:r>
              <a:rPr lang="en" sz="3600" b="1" i="0" dirty="0">
                <a:solidFill>
                  <a:srgbClr val="0F1B33"/>
                </a:solidFill>
                <a:latin typeface="Avenir Next"/>
                <a:ea typeface="Avenir Next"/>
                <a:cs typeface="Avenir Next"/>
              </a:rPr>
              <a:t>64%</a:t>
            </a:r>
            <a:endParaRPr lang="en" sz="3600" dirty="0"/>
          </a:p>
        </p:txBody>
      </p:sp>
      <p:sp>
        <p:nvSpPr>
          <p:cNvPr id="21" name="text20"/>
          <p:cNvSpPr txBox="1"/>
          <p:nvPr/>
        </p:nvSpPr>
        <p:spPr>
          <a:xfrm>
            <a:off x="6425489" y="2724912"/>
            <a:ext cx="16916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buNone/>
            </a:pPr>
            <a:r>
              <a:rPr lang="en" sz="1100" b="0" i="0" dirty="0">
                <a:solidFill>
                  <a:srgbClr val="5B6478"/>
                </a:solidFill>
                <a:latin typeface="Avenir Next"/>
                <a:ea typeface="Avenir Next"/>
                <a:cs typeface="Avenir Next"/>
              </a:rPr>
              <a:t>$4.1M of $6.4M</a:t>
            </a:r>
            <a:endParaRPr lang="en" sz="1100" dirty="0"/>
          </a:p>
        </p:txBody>
      </p:sp>
      <p:sp>
        <p:nvSpPr>
          <p:cNvPr id="22" name="shape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88529" y="2048256"/>
            <a:ext cx="749808" cy="749808"/>
          </a:xfrm>
          <a:prstGeom prst="ellipse">
            <a:avLst/>
          </a:prstGeom>
          <a:noFill/>
          <a:ln w="88900">
            <a:solidFill>
              <a:srgbClr val="E7EBF2"/>
            </a:solidFill>
          </a:ln>
        </p:spPr>
      </p:sp>
      <p:sp>
        <p:nvSpPr>
          <p:cNvPr id="23" name="shape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88529" y="2048256"/>
            <a:ext cx="749808" cy="749808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500" y="0"/>
                </a:moveTo>
                <a:cubicBezTo>
                  <a:pt x="732" y="0"/>
                  <a:pt x="934" y="160"/>
                  <a:pt x="987" y="386"/>
                </a:cubicBezTo>
                <a:cubicBezTo>
                  <a:pt x="1040" y="612"/>
                  <a:pt x="930" y="845"/>
                  <a:pt x="722" y="948"/>
                </a:cubicBezTo>
                <a:cubicBezTo>
                  <a:pt x="514" y="1051"/>
                  <a:pt x="263" y="998"/>
                  <a:pt x="115" y="819"/>
                </a:cubicBezTo>
              </a:path>
            </a:pathLst>
          </a:custGeom>
          <a:noFill/>
          <a:ln w="88900">
            <a:solidFill>
              <a:srgbClr val="7C3AED"/>
            </a:solidFill>
          </a:ln>
        </p:spPr>
      </p:sp>
      <p:sp>
        <p:nvSpPr>
          <p:cNvPr id="24" name="column23-surface"/>
          <p:cNvSpPr/>
          <p:nvPr/>
        </p:nvSpPr>
        <p:spPr>
          <a:xfrm>
            <a:off x="9052651" y="1828800"/>
            <a:ext cx="2681935" cy="1188720"/>
          </a:xfrm>
          <a:prstGeom prst="roundRect">
            <a:avLst>
              <a:gd name="adj" fmla="val 10684"/>
            </a:avLst>
          </a:prstGeom>
          <a:solidFill>
            <a:srgbClr val="0F1B33"/>
          </a:solidFill>
          <a:ln>
            <a:noFill/>
          </a:ln>
          <a:effectLst>
            <a:outerShdw blurRad="152400" dist="38100" dir="5400000" algn="t" rotWithShape="0">
              <a:srgbClr val="000000">
                <a:alpha val="16000"/>
              </a:srgbClr>
            </a:outerShdw>
          </a:effectLst>
        </p:spPr>
      </p:sp>
      <p:sp>
        <p:nvSpPr>
          <p:cNvPr id="25" name="text24"/>
          <p:cNvSpPr txBox="1"/>
          <p:nvPr/>
        </p:nvSpPr>
        <p:spPr>
          <a:xfrm>
            <a:off x="9281251" y="1975470"/>
            <a:ext cx="2224735" cy="1524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buNone/>
            </a:pPr>
            <a:r>
              <a:rPr lang="en" sz="1000" b="1" i="0" spc="200" dirty="0">
                <a:solidFill>
                  <a:srgbClr val="9CC3FF"/>
                </a:solidFill>
                <a:latin typeface="Avenir Next"/>
                <a:ea typeface="Avenir Next"/>
                <a:cs typeface="Avenir Next"/>
              </a:rPr>
              <a:t>BOTTOM LINE</a:t>
            </a:r>
            <a:endParaRPr lang="en" sz="1000" dirty="0"/>
          </a:p>
        </p:txBody>
      </p:sp>
      <p:sp>
        <p:nvSpPr>
          <p:cNvPr id="26" name="text25"/>
          <p:cNvSpPr txBox="1"/>
          <p:nvPr/>
        </p:nvSpPr>
        <p:spPr>
          <a:xfrm>
            <a:off x="9281251" y="2204070"/>
            <a:ext cx="2224735" cy="6667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buNone/>
            </a:pPr>
            <a:r>
              <a:rPr lang="en" sz="1400" b="1" i="0" dirty="0">
                <a:solidFill>
                  <a:schemeClr val="bg2"/>
                </a:solidFill>
                <a:latin typeface="Avenir Next"/>
                <a:ea typeface="Avenir Next"/>
                <a:cs typeface="Avenir Next"/>
              </a:rPr>
              <a:t>MVP ships on time. GPU capacity is the one risk to a Q2 launch.</a:t>
            </a:r>
            <a:endParaRPr lang="en" sz="1400" dirty="0"/>
          </a:p>
        </p:txBody>
      </p:sp>
      <p:sp>
        <p:nvSpPr>
          <p:cNvPr id="27" name="free26-surface"/>
          <p:cNvSpPr/>
          <p:nvPr/>
        </p:nvSpPr>
        <p:spPr>
          <a:xfrm>
            <a:off x="457200" y="3200400"/>
            <a:ext cx="5577931" cy="1737269"/>
          </a:xfrm>
          <a:prstGeom prst="roundRect">
            <a:avLst>
              <a:gd name="adj" fmla="val 7310"/>
            </a:avLst>
          </a:prstGeom>
          <a:solidFill>
            <a:schemeClr val="bg2"/>
          </a:solidFill>
          <a:ln>
            <a:noFill/>
          </a:ln>
          <a:effectLst>
            <a:outerShdw blurRad="152400" dist="38100" dir="5400000" algn="t" rotWithShape="0">
              <a:srgbClr val="000000">
                <a:alpha val="16000"/>
              </a:srgbClr>
            </a:outerShdw>
          </a:effectLst>
        </p:spPr>
      </p:sp>
      <p:sp>
        <p:nvSpPr>
          <p:cNvPr id="28" name="text27"/>
          <p:cNvSpPr txBox="1"/>
          <p:nvPr/>
        </p:nvSpPr>
        <p:spPr>
          <a:xfrm>
            <a:off x="713232" y="3346704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770"/>
              </a:lnSpc>
              <a:spcBef>
                <a:spcPts val="0"/>
              </a:spcBef>
              <a:buNone/>
            </a:pPr>
            <a:r>
              <a:rPr lang="en" sz="1500" b="1" i="0" dirty="0">
                <a:solidFill>
                  <a:srgbClr val="0F1B33"/>
                </a:solidFill>
                <a:latin typeface="Avenir Next"/>
                <a:ea typeface="Avenir Next"/>
                <a:cs typeface="Avenir Next"/>
              </a:rPr>
              <a:t>Workstream progress</a:t>
            </a:r>
            <a:endParaRPr lang="en" sz="1500" dirty="0"/>
          </a:p>
        </p:txBody>
      </p:sp>
      <p:sp>
        <p:nvSpPr>
          <p:cNvPr id="29" name="text28"/>
          <p:cNvSpPr txBox="1"/>
          <p:nvPr/>
        </p:nvSpPr>
        <p:spPr>
          <a:xfrm>
            <a:off x="3474720" y="3374136"/>
            <a:ext cx="235915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rgbClr val="5B6478"/>
                </a:solidFill>
                <a:latin typeface="Avenir Next"/>
                <a:ea typeface="Avenir Next"/>
                <a:cs typeface="Avenir Next"/>
              </a:rPr>
              <a:t>% complete  ·  status</a:t>
            </a:r>
            <a:endParaRPr lang="en" sz="1000" dirty="0"/>
          </a:p>
        </p:txBody>
      </p:sp>
      <p:sp>
        <p:nvSpPr>
          <p:cNvPr id="30" name="column29-surface"/>
          <p:cNvSpPr/>
          <p:nvPr/>
        </p:nvSpPr>
        <p:spPr>
          <a:xfrm>
            <a:off x="713232" y="3730752"/>
            <a:ext cx="310896" cy="310896"/>
          </a:xfrm>
          <a:prstGeom prst="roundRect">
            <a:avLst>
              <a:gd name="adj" fmla="val 28595"/>
            </a:avLst>
          </a:prstGeom>
          <a:solidFill>
            <a:srgbClr val="E9F0FE"/>
          </a:solidFill>
          <a:ln>
            <a:noFill/>
          </a:ln>
        </p:spPr>
      </p:sp>
      <p:sp>
        <p:nvSpPr>
          <p:cNvPr id="31" name="icon3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6110" y="3803630"/>
            <a:ext cx="165141" cy="165141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11000" y="21730"/>
                </a:moveTo>
                <a:cubicBezTo>
                  <a:pt x="11619" y="22087"/>
                  <a:pt x="12381" y="22087"/>
                  <a:pt x="13000" y="21730"/>
                </a:cubicBezTo>
                <a:lnTo>
                  <a:pt x="20000" y="17730"/>
                </a:lnTo>
                <a:cubicBezTo>
                  <a:pt x="20618" y="17373"/>
                  <a:pt x="20999" y="16714"/>
                  <a:pt x="21000" y="16000"/>
                </a:cubicBezTo>
                <a:lnTo>
                  <a:pt x="21000" y="8000"/>
                </a:lnTo>
                <a:cubicBezTo>
                  <a:pt x="20999" y="7286"/>
                  <a:pt x="20618" y="6627"/>
                  <a:pt x="20000" y="6270"/>
                </a:cubicBezTo>
                <a:lnTo>
                  <a:pt x="13000" y="2270"/>
                </a:lnTo>
                <a:cubicBezTo>
                  <a:pt x="12381" y="1913"/>
                  <a:pt x="11619" y="1913"/>
                  <a:pt x="11000" y="2270"/>
                </a:cubicBezTo>
                <a:lnTo>
                  <a:pt x="4000" y="6270"/>
                </a:lnTo>
                <a:cubicBezTo>
                  <a:pt x="3382" y="6627"/>
                  <a:pt x="3001" y="7286"/>
                  <a:pt x="3000" y="8000"/>
                </a:cubicBezTo>
                <a:lnTo>
                  <a:pt x="3000" y="16000"/>
                </a:lnTo>
                <a:cubicBezTo>
                  <a:pt x="3001" y="16714"/>
                  <a:pt x="3382" y="17373"/>
                  <a:pt x="4000" y="17730"/>
                </a:cubicBezTo>
                <a:close/>
              </a:path>
              <a:path w="24000" h="24000" fill="none">
                <a:moveTo>
                  <a:pt x="12000" y="22000"/>
                </a:moveTo>
                <a:lnTo>
                  <a:pt x="12000" y="12000"/>
                </a:lnTo>
              </a:path>
              <a:path w="24000" h="24000" fill="none">
                <a:moveTo>
                  <a:pt x="3290" y="7000"/>
                </a:moveTo>
                <a:lnTo>
                  <a:pt x="12000" y="12000"/>
                </a:lnTo>
                <a:lnTo>
                  <a:pt x="20710" y="7000"/>
                </a:lnTo>
              </a:path>
              <a:path w="24000" h="24000" fill="none">
                <a:moveTo>
                  <a:pt x="7500" y="4270"/>
                </a:moveTo>
                <a:lnTo>
                  <a:pt x="16500" y="9420"/>
                </a:lnTo>
              </a:path>
            </a:pathLst>
          </a:custGeom>
          <a:noFill/>
          <a:ln w="13762" cap="rnd">
            <a:solidFill>
              <a:srgbClr val="2563EB"/>
            </a:solidFill>
            <a:round/>
          </a:ln>
        </p:spPr>
      </p:sp>
      <p:sp>
        <p:nvSpPr>
          <p:cNvPr id="32" name="text31"/>
          <p:cNvSpPr txBox="1"/>
          <p:nvPr/>
        </p:nvSpPr>
        <p:spPr>
          <a:xfrm>
            <a:off x="1133856" y="3748949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buNone/>
            </a:pPr>
            <a:r>
              <a:rPr lang="en" sz="1250" b="0" i="0" dirty="0">
                <a:solidFill>
                  <a:srgbClr val="0F1B33"/>
                </a:solidFill>
                <a:latin typeface="Avenir Next"/>
                <a:ea typeface="Avenir Next"/>
                <a:cs typeface="Avenir Next"/>
              </a:rPr>
              <a:t>Product</a:t>
            </a:r>
            <a:endParaRPr lang="en" sz="1250" dirty="0"/>
          </a:p>
        </p:txBody>
      </p:sp>
      <p:sp>
        <p:nvSpPr>
          <p:cNvPr id="33" name="shape3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14600" y="3840389"/>
            <a:ext cx="2103120" cy="91440"/>
          </a:xfrm>
          <a:prstGeom prst="roundRect">
            <a:avLst>
              <a:gd name="adj" fmla="val 41667"/>
            </a:avLst>
          </a:prstGeom>
          <a:solidFill>
            <a:srgbClr val="E7EBF2"/>
          </a:solidFill>
          <a:ln>
            <a:noFill/>
          </a:ln>
        </p:spPr>
      </p:sp>
      <p:sp>
        <p:nvSpPr>
          <p:cNvPr id="34" name="shape3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14600" y="3840389"/>
            <a:ext cx="1724558" cy="91440"/>
          </a:xfrm>
          <a:prstGeom prst="roundRect">
            <a:avLst>
              <a:gd name="adj" fmla="val 41667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35" name="text34"/>
          <p:cNvSpPr txBox="1"/>
          <p:nvPr/>
        </p:nvSpPr>
        <p:spPr>
          <a:xfrm>
            <a:off x="4645152" y="3748949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r">
              <a:lnSpc>
                <a:spcPts val="1625"/>
              </a:lnSpc>
              <a:spcBef>
                <a:spcPts val="0"/>
              </a:spcBef>
              <a:buNone/>
            </a:pPr>
            <a:r>
              <a:rPr lang="en" sz="1250" b="1" i="0" dirty="0">
                <a:solidFill>
                  <a:srgbClr val="0F1B33"/>
                </a:solidFill>
                <a:latin typeface="Avenir Next"/>
                <a:ea typeface="Avenir Next"/>
                <a:cs typeface="Avenir Next"/>
              </a:rPr>
              <a:t>82%</a:t>
            </a:r>
            <a:endParaRPr lang="en" sz="1250" dirty="0"/>
          </a:p>
        </p:txBody>
      </p:sp>
      <p:sp>
        <p:nvSpPr>
          <p:cNvPr id="36" name="column35-surface"/>
          <p:cNvSpPr/>
          <p:nvPr/>
        </p:nvSpPr>
        <p:spPr>
          <a:xfrm>
            <a:off x="5230459" y="3776472"/>
            <a:ext cx="603504" cy="219456"/>
          </a:xfrm>
          <a:prstGeom prst="roundRect">
            <a:avLst>
              <a:gd name="adj" fmla="val 50000"/>
            </a:avLst>
          </a:prstGeom>
          <a:solidFill>
            <a:srgbClr val="E6F5EC"/>
          </a:solidFill>
          <a:ln>
            <a:noFill/>
          </a:ln>
        </p:spPr>
      </p:sp>
      <p:sp>
        <p:nvSpPr>
          <p:cNvPr id="37" name="text36"/>
          <p:cNvSpPr txBox="1"/>
          <p:nvPr/>
        </p:nvSpPr>
        <p:spPr>
          <a:xfrm>
            <a:off x="5230459" y="3806830"/>
            <a:ext cx="603504" cy="158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1" i="0" dirty="0">
                <a:solidFill>
                  <a:srgbClr val="157A3B"/>
                </a:solidFill>
                <a:latin typeface="Avenir Next"/>
                <a:ea typeface="Avenir Next"/>
                <a:cs typeface="Avenir Next"/>
              </a:rPr>
              <a:t>On track</a:t>
            </a:r>
            <a:endParaRPr lang="en" sz="1000" dirty="0"/>
          </a:p>
        </p:txBody>
      </p:sp>
      <p:sp>
        <p:nvSpPr>
          <p:cNvPr id="38" name="column37-surface"/>
          <p:cNvSpPr/>
          <p:nvPr/>
        </p:nvSpPr>
        <p:spPr>
          <a:xfrm>
            <a:off x="713232" y="4123853"/>
            <a:ext cx="310896" cy="310896"/>
          </a:xfrm>
          <a:prstGeom prst="roundRect">
            <a:avLst>
              <a:gd name="adj" fmla="val 28595"/>
            </a:avLst>
          </a:prstGeom>
          <a:solidFill>
            <a:srgbClr val="F1EAFE"/>
          </a:solidFill>
          <a:ln>
            <a:noFill/>
          </a:ln>
        </p:spPr>
      </p:sp>
      <p:sp>
        <p:nvSpPr>
          <p:cNvPr id="39" name="icon3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6110" y="4196822"/>
            <a:ext cx="165141" cy="165141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16000" y="18000"/>
                </a:moveTo>
                <a:lnTo>
                  <a:pt x="22000" y="12000"/>
                </a:lnTo>
                <a:lnTo>
                  <a:pt x="16000" y="6000"/>
                </a:lnTo>
              </a:path>
              <a:path w="24000" h="24000" fill="none">
                <a:moveTo>
                  <a:pt x="8000" y="6000"/>
                </a:moveTo>
                <a:lnTo>
                  <a:pt x="2000" y="12000"/>
                </a:lnTo>
                <a:lnTo>
                  <a:pt x="8000" y="18000"/>
                </a:lnTo>
              </a:path>
            </a:pathLst>
          </a:custGeom>
          <a:noFill/>
          <a:ln w="13762" cap="rnd">
            <a:solidFill>
              <a:srgbClr val="7C3AED"/>
            </a:solidFill>
            <a:round/>
          </a:ln>
        </p:spPr>
      </p:sp>
      <p:sp>
        <p:nvSpPr>
          <p:cNvPr id="40" name="text39"/>
          <p:cNvSpPr txBox="1"/>
          <p:nvPr/>
        </p:nvSpPr>
        <p:spPr>
          <a:xfrm>
            <a:off x="1133856" y="4142141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buNone/>
            </a:pPr>
            <a:r>
              <a:rPr lang="en" sz="1250" b="0" i="0" dirty="0">
                <a:solidFill>
                  <a:srgbClr val="0F1B33"/>
                </a:solidFill>
                <a:latin typeface="Avenir Next"/>
                <a:ea typeface="Avenir Next"/>
                <a:cs typeface="Avenir Next"/>
              </a:rPr>
              <a:t>Engineering</a:t>
            </a:r>
            <a:endParaRPr lang="en" sz="1250" dirty="0"/>
          </a:p>
        </p:txBody>
      </p:sp>
      <p:sp>
        <p:nvSpPr>
          <p:cNvPr id="41" name="shape4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14600" y="4233581"/>
            <a:ext cx="2103120" cy="91440"/>
          </a:xfrm>
          <a:prstGeom prst="roundRect">
            <a:avLst>
              <a:gd name="adj" fmla="val 41667"/>
            </a:avLst>
          </a:prstGeom>
          <a:solidFill>
            <a:srgbClr val="E7EBF2"/>
          </a:solidFill>
          <a:ln>
            <a:noFill/>
          </a:ln>
        </p:spPr>
      </p:sp>
      <p:sp>
        <p:nvSpPr>
          <p:cNvPr id="42" name="shape4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14600" y="4233581"/>
            <a:ext cx="1556309" cy="91440"/>
          </a:xfrm>
          <a:prstGeom prst="roundRect">
            <a:avLst>
              <a:gd name="adj" fmla="val 41667"/>
            </a:avLst>
          </a:prstGeom>
          <a:solidFill>
            <a:srgbClr val="7C3AED"/>
          </a:solidFill>
          <a:ln>
            <a:noFill/>
          </a:ln>
        </p:spPr>
      </p:sp>
      <p:sp>
        <p:nvSpPr>
          <p:cNvPr id="43" name="text42"/>
          <p:cNvSpPr txBox="1"/>
          <p:nvPr/>
        </p:nvSpPr>
        <p:spPr>
          <a:xfrm>
            <a:off x="4645152" y="4142141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r">
              <a:lnSpc>
                <a:spcPts val="1625"/>
              </a:lnSpc>
              <a:spcBef>
                <a:spcPts val="0"/>
              </a:spcBef>
              <a:buNone/>
            </a:pPr>
            <a:r>
              <a:rPr lang="en" sz="1250" b="1" i="0" dirty="0">
                <a:solidFill>
                  <a:srgbClr val="0F1B33"/>
                </a:solidFill>
                <a:latin typeface="Avenir Next"/>
                <a:ea typeface="Avenir Next"/>
                <a:cs typeface="Avenir Next"/>
              </a:rPr>
              <a:t>74%</a:t>
            </a:r>
            <a:endParaRPr lang="en" sz="1250" dirty="0"/>
          </a:p>
        </p:txBody>
      </p:sp>
      <p:sp>
        <p:nvSpPr>
          <p:cNvPr id="44" name="column43-surface"/>
          <p:cNvSpPr/>
          <p:nvPr/>
        </p:nvSpPr>
        <p:spPr>
          <a:xfrm>
            <a:off x="5230459" y="4169573"/>
            <a:ext cx="603504" cy="219456"/>
          </a:xfrm>
          <a:prstGeom prst="roundRect">
            <a:avLst>
              <a:gd name="adj" fmla="val 50000"/>
            </a:avLst>
          </a:prstGeom>
          <a:solidFill>
            <a:srgbClr val="E6F5EC"/>
          </a:solidFill>
          <a:ln>
            <a:noFill/>
          </a:ln>
        </p:spPr>
      </p:sp>
      <p:sp>
        <p:nvSpPr>
          <p:cNvPr id="45" name="text44"/>
          <p:cNvSpPr txBox="1"/>
          <p:nvPr/>
        </p:nvSpPr>
        <p:spPr>
          <a:xfrm>
            <a:off x="5230459" y="4199931"/>
            <a:ext cx="603504" cy="158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1" i="0" dirty="0">
                <a:solidFill>
                  <a:srgbClr val="157A3B"/>
                </a:solidFill>
                <a:latin typeface="Avenir Next"/>
                <a:ea typeface="Avenir Next"/>
                <a:cs typeface="Avenir Next"/>
              </a:rPr>
              <a:t>On track</a:t>
            </a:r>
            <a:endParaRPr lang="en" sz="1000" dirty="0"/>
          </a:p>
        </p:txBody>
      </p:sp>
      <p:sp>
        <p:nvSpPr>
          <p:cNvPr id="46" name="column45-surface"/>
          <p:cNvSpPr/>
          <p:nvPr/>
        </p:nvSpPr>
        <p:spPr>
          <a:xfrm>
            <a:off x="713232" y="4517045"/>
            <a:ext cx="310896" cy="310896"/>
          </a:xfrm>
          <a:prstGeom prst="roundRect">
            <a:avLst>
              <a:gd name="adj" fmla="val 28595"/>
            </a:avLst>
          </a:prstGeom>
          <a:solidFill>
            <a:srgbClr val="FDF1DE"/>
          </a:solidFill>
          <a:ln>
            <a:noFill/>
          </a:ln>
        </p:spPr>
      </p:sp>
      <p:sp>
        <p:nvSpPr>
          <p:cNvPr id="47" name="icon4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6110" y="4590014"/>
            <a:ext cx="165141" cy="165141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11000" y="6000"/>
                </a:moveTo>
                <a:cubicBezTo>
                  <a:pt x="14041" y="6078"/>
                  <a:pt x="17014" y="5088"/>
                  <a:pt x="19400" y="3200"/>
                </a:cubicBezTo>
                <a:cubicBezTo>
                  <a:pt x="19703" y="2973"/>
                  <a:pt x="20108" y="2936"/>
                  <a:pt x="20447" y="3106"/>
                </a:cubicBezTo>
                <a:cubicBezTo>
                  <a:pt x="20786" y="3275"/>
                  <a:pt x="21000" y="3621"/>
                  <a:pt x="21000" y="4000"/>
                </a:cubicBezTo>
                <a:lnTo>
                  <a:pt x="21000" y="16000"/>
                </a:lnTo>
                <a:cubicBezTo>
                  <a:pt x="21000" y="16379"/>
                  <a:pt x="20786" y="16725"/>
                  <a:pt x="20447" y="16894"/>
                </a:cubicBezTo>
                <a:cubicBezTo>
                  <a:pt x="20108" y="17064"/>
                  <a:pt x="19703" y="17027"/>
                  <a:pt x="19400" y="16800"/>
                </a:cubicBezTo>
                <a:cubicBezTo>
                  <a:pt x="17014" y="14912"/>
                  <a:pt x="14041" y="13922"/>
                  <a:pt x="11000" y="14000"/>
                </a:cubicBezTo>
                <a:lnTo>
                  <a:pt x="5000" y="14000"/>
                </a:lnTo>
                <a:cubicBezTo>
                  <a:pt x="3895" y="14000"/>
                  <a:pt x="3000" y="13105"/>
                  <a:pt x="3000" y="12000"/>
                </a:cubicBezTo>
                <a:lnTo>
                  <a:pt x="3000" y="8000"/>
                </a:lnTo>
                <a:cubicBezTo>
                  <a:pt x="3000" y="6895"/>
                  <a:pt x="3895" y="6000"/>
                  <a:pt x="5000" y="6000"/>
                </a:cubicBezTo>
                <a:close/>
              </a:path>
              <a:path w="24000" h="24000" fill="none">
                <a:moveTo>
                  <a:pt x="6000" y="14000"/>
                </a:moveTo>
                <a:cubicBezTo>
                  <a:pt x="6000" y="16596"/>
                  <a:pt x="6842" y="19123"/>
                  <a:pt x="8400" y="21200"/>
                </a:cubicBezTo>
                <a:cubicBezTo>
                  <a:pt x="9063" y="22084"/>
                  <a:pt x="10316" y="22263"/>
                  <a:pt x="11200" y="21600"/>
                </a:cubicBezTo>
                <a:cubicBezTo>
                  <a:pt x="12084" y="20937"/>
                  <a:pt x="12263" y="19684"/>
                  <a:pt x="11600" y="18800"/>
                </a:cubicBezTo>
                <a:cubicBezTo>
                  <a:pt x="10561" y="17415"/>
                  <a:pt x="10000" y="15731"/>
                  <a:pt x="10000" y="14000"/>
                </a:cubicBezTo>
              </a:path>
              <a:path w="24000" h="24000" fill="none">
                <a:moveTo>
                  <a:pt x="8000" y="6000"/>
                </a:moveTo>
                <a:lnTo>
                  <a:pt x="8000" y="14000"/>
                </a:lnTo>
              </a:path>
            </a:pathLst>
          </a:custGeom>
          <a:noFill/>
          <a:ln w="13762" cap="rnd">
            <a:solidFill>
              <a:srgbClr val="B86A00"/>
            </a:solidFill>
            <a:round/>
          </a:ln>
        </p:spPr>
      </p:sp>
      <p:sp>
        <p:nvSpPr>
          <p:cNvPr id="48" name="text47"/>
          <p:cNvSpPr txBox="1"/>
          <p:nvPr/>
        </p:nvSpPr>
        <p:spPr>
          <a:xfrm>
            <a:off x="1133856" y="4535333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buNone/>
            </a:pPr>
            <a:r>
              <a:rPr lang="en" sz="1250" b="0" i="0" dirty="0">
                <a:solidFill>
                  <a:srgbClr val="0F1B33"/>
                </a:solidFill>
                <a:latin typeface="Avenir Next"/>
                <a:ea typeface="Avenir Next"/>
                <a:cs typeface="Avenir Next"/>
              </a:rPr>
              <a:t>Go-to-Market</a:t>
            </a:r>
            <a:endParaRPr lang="en" sz="1250" dirty="0"/>
          </a:p>
        </p:txBody>
      </p:sp>
      <p:sp>
        <p:nvSpPr>
          <p:cNvPr id="49" name="shape4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14600" y="4626773"/>
            <a:ext cx="2103120" cy="91440"/>
          </a:xfrm>
          <a:prstGeom prst="roundRect">
            <a:avLst>
              <a:gd name="adj" fmla="val 41667"/>
            </a:avLst>
          </a:prstGeom>
          <a:solidFill>
            <a:srgbClr val="E7EBF2"/>
          </a:solidFill>
          <a:ln>
            <a:noFill/>
          </a:ln>
        </p:spPr>
      </p:sp>
      <p:sp>
        <p:nvSpPr>
          <p:cNvPr id="50" name="shape4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14600" y="4626773"/>
            <a:ext cx="1219810" cy="91440"/>
          </a:xfrm>
          <a:prstGeom prst="roundRect">
            <a:avLst>
              <a:gd name="adj" fmla="val 41667"/>
            </a:avLst>
          </a:prstGeom>
          <a:solidFill>
            <a:srgbClr val="E08A0B"/>
          </a:solidFill>
          <a:ln>
            <a:noFill/>
          </a:ln>
        </p:spPr>
      </p:sp>
      <p:sp>
        <p:nvSpPr>
          <p:cNvPr id="51" name="text50"/>
          <p:cNvSpPr txBox="1"/>
          <p:nvPr/>
        </p:nvSpPr>
        <p:spPr>
          <a:xfrm>
            <a:off x="4645152" y="4535333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r">
              <a:lnSpc>
                <a:spcPts val="1625"/>
              </a:lnSpc>
              <a:spcBef>
                <a:spcPts val="0"/>
              </a:spcBef>
              <a:buNone/>
            </a:pPr>
            <a:r>
              <a:rPr lang="en" sz="1250" b="1" i="0" dirty="0">
                <a:solidFill>
                  <a:srgbClr val="0F1B33"/>
                </a:solidFill>
                <a:latin typeface="Avenir Next"/>
                <a:ea typeface="Avenir Next"/>
                <a:cs typeface="Avenir Next"/>
              </a:rPr>
              <a:t>58%</a:t>
            </a:r>
            <a:endParaRPr lang="en" sz="1250" dirty="0"/>
          </a:p>
        </p:txBody>
      </p:sp>
      <p:sp>
        <p:nvSpPr>
          <p:cNvPr id="52" name="column51-surface"/>
          <p:cNvSpPr/>
          <p:nvPr/>
        </p:nvSpPr>
        <p:spPr>
          <a:xfrm>
            <a:off x="5230459" y="4562765"/>
            <a:ext cx="603504" cy="219456"/>
          </a:xfrm>
          <a:prstGeom prst="roundRect">
            <a:avLst>
              <a:gd name="adj" fmla="val 50000"/>
            </a:avLst>
          </a:prstGeom>
          <a:solidFill>
            <a:srgbClr val="FDF1DE"/>
          </a:solidFill>
          <a:ln>
            <a:noFill/>
          </a:ln>
        </p:spPr>
      </p:sp>
      <p:sp>
        <p:nvSpPr>
          <p:cNvPr id="53" name="text52"/>
          <p:cNvSpPr txBox="1"/>
          <p:nvPr/>
        </p:nvSpPr>
        <p:spPr>
          <a:xfrm>
            <a:off x="5230459" y="4593123"/>
            <a:ext cx="603504" cy="158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1" i="0" dirty="0">
                <a:solidFill>
                  <a:srgbClr val="9A4D06"/>
                </a:solidFill>
                <a:latin typeface="Avenir Next"/>
                <a:ea typeface="Avenir Next"/>
                <a:cs typeface="Avenir Next"/>
              </a:rPr>
              <a:t>Watch</a:t>
            </a:r>
            <a:endParaRPr lang="en" sz="1000" dirty="0"/>
          </a:p>
        </p:txBody>
      </p:sp>
      <p:sp>
        <p:nvSpPr>
          <p:cNvPr id="54" name="free53-surface"/>
          <p:cNvSpPr/>
          <p:nvPr/>
        </p:nvSpPr>
        <p:spPr>
          <a:xfrm>
            <a:off x="6217920" y="3200400"/>
            <a:ext cx="5516667" cy="1737269"/>
          </a:xfrm>
          <a:prstGeom prst="roundRect">
            <a:avLst>
              <a:gd name="adj" fmla="val 7310"/>
            </a:avLst>
          </a:prstGeom>
          <a:solidFill>
            <a:schemeClr val="bg2"/>
          </a:solidFill>
          <a:ln>
            <a:noFill/>
          </a:ln>
          <a:effectLst>
            <a:outerShdw blurRad="152400" dist="38100" dir="5400000" algn="t" rotWithShape="0">
              <a:srgbClr val="000000">
                <a:alpha val="16000"/>
              </a:srgbClr>
            </a:outerShdw>
          </a:effectLst>
        </p:spPr>
      </p:sp>
      <p:sp>
        <p:nvSpPr>
          <p:cNvPr id="55" name="text54"/>
          <p:cNvSpPr txBox="1"/>
          <p:nvPr/>
        </p:nvSpPr>
        <p:spPr>
          <a:xfrm>
            <a:off x="6473952" y="3346704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770"/>
              </a:lnSpc>
              <a:spcBef>
                <a:spcPts val="0"/>
              </a:spcBef>
              <a:buNone/>
            </a:pPr>
            <a:r>
              <a:rPr lang="en" sz="1500" b="1" i="0" dirty="0">
                <a:solidFill>
                  <a:srgbClr val="0F1B33"/>
                </a:solidFill>
                <a:latin typeface="Avenir Next"/>
                <a:ea typeface="Avenir Next"/>
                <a:cs typeface="Avenir Next"/>
              </a:rPr>
              <a:t>Key milestones</a:t>
            </a:r>
            <a:endParaRPr lang="en" sz="1500" dirty="0"/>
          </a:p>
        </p:txBody>
      </p:sp>
      <p:sp>
        <p:nvSpPr>
          <p:cNvPr id="56" name="shape5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0" y="4046220"/>
            <a:ext cx="4800691" cy="45720"/>
          </a:xfrm>
          <a:prstGeom prst="roundRect">
            <a:avLst>
              <a:gd name="adj" fmla="val 50000"/>
            </a:avLst>
          </a:prstGeom>
          <a:solidFill>
            <a:srgbClr val="E7EBF2"/>
          </a:solidFill>
          <a:ln>
            <a:noFill/>
          </a:ln>
        </p:spPr>
      </p:sp>
      <p:sp>
        <p:nvSpPr>
          <p:cNvPr id="57" name="shape5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0" y="4046220"/>
            <a:ext cx="2002536" cy="4572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58" name="text57"/>
          <p:cNvSpPr txBox="1"/>
          <p:nvPr/>
        </p:nvSpPr>
        <p:spPr>
          <a:xfrm>
            <a:off x="6355080" y="3675888"/>
            <a:ext cx="14630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313"/>
              </a:lnSpc>
              <a:spcBef>
                <a:spcPts val="0"/>
              </a:spcBef>
              <a:buNone/>
            </a:pPr>
            <a:r>
              <a:rPr lang="en" sz="1050" b="0" i="0" dirty="0">
                <a:solidFill>
                  <a:srgbClr val="5B6478"/>
                </a:solidFill>
                <a:latin typeface="Avenir Next"/>
                <a:ea typeface="Avenir Next"/>
                <a:cs typeface="Avenir Next"/>
              </a:rPr>
              <a:t>Sep 30</a:t>
            </a:r>
            <a:endParaRPr lang="en" sz="1050" dirty="0"/>
          </a:p>
        </p:txBody>
      </p:sp>
      <p:sp>
        <p:nvSpPr>
          <p:cNvPr id="59" name="column58-surface"/>
          <p:cNvSpPr/>
          <p:nvPr/>
        </p:nvSpPr>
        <p:spPr>
          <a:xfrm>
            <a:off x="6949440" y="3931829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</p:sp>
      <p:sp>
        <p:nvSpPr>
          <p:cNvPr id="60" name="icon5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10339" y="3992819"/>
            <a:ext cx="152430" cy="152430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20000" y="6000"/>
                </a:moveTo>
                <a:lnTo>
                  <a:pt x="9000" y="17000"/>
                </a:lnTo>
                <a:lnTo>
                  <a:pt x="4000" y="12000"/>
                </a:lnTo>
              </a:path>
            </a:pathLst>
          </a:custGeom>
          <a:noFill/>
          <a:ln w="19054" cap="rnd">
            <a:solidFill>
              <a:schemeClr val="bg2"/>
            </a:solidFill>
            <a:round/>
          </a:ln>
        </p:spPr>
      </p:sp>
      <p:sp>
        <p:nvSpPr>
          <p:cNvPr id="61" name="text60"/>
          <p:cNvSpPr txBox="1"/>
          <p:nvPr/>
        </p:nvSpPr>
        <p:spPr>
          <a:xfrm>
            <a:off x="6309360" y="4315877"/>
            <a:ext cx="15544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buNone/>
            </a:pPr>
            <a:r>
              <a:rPr lang="en" sz="1300" b="1" i="0" dirty="0">
                <a:solidFill>
                  <a:srgbClr val="0F1B33"/>
                </a:solidFill>
                <a:latin typeface="Avenir Next"/>
                <a:ea typeface="Avenir Next"/>
                <a:cs typeface="Avenir Next"/>
              </a:rPr>
              <a:t>Foundation</a:t>
            </a:r>
            <a:endParaRPr lang="en" sz="1300" dirty="0"/>
          </a:p>
        </p:txBody>
      </p:sp>
      <p:sp>
        <p:nvSpPr>
          <p:cNvPr id="62" name="text61"/>
          <p:cNvSpPr txBox="1"/>
          <p:nvPr/>
        </p:nvSpPr>
        <p:spPr>
          <a:xfrm>
            <a:off x="6309360" y="4562765"/>
            <a:ext cx="15544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313"/>
              </a:lnSpc>
              <a:spcBef>
                <a:spcPts val="0"/>
              </a:spcBef>
              <a:buNone/>
            </a:pPr>
            <a:r>
              <a:rPr lang="en" sz="1050" b="0" i="0" dirty="0">
                <a:solidFill>
                  <a:srgbClr val="157A3B"/>
                </a:solidFill>
                <a:latin typeface="Avenir Next"/>
                <a:ea typeface="Avenir Next"/>
                <a:cs typeface="Avenir Next"/>
              </a:rPr>
              <a:t>Complete</a:t>
            </a:r>
            <a:endParaRPr lang="en" sz="1050" dirty="0"/>
          </a:p>
        </p:txBody>
      </p:sp>
      <p:sp>
        <p:nvSpPr>
          <p:cNvPr id="63" name="text62"/>
          <p:cNvSpPr txBox="1"/>
          <p:nvPr/>
        </p:nvSpPr>
        <p:spPr>
          <a:xfrm>
            <a:off x="8275320" y="3675888"/>
            <a:ext cx="14630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313"/>
              </a:lnSpc>
              <a:spcBef>
                <a:spcPts val="0"/>
              </a:spcBef>
              <a:buNone/>
            </a:pPr>
            <a:r>
              <a:rPr lang="en" sz="1050" b="0" i="0" dirty="0">
                <a:solidFill>
                  <a:srgbClr val="5B6478"/>
                </a:solidFill>
                <a:latin typeface="Avenir Next"/>
                <a:ea typeface="Avenir Next"/>
                <a:cs typeface="Avenir Next"/>
              </a:rPr>
              <a:t>Dec 15</a:t>
            </a:r>
            <a:endParaRPr lang="en" sz="1050" dirty="0"/>
          </a:p>
        </p:txBody>
      </p:sp>
      <p:sp>
        <p:nvSpPr>
          <p:cNvPr id="64" name="shape6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78240" y="3840389"/>
            <a:ext cx="457200" cy="457200"/>
          </a:xfrm>
          <a:prstGeom prst="ellipse">
            <a:avLst/>
          </a:prstGeom>
          <a:solidFill>
            <a:srgbClr val="E9F0FE"/>
          </a:solidFill>
          <a:ln>
            <a:noFill/>
          </a:ln>
        </p:spPr>
      </p:sp>
      <p:sp>
        <p:nvSpPr>
          <p:cNvPr id="65" name="shape6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69680" y="3931829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66" name="shape6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61120" y="4023269"/>
            <a:ext cx="91440" cy="91440"/>
          </a:xfrm>
          <a:prstGeom prst="ellipse">
            <a:avLst/>
          </a:prstGeom>
          <a:solidFill>
            <a:schemeClr val="bg2"/>
          </a:solidFill>
          <a:ln>
            <a:noFill/>
          </a:ln>
        </p:spPr>
      </p:sp>
      <p:sp>
        <p:nvSpPr>
          <p:cNvPr id="67" name="text66"/>
          <p:cNvSpPr txBox="1"/>
          <p:nvPr/>
        </p:nvSpPr>
        <p:spPr>
          <a:xfrm>
            <a:off x="8229600" y="4315877"/>
            <a:ext cx="15544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buNone/>
            </a:pPr>
            <a:r>
              <a:rPr lang="en" sz="1300" b="1" i="0" dirty="0">
                <a:solidFill>
                  <a:srgbClr val="0F1B33"/>
                </a:solidFill>
                <a:latin typeface="Avenir Next"/>
                <a:ea typeface="Avenir Next"/>
                <a:cs typeface="Avenir Next"/>
              </a:rPr>
              <a:t>MVP release</a:t>
            </a:r>
            <a:endParaRPr lang="en" sz="1300" dirty="0"/>
          </a:p>
        </p:txBody>
      </p:sp>
      <p:sp>
        <p:nvSpPr>
          <p:cNvPr id="68" name="text67"/>
          <p:cNvSpPr txBox="1"/>
          <p:nvPr/>
        </p:nvSpPr>
        <p:spPr>
          <a:xfrm>
            <a:off x="8229600" y="4562765"/>
            <a:ext cx="15544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313"/>
              </a:lnSpc>
              <a:spcBef>
                <a:spcPts val="0"/>
              </a:spcBef>
              <a:buNone/>
            </a:pPr>
            <a:r>
              <a:rPr lang="en" sz="1050" b="0" i="0" dirty="0">
                <a:solidFill>
                  <a:srgbClr val="2563EB"/>
                </a:solidFill>
                <a:latin typeface="Avenir Next"/>
                <a:ea typeface="Avenir Next"/>
                <a:cs typeface="Avenir Next"/>
              </a:rPr>
              <a:t>In progress</a:t>
            </a:r>
            <a:endParaRPr lang="en" sz="1050" dirty="0"/>
          </a:p>
        </p:txBody>
      </p:sp>
      <p:sp>
        <p:nvSpPr>
          <p:cNvPr id="69" name="text68"/>
          <p:cNvSpPr txBox="1"/>
          <p:nvPr/>
        </p:nvSpPr>
        <p:spPr>
          <a:xfrm>
            <a:off x="10195560" y="3675888"/>
            <a:ext cx="14630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313"/>
              </a:lnSpc>
              <a:spcBef>
                <a:spcPts val="0"/>
              </a:spcBef>
              <a:buNone/>
            </a:pPr>
            <a:r>
              <a:rPr lang="en" sz="1050" b="0" i="0" dirty="0">
                <a:solidFill>
                  <a:srgbClr val="5B6478"/>
                </a:solidFill>
                <a:latin typeface="Avenir Next"/>
                <a:ea typeface="Avenir Next"/>
                <a:cs typeface="Avenir Next"/>
              </a:rPr>
              <a:t>Feb 15</a:t>
            </a:r>
            <a:endParaRPr lang="en" sz="1050" dirty="0"/>
          </a:p>
        </p:txBody>
      </p:sp>
      <p:sp>
        <p:nvSpPr>
          <p:cNvPr id="70" name="shape6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808208" y="3950208"/>
            <a:ext cx="237744" cy="237744"/>
          </a:xfrm>
          <a:prstGeom prst="ellipse">
            <a:avLst/>
          </a:prstGeom>
          <a:solidFill>
            <a:schemeClr val="bg2"/>
          </a:solidFill>
          <a:ln w="22225">
            <a:solidFill>
              <a:srgbClr val="B8C0CC"/>
            </a:solidFill>
          </a:ln>
        </p:spPr>
      </p:sp>
      <p:sp>
        <p:nvSpPr>
          <p:cNvPr id="71" name="text70"/>
          <p:cNvSpPr txBox="1"/>
          <p:nvPr/>
        </p:nvSpPr>
        <p:spPr>
          <a:xfrm>
            <a:off x="10149840" y="4315877"/>
            <a:ext cx="15544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buNone/>
            </a:pPr>
            <a:r>
              <a:rPr lang="en" sz="1300" b="1" i="0" dirty="0">
                <a:solidFill>
                  <a:srgbClr val="0F1B33"/>
                </a:solidFill>
                <a:latin typeface="Avenir Next"/>
                <a:ea typeface="Avenir Next"/>
                <a:cs typeface="Avenir Next"/>
              </a:rPr>
              <a:t>Public beta</a:t>
            </a:r>
            <a:endParaRPr lang="en" sz="1300" dirty="0"/>
          </a:p>
        </p:txBody>
      </p:sp>
      <p:sp>
        <p:nvSpPr>
          <p:cNvPr id="72" name="text71"/>
          <p:cNvSpPr txBox="1"/>
          <p:nvPr/>
        </p:nvSpPr>
        <p:spPr>
          <a:xfrm>
            <a:off x="10149840" y="4562765"/>
            <a:ext cx="15544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313"/>
              </a:lnSpc>
              <a:spcBef>
                <a:spcPts val="0"/>
              </a:spcBef>
              <a:buNone/>
            </a:pPr>
            <a:r>
              <a:rPr lang="en" sz="1050" b="0" i="0" dirty="0">
                <a:solidFill>
                  <a:srgbClr val="5B6478"/>
                </a:solidFill>
                <a:latin typeface="Avenir Next"/>
                <a:ea typeface="Avenir Next"/>
                <a:cs typeface="Avenir Next"/>
              </a:rPr>
              <a:t>Planned</a:t>
            </a:r>
            <a:endParaRPr lang="en" sz="1050" dirty="0"/>
          </a:p>
        </p:txBody>
      </p:sp>
      <p:sp>
        <p:nvSpPr>
          <p:cNvPr id="73" name="column72-surface"/>
          <p:cNvSpPr/>
          <p:nvPr/>
        </p:nvSpPr>
        <p:spPr>
          <a:xfrm>
            <a:off x="8284464" y="3968405"/>
            <a:ext cx="530352" cy="201168"/>
          </a:xfrm>
          <a:prstGeom prst="roundRect">
            <a:avLst>
              <a:gd name="adj" fmla="val 50000"/>
            </a:avLst>
          </a:prstGeom>
          <a:solidFill>
            <a:srgbClr val="0F1B33"/>
          </a:solidFill>
          <a:ln>
            <a:noFill/>
          </a:ln>
        </p:spPr>
      </p:sp>
      <p:sp>
        <p:nvSpPr>
          <p:cNvPr id="74" name="text73"/>
          <p:cNvSpPr txBox="1"/>
          <p:nvPr/>
        </p:nvSpPr>
        <p:spPr>
          <a:xfrm>
            <a:off x="8284464" y="3989619"/>
            <a:ext cx="530352" cy="158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1" i="0" spc="50" dirty="0">
                <a:solidFill>
                  <a:schemeClr val="bg2"/>
                </a:solidFill>
                <a:latin typeface="Avenir Next"/>
                <a:ea typeface="Avenir Next"/>
                <a:cs typeface="Avenir Next"/>
              </a:rPr>
              <a:t>TODAY</a:t>
            </a:r>
            <a:endParaRPr lang="en" sz="1000" dirty="0"/>
          </a:p>
        </p:txBody>
      </p:sp>
      <p:sp>
        <p:nvSpPr>
          <p:cNvPr id="75" name="free74-surface"/>
          <p:cNvSpPr/>
          <p:nvPr/>
        </p:nvSpPr>
        <p:spPr>
          <a:xfrm>
            <a:off x="457200" y="5120640"/>
            <a:ext cx="5577931" cy="1280160"/>
          </a:xfrm>
          <a:prstGeom prst="roundRect">
            <a:avLst>
              <a:gd name="adj" fmla="val 9921"/>
            </a:avLst>
          </a:prstGeom>
          <a:solidFill>
            <a:srgbClr val="FDEEEE"/>
          </a:solidFill>
          <a:ln>
            <a:noFill/>
          </a:ln>
        </p:spPr>
      </p:sp>
      <p:sp>
        <p:nvSpPr>
          <p:cNvPr id="76" name="column75-surface"/>
          <p:cNvSpPr/>
          <p:nvPr/>
        </p:nvSpPr>
        <p:spPr>
          <a:xfrm>
            <a:off x="713232" y="5358384"/>
            <a:ext cx="420624" cy="420624"/>
          </a:xfrm>
          <a:prstGeom prst="roundRect">
            <a:avLst>
              <a:gd name="adj" fmla="val 21135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77" name="icon7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2843" y="5448087"/>
            <a:ext cx="241310" cy="241310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21730" y="18000"/>
                </a:moveTo>
                <a:lnTo>
                  <a:pt x="13730" y="4000"/>
                </a:lnTo>
                <a:cubicBezTo>
                  <a:pt x="13375" y="3373"/>
                  <a:pt x="12710" y="2986"/>
                  <a:pt x="11990" y="2986"/>
                </a:cubicBezTo>
                <a:cubicBezTo>
                  <a:pt x="11270" y="2986"/>
                  <a:pt x="10605" y="3373"/>
                  <a:pt x="10250" y="4000"/>
                </a:cubicBezTo>
                <a:lnTo>
                  <a:pt x="2250" y="18000"/>
                </a:lnTo>
                <a:cubicBezTo>
                  <a:pt x="1891" y="18622"/>
                  <a:pt x="1893" y="19388"/>
                  <a:pt x="2254" y="20008"/>
                </a:cubicBezTo>
                <a:cubicBezTo>
                  <a:pt x="2616" y="20628"/>
                  <a:pt x="3282" y="21006"/>
                  <a:pt x="4000" y="21000"/>
                </a:cubicBezTo>
                <a:lnTo>
                  <a:pt x="20000" y="21000"/>
                </a:lnTo>
                <a:cubicBezTo>
                  <a:pt x="20714" y="20999"/>
                  <a:pt x="21374" y="20618"/>
                  <a:pt x="21731" y="19999"/>
                </a:cubicBezTo>
                <a:cubicBezTo>
                  <a:pt x="22087" y="19380"/>
                  <a:pt x="22087" y="18618"/>
                  <a:pt x="21730" y="18000"/>
                </a:cubicBezTo>
              </a:path>
              <a:path w="24000" h="24000" fill="none">
                <a:moveTo>
                  <a:pt x="12000" y="9000"/>
                </a:moveTo>
                <a:lnTo>
                  <a:pt x="12000" y="13000"/>
                </a:lnTo>
              </a:path>
              <a:path w="24000" h="24000" fill="none">
                <a:moveTo>
                  <a:pt x="12000" y="17000"/>
                </a:moveTo>
                <a:lnTo>
                  <a:pt x="12010" y="17000"/>
                </a:lnTo>
              </a:path>
            </a:pathLst>
          </a:custGeom>
          <a:noFill/>
          <a:ln w="20109" cap="rnd">
            <a:solidFill>
              <a:srgbClr val="DC2626"/>
            </a:solidFill>
            <a:round/>
          </a:ln>
        </p:spPr>
      </p:sp>
      <p:sp>
        <p:nvSpPr>
          <p:cNvPr id="78" name="text77"/>
          <p:cNvSpPr txBox="1"/>
          <p:nvPr/>
        </p:nvSpPr>
        <p:spPr>
          <a:xfrm>
            <a:off x="1316736" y="5330952"/>
            <a:ext cx="11887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buNone/>
            </a:pPr>
            <a:r>
              <a:rPr lang="en" sz="1050" b="1" i="0" spc="158" dirty="0">
                <a:solidFill>
                  <a:srgbClr val="B91C1C"/>
                </a:solidFill>
                <a:latin typeface="Avenir Next"/>
                <a:ea typeface="Avenir Next"/>
                <a:cs typeface="Avenir Next"/>
              </a:rPr>
              <a:t>KEY RISK</a:t>
            </a:r>
            <a:endParaRPr lang="en" sz="1050" dirty="0"/>
          </a:p>
        </p:txBody>
      </p:sp>
      <p:sp>
        <p:nvSpPr>
          <p:cNvPr id="79" name="column78-surface"/>
          <p:cNvSpPr/>
          <p:nvPr/>
        </p:nvSpPr>
        <p:spPr>
          <a:xfrm>
            <a:off x="2286000" y="5340096"/>
            <a:ext cx="713232" cy="219456"/>
          </a:xfrm>
          <a:prstGeom prst="roundRect">
            <a:avLst>
              <a:gd name="adj" fmla="val 50000"/>
            </a:avLst>
          </a:prstGeom>
          <a:solidFill>
            <a:srgbClr val="FBE2BE"/>
          </a:solidFill>
          <a:ln>
            <a:noFill/>
          </a:ln>
        </p:spPr>
      </p:sp>
      <p:sp>
        <p:nvSpPr>
          <p:cNvPr id="80" name="text79"/>
          <p:cNvSpPr txBox="1"/>
          <p:nvPr/>
        </p:nvSpPr>
        <p:spPr>
          <a:xfrm>
            <a:off x="2286000" y="5370454"/>
            <a:ext cx="713232" cy="158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1" i="0" dirty="0">
                <a:solidFill>
                  <a:srgbClr val="9A4D06"/>
                </a:solidFill>
                <a:latin typeface="Avenir Next"/>
                <a:ea typeface="Avenir Next"/>
                <a:cs typeface="Avenir Next"/>
              </a:rPr>
              <a:t>Medium</a:t>
            </a:r>
            <a:endParaRPr lang="en" sz="1000" dirty="0"/>
          </a:p>
        </p:txBody>
      </p:sp>
      <p:sp>
        <p:nvSpPr>
          <p:cNvPr id="81" name="text80"/>
          <p:cNvSpPr txBox="1"/>
          <p:nvPr/>
        </p:nvSpPr>
        <p:spPr>
          <a:xfrm>
            <a:off x="1316736" y="5596128"/>
            <a:ext cx="4526371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buNone/>
            </a:pPr>
            <a:r>
              <a:rPr lang="en" sz="1350" b="1" i="0" dirty="0">
                <a:solidFill>
                  <a:srgbClr val="0F1B33"/>
                </a:solidFill>
                <a:latin typeface="Avenir Next"/>
                <a:ea typeface="Avenir Next"/>
                <a:cs typeface="Avenir Next"/>
              </a:rPr>
              <a:t>GPU capacity from our third-party provider is not yet confirmed for Q1</a:t>
            </a:r>
            <a:endParaRPr lang="en" sz="1350" dirty="0"/>
          </a:p>
        </p:txBody>
      </p:sp>
      <p:sp>
        <p:nvSpPr>
          <p:cNvPr id="82" name="text81"/>
          <p:cNvSpPr txBox="1"/>
          <p:nvPr/>
        </p:nvSpPr>
        <p:spPr>
          <a:xfrm>
            <a:off x="1316736" y="6062472"/>
            <a:ext cx="4526371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buNone/>
            </a:pPr>
            <a:r>
              <a:rPr lang="en" sz="1100" b="0" i="0" dirty="0">
                <a:solidFill>
                  <a:srgbClr val="5B6478"/>
                </a:solidFill>
                <a:latin typeface="Avenir Next"/>
                <a:ea typeface="Avenir Next"/>
                <a:cs typeface="Avenir Next"/>
              </a:rPr>
              <a:t>If unresolved, the public beta slips four to six weeks</a:t>
            </a:r>
            <a:endParaRPr lang="en" sz="1100" dirty="0"/>
          </a:p>
        </p:txBody>
      </p:sp>
      <p:sp>
        <p:nvSpPr>
          <p:cNvPr id="83" name="free82-surface"/>
          <p:cNvSpPr/>
          <p:nvPr/>
        </p:nvSpPr>
        <p:spPr>
          <a:xfrm>
            <a:off x="6217920" y="5120640"/>
            <a:ext cx="5516667" cy="1280160"/>
          </a:xfrm>
          <a:prstGeom prst="roundRect">
            <a:avLst>
              <a:gd name="adj" fmla="val 9921"/>
            </a:avLst>
          </a:prstGeom>
          <a:solidFill>
            <a:srgbClr val="E9F0FE"/>
          </a:solidFill>
          <a:ln>
            <a:noFill/>
          </a:ln>
        </p:spPr>
      </p:sp>
      <p:sp>
        <p:nvSpPr>
          <p:cNvPr id="84" name="column83-surface"/>
          <p:cNvSpPr/>
          <p:nvPr/>
        </p:nvSpPr>
        <p:spPr>
          <a:xfrm>
            <a:off x="6473952" y="5358384"/>
            <a:ext cx="420624" cy="420624"/>
          </a:xfrm>
          <a:prstGeom prst="roundRect">
            <a:avLst>
              <a:gd name="adj" fmla="val 21135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85" name="icon8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63563" y="5448087"/>
            <a:ext cx="241310" cy="241310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14000" y="13000"/>
                </a:moveTo>
                <a:lnTo>
                  <a:pt x="5619" y="21380"/>
                </a:lnTo>
                <a:cubicBezTo>
                  <a:pt x="4791" y="22209"/>
                  <a:pt x="3447" y="22209"/>
                  <a:pt x="2619" y="21381"/>
                </a:cubicBezTo>
                <a:cubicBezTo>
                  <a:pt x="1790" y="20552"/>
                  <a:pt x="1790" y="19209"/>
                  <a:pt x="2618" y="18380"/>
                </a:cubicBezTo>
                <a:lnTo>
                  <a:pt x="11002" y="9999"/>
                </a:lnTo>
              </a:path>
              <a:path w="24000" h="24000" fill="none">
                <a:moveTo>
                  <a:pt x="16000" y="16000"/>
                </a:moveTo>
                <a:lnTo>
                  <a:pt x="22000" y="10000"/>
                </a:lnTo>
              </a:path>
              <a:path w="24000" h="24000" fill="none">
                <a:moveTo>
                  <a:pt x="21500" y="10500"/>
                </a:moveTo>
                <a:lnTo>
                  <a:pt x="13500" y="2500"/>
                </a:lnTo>
              </a:path>
              <a:path w="24000" h="24000" fill="none">
                <a:moveTo>
                  <a:pt x="8000" y="8000"/>
                </a:moveTo>
                <a:lnTo>
                  <a:pt x="14000" y="2000"/>
                </a:lnTo>
              </a:path>
              <a:path w="24000" h="24000" fill="none">
                <a:moveTo>
                  <a:pt x="8500" y="7500"/>
                </a:moveTo>
                <a:lnTo>
                  <a:pt x="16500" y="15500"/>
                </a:lnTo>
              </a:path>
            </a:pathLst>
          </a:custGeom>
          <a:noFill/>
          <a:ln w="20109" cap="rnd">
            <a:solidFill>
              <a:srgbClr val="2563EB"/>
            </a:solidFill>
            <a:round/>
          </a:ln>
        </p:spPr>
      </p:sp>
      <p:sp>
        <p:nvSpPr>
          <p:cNvPr id="86" name="text85"/>
          <p:cNvSpPr txBox="1"/>
          <p:nvPr/>
        </p:nvSpPr>
        <p:spPr>
          <a:xfrm>
            <a:off x="7077456" y="5330952"/>
            <a:ext cx="14630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buNone/>
            </a:pPr>
            <a:r>
              <a:rPr lang="en" sz="1050" b="1" i="0" spc="158" dirty="0">
                <a:solidFill>
                  <a:srgbClr val="2563EB"/>
                </a:solidFill>
                <a:latin typeface="Avenir Next"/>
                <a:ea typeface="Avenir Next"/>
                <a:cs typeface="Avenir Next"/>
              </a:rPr>
              <a:t>NEXT DECISION</a:t>
            </a:r>
            <a:endParaRPr lang="en" sz="1050" dirty="0"/>
          </a:p>
        </p:txBody>
      </p:sp>
      <p:sp>
        <p:nvSpPr>
          <p:cNvPr id="87" name="column86-surface"/>
          <p:cNvSpPr/>
          <p:nvPr/>
        </p:nvSpPr>
        <p:spPr>
          <a:xfrm>
            <a:off x="8577072" y="5340096"/>
            <a:ext cx="822960" cy="21945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88" name="text87"/>
          <p:cNvSpPr txBox="1"/>
          <p:nvPr/>
        </p:nvSpPr>
        <p:spPr>
          <a:xfrm>
            <a:off x="8577072" y="5370454"/>
            <a:ext cx="822960" cy="158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1" i="0" dirty="0">
                <a:solidFill>
                  <a:srgbClr val="2563EB"/>
                </a:solidFill>
                <a:latin typeface="Avenir Next"/>
                <a:ea typeface="Avenir Next"/>
                <a:cs typeface="Avenir Next"/>
              </a:rPr>
              <a:t>By Dec 6</a:t>
            </a:r>
            <a:endParaRPr lang="en" sz="1000" dirty="0"/>
          </a:p>
        </p:txBody>
      </p:sp>
      <p:sp>
        <p:nvSpPr>
          <p:cNvPr id="89" name="text88"/>
          <p:cNvSpPr txBox="1"/>
          <p:nvPr/>
        </p:nvSpPr>
        <p:spPr>
          <a:xfrm>
            <a:off x="7077456" y="5596128"/>
            <a:ext cx="44348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buNone/>
            </a:pPr>
            <a:r>
              <a:rPr lang="en" sz="1350" b="1" i="0" dirty="0">
                <a:solidFill>
                  <a:srgbClr val="0F1B33"/>
                </a:solidFill>
                <a:latin typeface="Avenir Next"/>
                <a:ea typeface="Avenir Next"/>
                <a:cs typeface="Avenir Next"/>
              </a:rPr>
              <a:t>Approve a $0.6M reserve for dedicated GPU capacity</a:t>
            </a:r>
            <a:endParaRPr lang="en" sz="1350" dirty="0"/>
          </a:p>
        </p:txBody>
      </p:sp>
      <p:sp>
        <p:nvSpPr>
          <p:cNvPr id="90" name="text89"/>
          <p:cNvSpPr txBox="1"/>
          <p:nvPr/>
        </p:nvSpPr>
        <p:spPr>
          <a:xfrm>
            <a:off x="7077456" y="6062472"/>
            <a:ext cx="44348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buNone/>
            </a:pPr>
            <a:r>
              <a:rPr lang="en" sz="1100" b="0" i="0" dirty="0">
                <a:solidFill>
                  <a:srgbClr val="5B6478"/>
                </a:solidFill>
                <a:latin typeface="Avenir Next"/>
                <a:ea typeface="Avenir Next"/>
                <a:cs typeface="Avenir Next"/>
              </a:rPr>
              <a:t>Secures the Feb 15 beta and de-risks the Q2 launch</a:t>
            </a:r>
            <a:endParaRPr lang="en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rchitectur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70" cy="6858000"/>
          </a:xfrm>
          <a:prstGeom prst="rect">
            <a:avLst/>
          </a:prstGeom>
        </p:spPr>
      </p:pic>
      <p:sp>
        <p:nvSpPr>
          <p:cNvPr id="3" name="texture2-line-grid-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371600"/>
            <a:ext cx="6309" cy="5029200"/>
          </a:xfrm>
          <a:prstGeom prst="rect">
            <a:avLst/>
          </a:prstGeom>
          <a:solidFill>
            <a:schemeClr val="accent3">
              <a:alpha val="18000"/>
            </a:schemeClr>
          </a:solidFill>
          <a:ln>
            <a:noFill/>
          </a:ln>
        </p:spPr>
      </p:sp>
      <p:sp>
        <p:nvSpPr>
          <p:cNvPr id="4" name="texture2-line-grid-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1371600"/>
            <a:ext cx="6309" cy="5029200"/>
          </a:xfrm>
          <a:prstGeom prst="rect">
            <a:avLst/>
          </a:prstGeom>
          <a:solidFill>
            <a:schemeClr val="accent3">
              <a:alpha val="18000"/>
            </a:schemeClr>
          </a:solidFill>
          <a:ln>
            <a:noFill/>
          </a:ln>
        </p:spPr>
      </p:sp>
      <p:sp>
        <p:nvSpPr>
          <p:cNvPr id="5" name="texture2-line-grid-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71600" y="1371600"/>
            <a:ext cx="6309" cy="5029200"/>
          </a:xfrm>
          <a:prstGeom prst="rect">
            <a:avLst/>
          </a:prstGeom>
          <a:solidFill>
            <a:schemeClr val="accent3">
              <a:alpha val="18000"/>
            </a:schemeClr>
          </a:solidFill>
          <a:ln>
            <a:noFill/>
          </a:ln>
        </p:spPr>
      </p:sp>
      <p:sp>
        <p:nvSpPr>
          <p:cNvPr id="6" name="texture2-line-grid-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28800" y="1371600"/>
            <a:ext cx="6309" cy="5029200"/>
          </a:xfrm>
          <a:prstGeom prst="rect">
            <a:avLst/>
          </a:prstGeom>
          <a:solidFill>
            <a:schemeClr val="accent3">
              <a:alpha val="18000"/>
            </a:schemeClr>
          </a:solidFill>
          <a:ln>
            <a:noFill/>
          </a:ln>
        </p:spPr>
      </p:sp>
      <p:sp>
        <p:nvSpPr>
          <p:cNvPr id="7" name="texture2-line-grid-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0" y="1371600"/>
            <a:ext cx="6309" cy="5029200"/>
          </a:xfrm>
          <a:prstGeom prst="rect">
            <a:avLst/>
          </a:prstGeom>
          <a:solidFill>
            <a:schemeClr val="accent3">
              <a:alpha val="18000"/>
            </a:schemeClr>
          </a:solidFill>
          <a:ln>
            <a:noFill/>
          </a:ln>
        </p:spPr>
      </p:sp>
      <p:sp>
        <p:nvSpPr>
          <p:cNvPr id="8" name="texture2-line-grid-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43200" y="1371600"/>
            <a:ext cx="6309" cy="5029200"/>
          </a:xfrm>
          <a:prstGeom prst="rect">
            <a:avLst/>
          </a:prstGeom>
          <a:solidFill>
            <a:schemeClr val="accent3">
              <a:alpha val="18000"/>
            </a:schemeClr>
          </a:solidFill>
          <a:ln>
            <a:noFill/>
          </a:ln>
        </p:spPr>
      </p:sp>
      <p:sp>
        <p:nvSpPr>
          <p:cNvPr id="9" name="texture2-line-grid-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00400" y="1371600"/>
            <a:ext cx="6309" cy="5029200"/>
          </a:xfrm>
          <a:prstGeom prst="rect">
            <a:avLst/>
          </a:prstGeom>
          <a:solidFill>
            <a:schemeClr val="accent3">
              <a:alpha val="18000"/>
            </a:schemeClr>
          </a:solidFill>
          <a:ln>
            <a:noFill/>
          </a:ln>
        </p:spPr>
      </p:sp>
      <p:sp>
        <p:nvSpPr>
          <p:cNvPr id="10" name="texture2-line-grid-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57600" y="1371600"/>
            <a:ext cx="6309" cy="5029200"/>
          </a:xfrm>
          <a:prstGeom prst="rect">
            <a:avLst/>
          </a:prstGeom>
          <a:solidFill>
            <a:schemeClr val="accent3">
              <a:alpha val="18000"/>
            </a:schemeClr>
          </a:solidFill>
          <a:ln>
            <a:noFill/>
          </a:ln>
        </p:spPr>
      </p:sp>
      <p:sp>
        <p:nvSpPr>
          <p:cNvPr id="11" name="texture2-line-grid-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0" y="1371600"/>
            <a:ext cx="6309" cy="5029200"/>
          </a:xfrm>
          <a:prstGeom prst="rect">
            <a:avLst/>
          </a:prstGeom>
          <a:solidFill>
            <a:schemeClr val="accent3">
              <a:alpha val="18000"/>
            </a:schemeClr>
          </a:solidFill>
          <a:ln>
            <a:noFill/>
          </a:ln>
        </p:spPr>
      </p:sp>
      <p:sp>
        <p:nvSpPr>
          <p:cNvPr id="12" name="texture2-line-grid-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0" y="1371600"/>
            <a:ext cx="6309" cy="5029200"/>
          </a:xfrm>
          <a:prstGeom prst="rect">
            <a:avLst/>
          </a:prstGeom>
          <a:solidFill>
            <a:schemeClr val="accent3">
              <a:alpha val="18000"/>
            </a:schemeClr>
          </a:solidFill>
          <a:ln>
            <a:noFill/>
          </a:ln>
        </p:spPr>
      </p:sp>
      <p:sp>
        <p:nvSpPr>
          <p:cNvPr id="13" name="texture2-line-grid-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0" y="1371600"/>
            <a:ext cx="6309" cy="5029200"/>
          </a:xfrm>
          <a:prstGeom prst="rect">
            <a:avLst/>
          </a:prstGeom>
          <a:solidFill>
            <a:schemeClr val="accent3">
              <a:alpha val="18000"/>
            </a:schemeClr>
          </a:solidFill>
          <a:ln>
            <a:noFill/>
          </a:ln>
        </p:spPr>
      </p:sp>
      <p:sp>
        <p:nvSpPr>
          <p:cNvPr id="14" name="texture2-line-grid-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0" y="1371600"/>
            <a:ext cx="6309" cy="5029200"/>
          </a:xfrm>
          <a:prstGeom prst="rect">
            <a:avLst/>
          </a:prstGeom>
          <a:solidFill>
            <a:schemeClr val="accent3">
              <a:alpha val="18000"/>
            </a:schemeClr>
          </a:solidFill>
          <a:ln>
            <a:noFill/>
          </a:ln>
        </p:spPr>
      </p:sp>
      <p:sp>
        <p:nvSpPr>
          <p:cNvPr id="15" name="texture2-line-grid-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43600" y="1371600"/>
            <a:ext cx="6309" cy="5029200"/>
          </a:xfrm>
          <a:prstGeom prst="rect">
            <a:avLst/>
          </a:prstGeom>
          <a:solidFill>
            <a:schemeClr val="accent3">
              <a:alpha val="18000"/>
            </a:schemeClr>
          </a:solidFill>
          <a:ln>
            <a:noFill/>
          </a:ln>
        </p:spPr>
      </p:sp>
      <p:sp>
        <p:nvSpPr>
          <p:cNvPr id="16" name="texture2-line-grid-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0" y="1371600"/>
            <a:ext cx="6309" cy="5029200"/>
          </a:xfrm>
          <a:prstGeom prst="rect">
            <a:avLst/>
          </a:prstGeom>
          <a:solidFill>
            <a:schemeClr val="accent3">
              <a:alpha val="18000"/>
            </a:schemeClr>
          </a:solidFill>
          <a:ln>
            <a:noFill/>
          </a:ln>
        </p:spPr>
      </p:sp>
      <p:sp>
        <p:nvSpPr>
          <p:cNvPr id="17" name="texture2-line-grid-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0" y="1371600"/>
            <a:ext cx="6309" cy="5029200"/>
          </a:xfrm>
          <a:prstGeom prst="rect">
            <a:avLst/>
          </a:prstGeom>
          <a:solidFill>
            <a:schemeClr val="accent3">
              <a:alpha val="18000"/>
            </a:schemeClr>
          </a:solidFill>
          <a:ln>
            <a:noFill/>
          </a:ln>
        </p:spPr>
      </p:sp>
      <p:sp>
        <p:nvSpPr>
          <p:cNvPr id="18" name="texture2-line-grid-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0" y="1371600"/>
            <a:ext cx="6309" cy="5029200"/>
          </a:xfrm>
          <a:prstGeom prst="rect">
            <a:avLst/>
          </a:prstGeom>
          <a:solidFill>
            <a:schemeClr val="accent3">
              <a:alpha val="18000"/>
            </a:schemeClr>
          </a:solidFill>
          <a:ln>
            <a:noFill/>
          </a:ln>
        </p:spPr>
      </p:sp>
      <p:sp>
        <p:nvSpPr>
          <p:cNvPr id="19" name="texture2-line-grid-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0" y="1371600"/>
            <a:ext cx="6309" cy="5029200"/>
          </a:xfrm>
          <a:prstGeom prst="rect">
            <a:avLst/>
          </a:prstGeom>
          <a:solidFill>
            <a:schemeClr val="accent3">
              <a:alpha val="18000"/>
            </a:schemeClr>
          </a:solidFill>
          <a:ln>
            <a:noFill/>
          </a:ln>
        </p:spPr>
      </p:sp>
      <p:sp>
        <p:nvSpPr>
          <p:cNvPr id="20" name="texture2-line-grid-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0" y="1371600"/>
            <a:ext cx="6309" cy="5029200"/>
          </a:xfrm>
          <a:prstGeom prst="rect">
            <a:avLst/>
          </a:prstGeom>
          <a:solidFill>
            <a:schemeClr val="accent3">
              <a:alpha val="18000"/>
            </a:schemeClr>
          </a:solidFill>
          <a:ln>
            <a:noFill/>
          </a:ln>
        </p:spPr>
      </p:sp>
      <p:sp>
        <p:nvSpPr>
          <p:cNvPr id="21" name="texture2-line-grid-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86800" y="1371600"/>
            <a:ext cx="6309" cy="5029200"/>
          </a:xfrm>
          <a:prstGeom prst="rect">
            <a:avLst/>
          </a:prstGeom>
          <a:solidFill>
            <a:schemeClr val="accent3">
              <a:alpha val="18000"/>
            </a:schemeClr>
          </a:solidFill>
          <a:ln>
            <a:noFill/>
          </a:ln>
        </p:spPr>
      </p:sp>
      <p:sp>
        <p:nvSpPr>
          <p:cNvPr id="22" name="texture2-line-grid-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0" y="1371600"/>
            <a:ext cx="6309" cy="5029200"/>
          </a:xfrm>
          <a:prstGeom prst="rect">
            <a:avLst/>
          </a:prstGeom>
          <a:solidFill>
            <a:schemeClr val="accent3">
              <a:alpha val="18000"/>
            </a:schemeClr>
          </a:solidFill>
          <a:ln>
            <a:noFill/>
          </a:ln>
        </p:spPr>
      </p:sp>
      <p:sp>
        <p:nvSpPr>
          <p:cNvPr id="23" name="texture2-line-grid-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601200" y="1371600"/>
            <a:ext cx="6309" cy="5029200"/>
          </a:xfrm>
          <a:prstGeom prst="rect">
            <a:avLst/>
          </a:prstGeom>
          <a:solidFill>
            <a:schemeClr val="accent3">
              <a:alpha val="18000"/>
            </a:schemeClr>
          </a:solidFill>
          <a:ln>
            <a:noFill/>
          </a:ln>
        </p:spPr>
      </p:sp>
      <p:sp>
        <p:nvSpPr>
          <p:cNvPr id="24" name="texture2-line-grid-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058400" y="1371600"/>
            <a:ext cx="6309" cy="5029200"/>
          </a:xfrm>
          <a:prstGeom prst="rect">
            <a:avLst/>
          </a:prstGeom>
          <a:solidFill>
            <a:schemeClr val="accent3">
              <a:alpha val="18000"/>
            </a:schemeClr>
          </a:solidFill>
          <a:ln>
            <a:noFill/>
          </a:ln>
        </p:spPr>
      </p:sp>
      <p:sp>
        <p:nvSpPr>
          <p:cNvPr id="25" name="texture2-line-grid-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515600" y="1371600"/>
            <a:ext cx="6309" cy="5029200"/>
          </a:xfrm>
          <a:prstGeom prst="rect">
            <a:avLst/>
          </a:prstGeom>
          <a:solidFill>
            <a:schemeClr val="accent3">
              <a:alpha val="18000"/>
            </a:schemeClr>
          </a:solidFill>
          <a:ln>
            <a:noFill/>
          </a:ln>
        </p:spPr>
      </p:sp>
      <p:sp>
        <p:nvSpPr>
          <p:cNvPr id="26" name="texture2-line-grid-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972800" y="1371600"/>
            <a:ext cx="6309" cy="5029200"/>
          </a:xfrm>
          <a:prstGeom prst="rect">
            <a:avLst/>
          </a:prstGeom>
          <a:solidFill>
            <a:schemeClr val="accent3">
              <a:alpha val="18000"/>
            </a:schemeClr>
          </a:solidFill>
          <a:ln>
            <a:noFill/>
          </a:ln>
        </p:spPr>
      </p:sp>
      <p:sp>
        <p:nvSpPr>
          <p:cNvPr id="27" name="texture2-line-grid-2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430000" y="1371600"/>
            <a:ext cx="6309" cy="5029200"/>
          </a:xfrm>
          <a:prstGeom prst="rect">
            <a:avLst/>
          </a:prstGeom>
          <a:solidFill>
            <a:schemeClr val="accent3">
              <a:alpha val="18000"/>
            </a:schemeClr>
          </a:solidFill>
          <a:ln>
            <a:noFill/>
          </a:ln>
        </p:spPr>
      </p:sp>
      <p:sp>
        <p:nvSpPr>
          <p:cNvPr id="28" name="texture2-line-grid-2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371600"/>
            <a:ext cx="11277295" cy="6309"/>
          </a:xfrm>
          <a:prstGeom prst="rect">
            <a:avLst/>
          </a:prstGeom>
          <a:solidFill>
            <a:schemeClr val="accent3">
              <a:alpha val="18000"/>
            </a:schemeClr>
          </a:solidFill>
          <a:ln>
            <a:noFill/>
          </a:ln>
        </p:spPr>
      </p:sp>
      <p:sp>
        <p:nvSpPr>
          <p:cNvPr id="29" name="texture2-line-grid-2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828800"/>
            <a:ext cx="11277295" cy="6309"/>
          </a:xfrm>
          <a:prstGeom prst="rect">
            <a:avLst/>
          </a:prstGeom>
          <a:solidFill>
            <a:schemeClr val="accent3">
              <a:alpha val="18000"/>
            </a:schemeClr>
          </a:solidFill>
          <a:ln>
            <a:noFill/>
          </a:ln>
        </p:spPr>
      </p:sp>
      <p:sp>
        <p:nvSpPr>
          <p:cNvPr id="30" name="texture2-line-grid-2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2286000"/>
            <a:ext cx="11277295" cy="6309"/>
          </a:xfrm>
          <a:prstGeom prst="rect">
            <a:avLst/>
          </a:prstGeom>
          <a:solidFill>
            <a:schemeClr val="accent3">
              <a:alpha val="18000"/>
            </a:schemeClr>
          </a:solidFill>
          <a:ln>
            <a:noFill/>
          </a:ln>
        </p:spPr>
      </p:sp>
      <p:sp>
        <p:nvSpPr>
          <p:cNvPr id="31" name="texture2-line-grid-2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2743200"/>
            <a:ext cx="11277295" cy="6309"/>
          </a:xfrm>
          <a:prstGeom prst="rect">
            <a:avLst/>
          </a:prstGeom>
          <a:solidFill>
            <a:schemeClr val="accent3">
              <a:alpha val="18000"/>
            </a:schemeClr>
          </a:solidFill>
          <a:ln>
            <a:noFill/>
          </a:ln>
        </p:spPr>
      </p:sp>
      <p:sp>
        <p:nvSpPr>
          <p:cNvPr id="32" name="texture2-line-grid-3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200400"/>
            <a:ext cx="11277295" cy="6309"/>
          </a:xfrm>
          <a:prstGeom prst="rect">
            <a:avLst/>
          </a:prstGeom>
          <a:solidFill>
            <a:schemeClr val="accent3">
              <a:alpha val="18000"/>
            </a:schemeClr>
          </a:solidFill>
          <a:ln>
            <a:noFill/>
          </a:ln>
        </p:spPr>
      </p:sp>
      <p:sp>
        <p:nvSpPr>
          <p:cNvPr id="33" name="texture2-line-grid-3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657600"/>
            <a:ext cx="11277295" cy="6309"/>
          </a:xfrm>
          <a:prstGeom prst="rect">
            <a:avLst/>
          </a:prstGeom>
          <a:solidFill>
            <a:schemeClr val="accent3">
              <a:alpha val="18000"/>
            </a:schemeClr>
          </a:solidFill>
          <a:ln>
            <a:noFill/>
          </a:ln>
        </p:spPr>
      </p:sp>
      <p:sp>
        <p:nvSpPr>
          <p:cNvPr id="34" name="texture2-line-grid-3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4114800"/>
            <a:ext cx="11277295" cy="6309"/>
          </a:xfrm>
          <a:prstGeom prst="rect">
            <a:avLst/>
          </a:prstGeom>
          <a:solidFill>
            <a:schemeClr val="accent3">
              <a:alpha val="18000"/>
            </a:schemeClr>
          </a:solidFill>
          <a:ln>
            <a:noFill/>
          </a:ln>
        </p:spPr>
      </p:sp>
      <p:sp>
        <p:nvSpPr>
          <p:cNvPr id="35" name="texture2-line-grid-3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4572000"/>
            <a:ext cx="11277295" cy="6309"/>
          </a:xfrm>
          <a:prstGeom prst="rect">
            <a:avLst/>
          </a:prstGeom>
          <a:solidFill>
            <a:schemeClr val="accent3">
              <a:alpha val="18000"/>
            </a:schemeClr>
          </a:solidFill>
          <a:ln>
            <a:noFill/>
          </a:ln>
        </p:spPr>
      </p:sp>
      <p:sp>
        <p:nvSpPr>
          <p:cNvPr id="36" name="texture2-line-grid-3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5029200"/>
            <a:ext cx="11277295" cy="6309"/>
          </a:xfrm>
          <a:prstGeom prst="rect">
            <a:avLst/>
          </a:prstGeom>
          <a:solidFill>
            <a:schemeClr val="accent3">
              <a:alpha val="18000"/>
            </a:schemeClr>
          </a:solidFill>
          <a:ln>
            <a:noFill/>
          </a:ln>
        </p:spPr>
      </p:sp>
      <p:sp>
        <p:nvSpPr>
          <p:cNvPr id="37" name="texture2-line-grid-3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5486400"/>
            <a:ext cx="11277295" cy="6309"/>
          </a:xfrm>
          <a:prstGeom prst="rect">
            <a:avLst/>
          </a:prstGeom>
          <a:solidFill>
            <a:schemeClr val="accent3">
              <a:alpha val="18000"/>
            </a:schemeClr>
          </a:solidFill>
          <a:ln>
            <a:noFill/>
          </a:ln>
        </p:spPr>
      </p:sp>
      <p:sp>
        <p:nvSpPr>
          <p:cNvPr id="38" name="texture2-line-grid-3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5943600"/>
            <a:ext cx="11277295" cy="6309"/>
          </a:xfrm>
          <a:prstGeom prst="rect">
            <a:avLst/>
          </a:prstGeom>
          <a:solidFill>
            <a:schemeClr val="accent3">
              <a:alpha val="18000"/>
            </a:schemeClr>
          </a:solidFill>
          <a:ln>
            <a:noFill/>
          </a:ln>
        </p:spPr>
      </p:sp>
      <p:sp>
        <p:nvSpPr>
          <p:cNvPr id="39" name="text3"/>
          <p:cNvSpPr>
            <a:spLocks noGrp="1"/>
          </p:cNvSpPr>
          <p:nvPr>
            <p:ph type="title"/>
          </p:nvPr>
        </p:nvSpPr>
        <p:spPr>
          <a:xfrm>
            <a:off x="457200" y="420624"/>
            <a:ext cx="7863840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940"/>
              </a:lnSpc>
              <a:spcBef>
                <a:spcPts val="0"/>
              </a:spcBef>
              <a:buNone/>
            </a:pPr>
            <a:r>
              <a:rPr lang="en" sz="2800" b="1" i="0" dirty="0">
                <a:solidFill>
                  <a:srgbClr val="E8EDF7"/>
                </a:solidFill>
                <a:latin typeface="Helvetica Neue"/>
                <a:ea typeface="Helvetica Neue"/>
                <a:cs typeface="Helvetica Neue"/>
              </a:rPr>
              <a:t>AI Platform — Production Architecture</a:t>
            </a:r>
            <a:endParaRPr lang="en" sz="2800" dirty="0"/>
          </a:p>
        </p:txBody>
      </p:sp>
      <p:sp>
        <p:nvSpPr>
          <p:cNvPr id="40" name="text4"/>
          <p:cNvSpPr txBox="1"/>
          <p:nvPr/>
        </p:nvSpPr>
        <p:spPr>
          <a:xfrm>
            <a:off x="457200" y="905256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buNone/>
            </a:pPr>
            <a:r>
              <a:rPr lang="en" sz="1300" b="0" i="0" dirty="0">
                <a:solidFill>
                  <a:srgbClr val="97A3BF"/>
                </a:solidFill>
                <a:latin typeface="Helvetica Neue"/>
                <a:ea typeface="Helvetica Neue"/>
                <a:cs typeface="Helvetica Neue"/>
              </a:rPr>
              <a:t>Scalable, secure and modular architecture for AI-powered applications</a:t>
            </a:r>
            <a:endParaRPr lang="en" sz="1300" dirty="0"/>
          </a:p>
        </p:txBody>
      </p:sp>
      <p:sp>
        <p:nvSpPr>
          <p:cNvPr id="41" name="text5"/>
          <p:cNvSpPr txBox="1"/>
          <p:nvPr/>
        </p:nvSpPr>
        <p:spPr>
          <a:xfrm>
            <a:off x="8229600" y="457200"/>
            <a:ext cx="3504895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buNone/>
            </a:pPr>
            <a:r>
              <a:rPr lang="en" sz="1000" b="0" i="0" spc="200" dirty="0">
                <a:solidFill>
                  <a:schemeClr val="accent2"/>
                </a:solidFill>
                <a:latin typeface="Menlo"/>
                <a:ea typeface="Menlo"/>
                <a:cs typeface="Menlo"/>
              </a:rPr>
              <a:t>ARCHITECTURE REVIEW</a:t>
            </a:r>
            <a:endParaRPr lang="en" sz="1000" dirty="0"/>
          </a:p>
        </p:txBody>
      </p:sp>
      <p:sp>
        <p:nvSpPr>
          <p:cNvPr id="42" name="text6"/>
          <p:cNvSpPr txBox="1"/>
          <p:nvPr/>
        </p:nvSpPr>
        <p:spPr>
          <a:xfrm>
            <a:off x="8229600" y="685800"/>
            <a:ext cx="3504895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rgbClr val="97A3BF"/>
                </a:solidFill>
                <a:latin typeface="Menlo"/>
                <a:ea typeface="Menlo"/>
                <a:cs typeface="Menlo"/>
              </a:rPr>
              <a:t>rev 2.3  ·  prod / us-east-1</a:t>
            </a:r>
            <a:endParaRPr lang="en" sz="1000" dirty="0"/>
          </a:p>
        </p:txBody>
      </p:sp>
      <p:sp>
        <p:nvSpPr>
          <p:cNvPr id="43" name="shape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75320" y="1065276"/>
            <a:ext cx="82296" cy="8229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44" name="text8"/>
          <p:cNvSpPr txBox="1"/>
          <p:nvPr/>
        </p:nvSpPr>
        <p:spPr>
          <a:xfrm>
            <a:off x="8403427" y="996696"/>
            <a:ext cx="10058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rgbClr val="97A3BF"/>
                </a:solidFill>
                <a:latin typeface="Helvetica Neue"/>
                <a:ea typeface="Helvetica Neue"/>
                <a:cs typeface="Helvetica Neue"/>
              </a:rPr>
              <a:t>Request path</a:t>
            </a:r>
            <a:endParaRPr lang="en" sz="1000" dirty="0"/>
          </a:p>
        </p:txBody>
      </p:sp>
      <p:sp>
        <p:nvSpPr>
          <p:cNvPr id="45" name="shape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418411" y="1065276"/>
            <a:ext cx="82296" cy="82296"/>
          </a:xfrm>
          <a:prstGeom prst="ellipse">
            <a:avLst/>
          </a:prstGeom>
          <a:solidFill>
            <a:srgbClr val="A78BFA"/>
          </a:solidFill>
          <a:ln>
            <a:noFill/>
          </a:ln>
        </p:spPr>
      </p:sp>
      <p:sp>
        <p:nvSpPr>
          <p:cNvPr id="46" name="text10"/>
          <p:cNvSpPr txBox="1"/>
          <p:nvPr/>
        </p:nvSpPr>
        <p:spPr>
          <a:xfrm>
            <a:off x="9546336" y="996696"/>
            <a:ext cx="10058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rgbClr val="97A3BF"/>
                </a:solidFill>
                <a:latin typeface="Helvetica Neue"/>
                <a:ea typeface="Helvetica Neue"/>
                <a:cs typeface="Helvetica Neue"/>
              </a:rPr>
              <a:t>AI runtime</a:t>
            </a:r>
            <a:endParaRPr lang="en" sz="1000" dirty="0"/>
          </a:p>
        </p:txBody>
      </p:sp>
      <p:sp>
        <p:nvSpPr>
          <p:cNvPr id="47" name="shape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561320" y="1065276"/>
            <a:ext cx="82296" cy="82296"/>
          </a:xfrm>
          <a:prstGeom prst="ellipse">
            <a:avLst/>
          </a:prstGeom>
          <a:solidFill>
            <a:srgbClr val="2DD4BF"/>
          </a:solidFill>
          <a:ln>
            <a:noFill/>
          </a:ln>
        </p:spPr>
      </p:sp>
      <p:sp>
        <p:nvSpPr>
          <p:cNvPr id="48" name="text12"/>
          <p:cNvSpPr txBox="1"/>
          <p:nvPr/>
        </p:nvSpPr>
        <p:spPr>
          <a:xfrm>
            <a:off x="10689336" y="996696"/>
            <a:ext cx="10058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rgbClr val="97A3BF"/>
                </a:solidFill>
                <a:latin typeface="Helvetica Neue"/>
                <a:ea typeface="Helvetica Neue"/>
                <a:cs typeface="Helvetica Neue"/>
              </a:rPr>
              <a:t>Data plane</a:t>
            </a:r>
            <a:endParaRPr lang="en" sz="1000" dirty="0"/>
          </a:p>
        </p:txBody>
      </p:sp>
      <p:sp>
        <p:nvSpPr>
          <p:cNvPr id="49" name="shape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63040" y="2395728"/>
            <a:ext cx="1609344" cy="2176272"/>
          </a:xfrm>
          <a:prstGeom prst="roundRect">
            <a:avLst>
              <a:gd name="adj" fmla="val 9470"/>
            </a:avLst>
          </a:prstGeom>
          <a:solidFill>
            <a:srgbClr val="0D1530">
              <a:alpha val="55000"/>
            </a:srgbClr>
          </a:solidFill>
          <a:ln w="12700">
            <a:solidFill>
              <a:srgbClr val="2A3757"/>
            </a:solidFill>
          </a:ln>
        </p:spPr>
      </p:sp>
      <p:sp>
        <p:nvSpPr>
          <p:cNvPr id="50" name="text14"/>
          <p:cNvSpPr txBox="1"/>
          <p:nvPr/>
        </p:nvSpPr>
        <p:spPr>
          <a:xfrm>
            <a:off x="1591056" y="2450592"/>
            <a:ext cx="135331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buNone/>
            </a:pPr>
            <a:r>
              <a:rPr lang="en" sz="1000" b="0" i="0" spc="120" dirty="0">
                <a:solidFill>
                  <a:srgbClr val="97A3BF"/>
                </a:solidFill>
                <a:latin typeface="Menlo"/>
                <a:ea typeface="Menlo"/>
                <a:cs typeface="Menlo"/>
              </a:rPr>
              <a:t>CLIENTS</a:t>
            </a:r>
            <a:endParaRPr lang="en" sz="1000" dirty="0"/>
          </a:p>
        </p:txBody>
      </p:sp>
      <p:sp>
        <p:nvSpPr>
          <p:cNvPr id="51" name="shape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46320" y="1783080"/>
            <a:ext cx="3931920" cy="3291840"/>
          </a:xfrm>
          <a:prstGeom prst="roundRect">
            <a:avLst>
              <a:gd name="adj" fmla="val 4630"/>
            </a:avLst>
          </a:prstGeom>
          <a:solidFill>
            <a:srgbClr val="0D1530">
              <a:alpha val="55000"/>
            </a:srgbClr>
          </a:solidFill>
          <a:ln w="12700">
            <a:solidFill>
              <a:srgbClr val="2A3757"/>
            </a:solidFill>
          </a:ln>
        </p:spPr>
      </p:sp>
      <p:sp>
        <p:nvSpPr>
          <p:cNvPr id="52" name="text16"/>
          <p:cNvSpPr txBox="1"/>
          <p:nvPr/>
        </p:nvSpPr>
        <p:spPr>
          <a:xfrm>
            <a:off x="4974336" y="1837944"/>
            <a:ext cx="367588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buNone/>
            </a:pPr>
            <a:r>
              <a:rPr lang="en" sz="1000" b="0" i="0" spc="120" dirty="0">
                <a:solidFill>
                  <a:srgbClr val="97A3BF"/>
                </a:solidFill>
                <a:latin typeface="Menlo"/>
                <a:ea typeface="Menlo"/>
                <a:cs typeface="Menlo"/>
              </a:rPr>
              <a:t>CORE SERVICES  ·  ns/platform</a:t>
            </a:r>
            <a:endParaRPr lang="en" sz="1000" dirty="0"/>
          </a:p>
        </p:txBody>
      </p:sp>
      <p:sp>
        <p:nvSpPr>
          <p:cNvPr id="53" name="shape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006840" y="1417320"/>
            <a:ext cx="2727655" cy="1929384"/>
          </a:xfrm>
          <a:prstGeom prst="roundRect">
            <a:avLst>
              <a:gd name="adj" fmla="val 7899"/>
            </a:avLst>
          </a:prstGeom>
          <a:solidFill>
            <a:srgbClr val="0D1530">
              <a:alpha val="55000"/>
            </a:srgbClr>
          </a:solidFill>
          <a:ln w="12700">
            <a:solidFill>
              <a:srgbClr val="433779"/>
            </a:solidFill>
          </a:ln>
        </p:spPr>
      </p:sp>
      <p:sp>
        <p:nvSpPr>
          <p:cNvPr id="54" name="text18"/>
          <p:cNvSpPr txBox="1"/>
          <p:nvPr/>
        </p:nvSpPr>
        <p:spPr>
          <a:xfrm>
            <a:off x="9134856" y="1472184"/>
            <a:ext cx="2471715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buNone/>
            </a:pPr>
            <a:r>
              <a:rPr lang="en" sz="1000" b="0" i="0" spc="120" dirty="0">
                <a:solidFill>
                  <a:srgbClr val="A78BFA"/>
                </a:solidFill>
                <a:latin typeface="Menlo"/>
                <a:ea typeface="Menlo"/>
                <a:cs typeface="Menlo"/>
              </a:rPr>
              <a:t>AI RUNTIME</a:t>
            </a:r>
            <a:endParaRPr lang="en" sz="1000" dirty="0"/>
          </a:p>
        </p:txBody>
      </p:sp>
      <p:sp>
        <p:nvSpPr>
          <p:cNvPr id="55" name="shape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006840" y="3529584"/>
            <a:ext cx="2727655" cy="1920240"/>
          </a:xfrm>
          <a:prstGeom prst="roundRect">
            <a:avLst>
              <a:gd name="adj" fmla="val 7937"/>
            </a:avLst>
          </a:prstGeom>
          <a:solidFill>
            <a:srgbClr val="0D1530">
              <a:alpha val="55000"/>
            </a:srgbClr>
          </a:solidFill>
          <a:ln w="12700">
            <a:solidFill>
              <a:srgbClr val="1A5552"/>
            </a:solidFill>
          </a:ln>
        </p:spPr>
      </p:sp>
      <p:sp>
        <p:nvSpPr>
          <p:cNvPr id="56" name="text20"/>
          <p:cNvSpPr txBox="1"/>
          <p:nvPr/>
        </p:nvSpPr>
        <p:spPr>
          <a:xfrm>
            <a:off x="9134856" y="3584448"/>
            <a:ext cx="2471715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buNone/>
            </a:pPr>
            <a:r>
              <a:rPr lang="en" sz="1000" b="0" i="0" spc="120" dirty="0">
                <a:solidFill>
                  <a:srgbClr val="2DD4BF"/>
                </a:solidFill>
                <a:latin typeface="Menlo"/>
                <a:ea typeface="Menlo"/>
                <a:cs typeface="Menlo"/>
              </a:rPr>
              <a:t>DATA PLANE</a:t>
            </a:r>
            <a:endParaRPr lang="en" sz="1000" dirty="0"/>
          </a:p>
        </p:txBody>
      </p:sp>
      <p:sp>
        <p:nvSpPr>
          <p:cNvPr id="57" name="text21"/>
          <p:cNvSpPr txBox="1"/>
          <p:nvPr/>
        </p:nvSpPr>
        <p:spPr>
          <a:xfrm>
            <a:off x="3291840" y="2779776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buNone/>
            </a:pPr>
            <a:r>
              <a:rPr lang="en" sz="1000" b="0" i="0" spc="120" dirty="0">
                <a:solidFill>
                  <a:srgbClr val="97A3BF"/>
                </a:solidFill>
                <a:latin typeface="Menlo"/>
                <a:ea typeface="Menlo"/>
                <a:cs typeface="Menlo"/>
              </a:rPr>
              <a:t>EDGE</a:t>
            </a:r>
            <a:endParaRPr lang="en" sz="1000" dirty="0"/>
          </a:p>
        </p:txBody>
      </p:sp>
      <p:sp>
        <p:nvSpPr>
          <p:cNvPr id="58" name="shape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34440" y="3512485"/>
            <a:ext cx="118872" cy="15819"/>
          </a:xfrm>
          <a:prstGeom prst="rect">
            <a:avLst/>
          </a:prstGeom>
          <a:solidFill>
            <a:schemeClr val="accent2">
              <a:alpha val="80000"/>
            </a:schemeClr>
          </a:solidFill>
          <a:ln>
            <a:noFill/>
          </a:ln>
        </p:spPr>
      </p:sp>
      <p:sp>
        <p:nvSpPr>
          <p:cNvPr id="59" name="shape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45448" y="3017520"/>
            <a:ext cx="15911" cy="1005840"/>
          </a:xfrm>
          <a:prstGeom prst="rect">
            <a:avLst/>
          </a:prstGeom>
          <a:solidFill>
            <a:schemeClr val="accent2">
              <a:alpha val="80000"/>
            </a:schemeClr>
          </a:solidFill>
          <a:ln>
            <a:noFill/>
          </a:ln>
        </p:spPr>
      </p:sp>
      <p:sp>
        <p:nvSpPr>
          <p:cNvPr id="60" name="shape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53312" y="3009565"/>
            <a:ext cx="164592" cy="15819"/>
          </a:xfrm>
          <a:prstGeom prst="rect">
            <a:avLst/>
          </a:prstGeom>
          <a:solidFill>
            <a:schemeClr val="accent2">
              <a:alpha val="80000"/>
            </a:schemeClr>
          </a:solidFill>
          <a:ln>
            <a:noFill/>
          </a:ln>
        </p:spPr>
      </p:sp>
      <p:sp>
        <p:nvSpPr>
          <p:cNvPr id="61" name="shape2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04188" y="2976372"/>
            <a:ext cx="68580" cy="82296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0"/>
                </a:moveTo>
                <a:lnTo>
                  <a:pt x="1000" y="500"/>
                </a:lnTo>
                <a:lnTo>
                  <a:pt x="0" y="1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62" name="shape2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53312" y="4015405"/>
            <a:ext cx="164592" cy="15819"/>
          </a:xfrm>
          <a:prstGeom prst="rect">
            <a:avLst/>
          </a:prstGeom>
          <a:solidFill>
            <a:schemeClr val="accent2">
              <a:alpha val="80000"/>
            </a:schemeClr>
          </a:solidFill>
          <a:ln>
            <a:noFill/>
          </a:ln>
        </p:spPr>
      </p:sp>
      <p:sp>
        <p:nvSpPr>
          <p:cNvPr id="63" name="shape2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04188" y="3982212"/>
            <a:ext cx="68580" cy="82296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0"/>
                </a:moveTo>
                <a:lnTo>
                  <a:pt x="1000" y="500"/>
                </a:lnTo>
                <a:lnTo>
                  <a:pt x="0" y="1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64" name="shape2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990088" y="3009565"/>
            <a:ext cx="164592" cy="15819"/>
          </a:xfrm>
          <a:prstGeom prst="rect">
            <a:avLst/>
          </a:prstGeom>
          <a:solidFill>
            <a:schemeClr val="accent2">
              <a:alpha val="80000"/>
            </a:schemeClr>
          </a:solidFill>
          <a:ln>
            <a:noFill/>
          </a:ln>
        </p:spPr>
      </p:sp>
      <p:sp>
        <p:nvSpPr>
          <p:cNvPr id="65" name="shape2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990088" y="4015405"/>
            <a:ext cx="164592" cy="15819"/>
          </a:xfrm>
          <a:prstGeom prst="rect">
            <a:avLst/>
          </a:prstGeom>
          <a:solidFill>
            <a:schemeClr val="accent2">
              <a:alpha val="80000"/>
            </a:schemeClr>
          </a:solidFill>
          <a:ln>
            <a:noFill/>
          </a:ln>
        </p:spPr>
      </p:sp>
      <p:sp>
        <p:nvSpPr>
          <p:cNvPr id="66" name="shape3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46725" y="3017520"/>
            <a:ext cx="15911" cy="1005840"/>
          </a:xfrm>
          <a:prstGeom prst="rect">
            <a:avLst/>
          </a:prstGeom>
          <a:solidFill>
            <a:schemeClr val="accent2">
              <a:alpha val="80000"/>
            </a:schemeClr>
          </a:solidFill>
          <a:ln>
            <a:noFill/>
          </a:ln>
        </p:spPr>
      </p:sp>
      <p:sp>
        <p:nvSpPr>
          <p:cNvPr id="67" name="shape3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54680" y="3512485"/>
            <a:ext cx="82296" cy="15819"/>
          </a:xfrm>
          <a:prstGeom prst="rect">
            <a:avLst/>
          </a:prstGeom>
          <a:solidFill>
            <a:schemeClr val="accent2">
              <a:alpha val="80000"/>
            </a:schemeClr>
          </a:solidFill>
          <a:ln>
            <a:noFill/>
          </a:ln>
        </p:spPr>
      </p:sp>
      <p:sp>
        <p:nvSpPr>
          <p:cNvPr id="68" name="shape3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23351" y="3479292"/>
            <a:ext cx="68580" cy="82296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0"/>
                </a:moveTo>
                <a:lnTo>
                  <a:pt x="1000" y="500"/>
                </a:lnTo>
                <a:lnTo>
                  <a:pt x="0" y="1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69" name="shape3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0" y="3512485"/>
            <a:ext cx="356616" cy="15819"/>
          </a:xfrm>
          <a:prstGeom prst="rect">
            <a:avLst/>
          </a:prstGeom>
          <a:solidFill>
            <a:schemeClr val="accent2">
              <a:alpha val="80000"/>
            </a:schemeClr>
          </a:solidFill>
          <a:ln>
            <a:noFill/>
          </a:ln>
        </p:spPr>
      </p:sp>
      <p:sp>
        <p:nvSpPr>
          <p:cNvPr id="70" name="shape3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14991" y="3479292"/>
            <a:ext cx="68580" cy="82296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0"/>
                </a:moveTo>
                <a:lnTo>
                  <a:pt x="1000" y="500"/>
                </a:lnTo>
                <a:lnTo>
                  <a:pt x="0" y="1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71" name="shape3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55080" y="3512485"/>
            <a:ext cx="164592" cy="15819"/>
          </a:xfrm>
          <a:prstGeom prst="rect">
            <a:avLst/>
          </a:prstGeom>
          <a:solidFill>
            <a:schemeClr val="accent2">
              <a:alpha val="80000"/>
            </a:schemeClr>
          </a:solidFill>
          <a:ln>
            <a:noFill/>
          </a:ln>
        </p:spPr>
      </p:sp>
      <p:sp>
        <p:nvSpPr>
          <p:cNvPr id="72" name="shape3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11808" y="2386584"/>
            <a:ext cx="15911" cy="2258568"/>
          </a:xfrm>
          <a:prstGeom prst="rect">
            <a:avLst/>
          </a:prstGeom>
          <a:solidFill>
            <a:schemeClr val="accent2">
              <a:alpha val="80000"/>
            </a:schemeClr>
          </a:solidFill>
          <a:ln>
            <a:noFill/>
          </a:ln>
        </p:spPr>
      </p:sp>
      <p:sp>
        <p:nvSpPr>
          <p:cNvPr id="73" name="shape3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19672" y="2378629"/>
            <a:ext cx="100584" cy="15819"/>
          </a:xfrm>
          <a:prstGeom prst="rect">
            <a:avLst/>
          </a:prstGeom>
          <a:solidFill>
            <a:schemeClr val="accent2">
              <a:alpha val="80000"/>
            </a:schemeClr>
          </a:solidFill>
          <a:ln>
            <a:noFill/>
          </a:ln>
        </p:spPr>
      </p:sp>
      <p:sp>
        <p:nvSpPr>
          <p:cNvPr id="74" name="shape3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06631" y="2345527"/>
            <a:ext cx="68580" cy="82296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0"/>
                </a:moveTo>
                <a:lnTo>
                  <a:pt x="1000" y="500"/>
                </a:lnTo>
                <a:lnTo>
                  <a:pt x="0" y="1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75" name="shape3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19672" y="3146816"/>
            <a:ext cx="100584" cy="15819"/>
          </a:xfrm>
          <a:prstGeom prst="rect">
            <a:avLst/>
          </a:prstGeom>
          <a:solidFill>
            <a:schemeClr val="accent2">
              <a:alpha val="80000"/>
            </a:schemeClr>
          </a:solidFill>
          <a:ln>
            <a:noFill/>
          </a:ln>
        </p:spPr>
      </p:sp>
      <p:sp>
        <p:nvSpPr>
          <p:cNvPr id="76" name="shape4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06631" y="3113532"/>
            <a:ext cx="68580" cy="82296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0"/>
                </a:moveTo>
                <a:lnTo>
                  <a:pt x="1000" y="500"/>
                </a:lnTo>
                <a:lnTo>
                  <a:pt x="0" y="1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77" name="shape4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19672" y="3896533"/>
            <a:ext cx="100584" cy="15819"/>
          </a:xfrm>
          <a:prstGeom prst="rect">
            <a:avLst/>
          </a:prstGeom>
          <a:solidFill>
            <a:schemeClr val="accent2">
              <a:alpha val="80000"/>
            </a:schemeClr>
          </a:solidFill>
          <a:ln>
            <a:noFill/>
          </a:ln>
        </p:spPr>
      </p:sp>
      <p:sp>
        <p:nvSpPr>
          <p:cNvPr id="78" name="shape4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06631" y="3863340"/>
            <a:ext cx="68580" cy="82296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0"/>
                </a:moveTo>
                <a:lnTo>
                  <a:pt x="1000" y="500"/>
                </a:lnTo>
                <a:lnTo>
                  <a:pt x="0" y="1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79" name="shape4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19672" y="4637197"/>
            <a:ext cx="100584" cy="15819"/>
          </a:xfrm>
          <a:prstGeom prst="rect">
            <a:avLst/>
          </a:prstGeom>
          <a:solidFill>
            <a:schemeClr val="accent2">
              <a:alpha val="80000"/>
            </a:schemeClr>
          </a:solidFill>
          <a:ln>
            <a:noFill/>
          </a:ln>
        </p:spPr>
      </p:sp>
      <p:sp>
        <p:nvSpPr>
          <p:cNvPr id="80" name="shape4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06631" y="4604095"/>
            <a:ext cx="68580" cy="82296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0"/>
                </a:moveTo>
                <a:lnTo>
                  <a:pt x="1000" y="500"/>
                </a:lnTo>
                <a:lnTo>
                  <a:pt x="0" y="1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81" name="shape4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50315" y="2378629"/>
            <a:ext cx="201168" cy="15819"/>
          </a:xfrm>
          <a:prstGeom prst="rect">
            <a:avLst/>
          </a:prstGeom>
          <a:solidFill>
            <a:srgbClr val="A78BFA">
              <a:alpha val="80000"/>
            </a:srgbClr>
          </a:solidFill>
          <a:ln>
            <a:noFill/>
          </a:ln>
        </p:spPr>
      </p:sp>
      <p:sp>
        <p:nvSpPr>
          <p:cNvPr id="82" name="shape4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43528" y="1965960"/>
            <a:ext cx="15911" cy="1060704"/>
          </a:xfrm>
          <a:prstGeom prst="rect">
            <a:avLst/>
          </a:prstGeom>
          <a:solidFill>
            <a:srgbClr val="A78BFA">
              <a:alpha val="80000"/>
            </a:srgbClr>
          </a:solidFill>
          <a:ln>
            <a:noFill/>
          </a:ln>
        </p:spPr>
      </p:sp>
      <p:sp>
        <p:nvSpPr>
          <p:cNvPr id="83" name="shape4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51392" y="1958096"/>
            <a:ext cx="237744" cy="15819"/>
          </a:xfrm>
          <a:prstGeom prst="rect">
            <a:avLst/>
          </a:prstGeom>
          <a:solidFill>
            <a:srgbClr val="A78BFA">
              <a:alpha val="80000"/>
            </a:srgbClr>
          </a:solidFill>
          <a:ln>
            <a:noFill/>
          </a:ln>
        </p:spPr>
      </p:sp>
      <p:sp>
        <p:nvSpPr>
          <p:cNvPr id="84" name="shape4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075420" y="1924812"/>
            <a:ext cx="68580" cy="82296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0"/>
                </a:moveTo>
                <a:lnTo>
                  <a:pt x="1000" y="500"/>
                </a:lnTo>
                <a:lnTo>
                  <a:pt x="0" y="1000"/>
                </a:lnTo>
                <a:close/>
              </a:path>
            </a:pathLst>
          </a:custGeom>
          <a:solidFill>
            <a:srgbClr val="A78BFA"/>
          </a:solidFill>
          <a:ln>
            <a:noFill/>
          </a:ln>
        </p:spPr>
      </p:sp>
      <p:sp>
        <p:nvSpPr>
          <p:cNvPr id="85" name="shape4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51392" y="2488357"/>
            <a:ext cx="237744" cy="15819"/>
          </a:xfrm>
          <a:prstGeom prst="rect">
            <a:avLst/>
          </a:prstGeom>
          <a:solidFill>
            <a:srgbClr val="A78BFA">
              <a:alpha val="80000"/>
            </a:srgbClr>
          </a:solidFill>
          <a:ln>
            <a:noFill/>
          </a:ln>
        </p:spPr>
      </p:sp>
      <p:sp>
        <p:nvSpPr>
          <p:cNvPr id="86" name="shape5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075420" y="2455164"/>
            <a:ext cx="68580" cy="82296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0"/>
                </a:moveTo>
                <a:lnTo>
                  <a:pt x="1000" y="500"/>
                </a:lnTo>
                <a:lnTo>
                  <a:pt x="0" y="1000"/>
                </a:lnTo>
                <a:close/>
              </a:path>
            </a:pathLst>
          </a:custGeom>
          <a:solidFill>
            <a:srgbClr val="A78BFA"/>
          </a:solidFill>
          <a:ln>
            <a:noFill/>
          </a:ln>
        </p:spPr>
      </p:sp>
      <p:sp>
        <p:nvSpPr>
          <p:cNvPr id="87" name="shape5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51392" y="3018709"/>
            <a:ext cx="237744" cy="15819"/>
          </a:xfrm>
          <a:prstGeom prst="rect">
            <a:avLst/>
          </a:prstGeom>
          <a:solidFill>
            <a:srgbClr val="A78BFA">
              <a:alpha val="80000"/>
            </a:srgbClr>
          </a:solidFill>
          <a:ln>
            <a:noFill/>
          </a:ln>
        </p:spPr>
      </p:sp>
      <p:sp>
        <p:nvSpPr>
          <p:cNvPr id="88" name="shape5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075420" y="2985516"/>
            <a:ext cx="68580" cy="82296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0"/>
                </a:moveTo>
                <a:lnTo>
                  <a:pt x="1000" y="500"/>
                </a:lnTo>
                <a:lnTo>
                  <a:pt x="0" y="1000"/>
                </a:lnTo>
                <a:close/>
              </a:path>
            </a:pathLst>
          </a:custGeom>
          <a:solidFill>
            <a:srgbClr val="A78BFA"/>
          </a:solidFill>
          <a:ln>
            <a:noFill/>
          </a:ln>
        </p:spPr>
      </p:sp>
      <p:sp>
        <p:nvSpPr>
          <p:cNvPr id="89" name="shape5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50315" y="4637197"/>
            <a:ext cx="201168" cy="15819"/>
          </a:xfrm>
          <a:prstGeom prst="rect">
            <a:avLst/>
          </a:prstGeom>
          <a:solidFill>
            <a:srgbClr val="2DD4BF">
              <a:alpha val="80000"/>
            </a:srgbClr>
          </a:solidFill>
          <a:ln>
            <a:noFill/>
          </a:ln>
        </p:spPr>
      </p:sp>
      <p:sp>
        <p:nvSpPr>
          <p:cNvPr id="90" name="shape5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43528" y="4069080"/>
            <a:ext cx="15911" cy="1060704"/>
          </a:xfrm>
          <a:prstGeom prst="rect">
            <a:avLst/>
          </a:prstGeom>
          <a:solidFill>
            <a:srgbClr val="2DD4BF">
              <a:alpha val="80000"/>
            </a:srgbClr>
          </a:solidFill>
          <a:ln>
            <a:noFill/>
          </a:ln>
        </p:spPr>
      </p:sp>
      <p:sp>
        <p:nvSpPr>
          <p:cNvPr id="91" name="shape5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51392" y="4061125"/>
            <a:ext cx="237744" cy="15819"/>
          </a:xfrm>
          <a:prstGeom prst="rect">
            <a:avLst/>
          </a:prstGeom>
          <a:solidFill>
            <a:srgbClr val="2DD4BF">
              <a:alpha val="80000"/>
            </a:srgbClr>
          </a:solidFill>
          <a:ln>
            <a:noFill/>
          </a:ln>
        </p:spPr>
      </p:sp>
      <p:sp>
        <p:nvSpPr>
          <p:cNvPr id="92" name="shape5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075420" y="4027932"/>
            <a:ext cx="68580" cy="82296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0"/>
                </a:moveTo>
                <a:lnTo>
                  <a:pt x="1000" y="500"/>
                </a:lnTo>
                <a:lnTo>
                  <a:pt x="0" y="1000"/>
                </a:lnTo>
                <a:close/>
              </a:path>
            </a:pathLst>
          </a:custGeom>
          <a:solidFill>
            <a:srgbClr val="2DD4BF"/>
          </a:solidFill>
          <a:ln>
            <a:noFill/>
          </a:ln>
        </p:spPr>
      </p:sp>
      <p:sp>
        <p:nvSpPr>
          <p:cNvPr id="93" name="shape5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51392" y="4591477"/>
            <a:ext cx="237744" cy="15819"/>
          </a:xfrm>
          <a:prstGeom prst="rect">
            <a:avLst/>
          </a:prstGeom>
          <a:solidFill>
            <a:srgbClr val="2DD4BF">
              <a:alpha val="80000"/>
            </a:srgbClr>
          </a:solidFill>
          <a:ln>
            <a:noFill/>
          </a:ln>
        </p:spPr>
      </p:sp>
      <p:sp>
        <p:nvSpPr>
          <p:cNvPr id="94" name="shape5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075420" y="4558284"/>
            <a:ext cx="68580" cy="82296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0"/>
                </a:moveTo>
                <a:lnTo>
                  <a:pt x="1000" y="500"/>
                </a:lnTo>
                <a:lnTo>
                  <a:pt x="0" y="1000"/>
                </a:lnTo>
                <a:close/>
              </a:path>
            </a:pathLst>
          </a:custGeom>
          <a:solidFill>
            <a:srgbClr val="2DD4BF"/>
          </a:solidFill>
          <a:ln>
            <a:noFill/>
          </a:ln>
        </p:spPr>
      </p:sp>
      <p:sp>
        <p:nvSpPr>
          <p:cNvPr id="95" name="shape5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51392" y="5121829"/>
            <a:ext cx="237744" cy="15819"/>
          </a:xfrm>
          <a:prstGeom prst="rect">
            <a:avLst/>
          </a:prstGeom>
          <a:solidFill>
            <a:srgbClr val="2DD4BF">
              <a:alpha val="80000"/>
            </a:srgbClr>
          </a:solidFill>
          <a:ln>
            <a:noFill/>
          </a:ln>
        </p:spPr>
      </p:sp>
      <p:sp>
        <p:nvSpPr>
          <p:cNvPr id="96" name="shape6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075420" y="5088636"/>
            <a:ext cx="68580" cy="82296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0"/>
                </a:moveTo>
                <a:lnTo>
                  <a:pt x="1000" y="500"/>
                </a:lnTo>
                <a:lnTo>
                  <a:pt x="0" y="1000"/>
                </a:lnTo>
                <a:close/>
              </a:path>
            </a:pathLst>
          </a:custGeom>
          <a:solidFill>
            <a:srgbClr val="2DD4BF"/>
          </a:solidFill>
          <a:ln>
            <a:noFill/>
          </a:ln>
        </p:spPr>
      </p:sp>
      <p:sp>
        <p:nvSpPr>
          <p:cNvPr id="97" name="column61-surface"/>
          <p:cNvSpPr/>
          <p:nvPr/>
        </p:nvSpPr>
        <p:spPr>
          <a:xfrm>
            <a:off x="457200" y="3063240"/>
            <a:ext cx="777240" cy="914400"/>
          </a:xfrm>
          <a:prstGeom prst="roundRect">
            <a:avLst>
              <a:gd name="adj" fmla="val 16340"/>
            </a:avLst>
          </a:prstGeom>
          <a:solidFill>
            <a:srgbClr val="111A33"/>
          </a:solidFill>
          <a:ln w="12700">
            <a:solidFill>
              <a:srgbClr val="1E4466"/>
            </a:solidFill>
          </a:ln>
        </p:spPr>
      </p:sp>
      <p:sp>
        <p:nvSpPr>
          <p:cNvPr id="98" name="icon6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6100" y="3256361"/>
            <a:ext cx="279441" cy="279441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16000" y="21000"/>
                </a:moveTo>
                <a:lnTo>
                  <a:pt x="16000" y="19000"/>
                </a:lnTo>
                <a:cubicBezTo>
                  <a:pt x="16000" y="16791"/>
                  <a:pt x="14209" y="15000"/>
                  <a:pt x="12000" y="15000"/>
                </a:cubicBezTo>
                <a:lnTo>
                  <a:pt x="6000" y="15000"/>
                </a:lnTo>
                <a:cubicBezTo>
                  <a:pt x="3791" y="15000"/>
                  <a:pt x="2000" y="16791"/>
                  <a:pt x="2000" y="19000"/>
                </a:cubicBezTo>
                <a:lnTo>
                  <a:pt x="2000" y="21000"/>
                </a:lnTo>
              </a:path>
              <a:path w="24000" h="24000" fill="none">
                <a:moveTo>
                  <a:pt x="16000" y="3128"/>
                </a:moveTo>
                <a:cubicBezTo>
                  <a:pt x="17764" y="3585"/>
                  <a:pt x="18996" y="5177"/>
                  <a:pt x="18996" y="7000"/>
                </a:cubicBezTo>
                <a:cubicBezTo>
                  <a:pt x="18996" y="8823"/>
                  <a:pt x="17764" y="10415"/>
                  <a:pt x="16000" y="10872"/>
                </a:cubicBezTo>
              </a:path>
              <a:path w="24000" h="24000" fill="none">
                <a:moveTo>
                  <a:pt x="22000" y="21000"/>
                </a:moveTo>
                <a:lnTo>
                  <a:pt x="22000" y="19000"/>
                </a:lnTo>
                <a:cubicBezTo>
                  <a:pt x="21999" y="17177"/>
                  <a:pt x="20765" y="15586"/>
                  <a:pt x="19000" y="15130"/>
                </a:cubicBezTo>
              </a:path>
              <a:path w="24000" h="24000" fill="none">
                <a:moveTo>
                  <a:pt x="5000" y="7000"/>
                </a:moveTo>
                <a:cubicBezTo>
                  <a:pt x="5000" y="9209"/>
                  <a:pt x="6791" y="11000"/>
                  <a:pt x="9000" y="11000"/>
                </a:cubicBezTo>
                <a:cubicBezTo>
                  <a:pt x="11209" y="11000"/>
                  <a:pt x="13000" y="9209"/>
                  <a:pt x="13000" y="7000"/>
                </a:cubicBezTo>
                <a:cubicBezTo>
                  <a:pt x="13000" y="4791"/>
                  <a:pt x="11209" y="3000"/>
                  <a:pt x="9000" y="3000"/>
                </a:cubicBezTo>
                <a:cubicBezTo>
                  <a:pt x="6791" y="3000"/>
                  <a:pt x="5000" y="4791"/>
                  <a:pt x="5000" y="7000"/>
                </a:cubicBezTo>
                <a:close/>
              </a:path>
            </a:pathLst>
          </a:custGeom>
          <a:noFill/>
          <a:ln w="23287" cap="rnd">
            <a:solidFill>
              <a:schemeClr val="accent2"/>
            </a:solidFill>
            <a:round/>
          </a:ln>
        </p:spPr>
      </p:sp>
      <p:sp>
        <p:nvSpPr>
          <p:cNvPr id="99" name="text63"/>
          <p:cNvSpPr txBox="1"/>
          <p:nvPr/>
        </p:nvSpPr>
        <p:spPr>
          <a:xfrm>
            <a:off x="621792" y="3586551"/>
            <a:ext cx="448147" cy="19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buNone/>
            </a:pPr>
            <a:r>
              <a:rPr lang="en" sz="1200" b="1" i="0" dirty="0">
                <a:solidFill>
                  <a:srgbClr val="E8EDF7"/>
                </a:solidFill>
                <a:latin typeface="Helvetica Neue"/>
                <a:ea typeface="Helvetica Neue"/>
                <a:cs typeface="Helvetica Neue"/>
              </a:rPr>
              <a:t>Users</a:t>
            </a:r>
            <a:endParaRPr lang="en" sz="1200" dirty="0"/>
          </a:p>
        </p:txBody>
      </p:sp>
      <p:sp>
        <p:nvSpPr>
          <p:cNvPr id="100" name="row64-surface"/>
          <p:cNvSpPr/>
          <p:nvPr/>
        </p:nvSpPr>
        <p:spPr>
          <a:xfrm>
            <a:off x="1572768" y="2743200"/>
            <a:ext cx="1417320" cy="548549"/>
          </a:xfrm>
          <a:prstGeom prst="roundRect">
            <a:avLst>
              <a:gd name="adj" fmla="val 18522"/>
            </a:avLst>
          </a:prstGeom>
          <a:solidFill>
            <a:srgbClr val="111A33"/>
          </a:solidFill>
          <a:ln w="12700">
            <a:solidFill>
              <a:srgbClr val="1E4466"/>
            </a:solidFill>
          </a:ln>
        </p:spPr>
      </p:sp>
      <p:sp>
        <p:nvSpPr>
          <p:cNvPr id="101" name="icon6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687068" y="2915930"/>
            <a:ext cx="203180" cy="203180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4000" y="3000"/>
                </a:moveTo>
                <a:lnTo>
                  <a:pt x="20000" y="3000"/>
                </a:lnTo>
                <a:cubicBezTo>
                  <a:pt x="21105" y="3000"/>
                  <a:pt x="22000" y="3895"/>
                  <a:pt x="22000" y="5000"/>
                </a:cubicBezTo>
                <a:lnTo>
                  <a:pt x="22000" y="15000"/>
                </a:lnTo>
                <a:cubicBezTo>
                  <a:pt x="22000" y="16105"/>
                  <a:pt x="21105" y="17000"/>
                  <a:pt x="20000" y="17000"/>
                </a:cubicBezTo>
                <a:lnTo>
                  <a:pt x="4000" y="17000"/>
                </a:lnTo>
                <a:cubicBezTo>
                  <a:pt x="2895" y="17000"/>
                  <a:pt x="2000" y="16105"/>
                  <a:pt x="2000" y="15000"/>
                </a:cubicBezTo>
                <a:lnTo>
                  <a:pt x="2000" y="5000"/>
                </a:lnTo>
                <a:cubicBezTo>
                  <a:pt x="2000" y="3895"/>
                  <a:pt x="2895" y="3000"/>
                  <a:pt x="4000" y="3000"/>
                </a:cubicBezTo>
                <a:close/>
              </a:path>
              <a:path w="24000" h="24000" fill="none">
                <a:moveTo>
                  <a:pt x="8000" y="21000"/>
                </a:moveTo>
                <a:lnTo>
                  <a:pt x="16000" y="21000"/>
                </a:lnTo>
              </a:path>
              <a:path w="24000" h="24000" fill="none">
                <a:moveTo>
                  <a:pt x="12000" y="17000"/>
                </a:moveTo>
                <a:lnTo>
                  <a:pt x="12000" y="21000"/>
                </a:lnTo>
              </a:path>
            </a:pathLst>
          </a:custGeom>
          <a:noFill/>
          <a:ln w="16932" cap="rnd">
            <a:solidFill>
              <a:schemeClr val="accent2"/>
            </a:solidFill>
            <a:round/>
          </a:ln>
        </p:spPr>
      </p:sp>
      <p:sp>
        <p:nvSpPr>
          <p:cNvPr id="102" name="text67"/>
          <p:cNvSpPr txBox="1"/>
          <p:nvPr/>
        </p:nvSpPr>
        <p:spPr>
          <a:xfrm>
            <a:off x="1991838" y="2832720"/>
            <a:ext cx="883950" cy="19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buNone/>
            </a:pPr>
            <a:r>
              <a:rPr lang="en" sz="1200" b="1" i="0" dirty="0">
                <a:solidFill>
                  <a:srgbClr val="E8EDF7"/>
                </a:solidFill>
                <a:latin typeface="Helvetica Neue"/>
                <a:ea typeface="Helvetica Neue"/>
                <a:cs typeface="Helvetica Neue"/>
              </a:rPr>
              <a:t>Web app</a:t>
            </a:r>
            <a:endParaRPr lang="en" sz="1200" dirty="0"/>
          </a:p>
        </p:txBody>
      </p:sp>
      <p:sp>
        <p:nvSpPr>
          <p:cNvPr id="103" name="text68"/>
          <p:cNvSpPr txBox="1"/>
          <p:nvPr/>
        </p:nvSpPr>
        <p:spPr>
          <a:xfrm>
            <a:off x="1991838" y="3043580"/>
            <a:ext cx="883950" cy="158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rgbClr val="97A3BF"/>
                </a:solidFill>
                <a:latin typeface="Helvetica Neue"/>
                <a:ea typeface="Helvetica Neue"/>
                <a:cs typeface="Helvetica Neue"/>
              </a:rPr>
              <a:t>React · Next.js</a:t>
            </a:r>
            <a:endParaRPr lang="en" sz="1000" dirty="0"/>
          </a:p>
        </p:txBody>
      </p:sp>
      <p:sp>
        <p:nvSpPr>
          <p:cNvPr id="104" name="row69-surface"/>
          <p:cNvSpPr/>
          <p:nvPr/>
        </p:nvSpPr>
        <p:spPr>
          <a:xfrm>
            <a:off x="1572768" y="3749040"/>
            <a:ext cx="1417320" cy="548549"/>
          </a:xfrm>
          <a:prstGeom prst="roundRect">
            <a:avLst>
              <a:gd name="adj" fmla="val 18522"/>
            </a:avLst>
          </a:prstGeom>
          <a:solidFill>
            <a:srgbClr val="111A33"/>
          </a:solidFill>
          <a:ln w="12700">
            <a:solidFill>
              <a:srgbClr val="1E4466"/>
            </a:solidFill>
          </a:ln>
        </p:spPr>
      </p:sp>
      <p:sp>
        <p:nvSpPr>
          <p:cNvPr id="105" name="icon7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687068" y="3921770"/>
            <a:ext cx="203180" cy="203180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7000" y="2000"/>
                </a:moveTo>
                <a:lnTo>
                  <a:pt x="17000" y="2000"/>
                </a:lnTo>
                <a:cubicBezTo>
                  <a:pt x="18105" y="2000"/>
                  <a:pt x="19000" y="2895"/>
                  <a:pt x="19000" y="4000"/>
                </a:cubicBezTo>
                <a:lnTo>
                  <a:pt x="19000" y="20000"/>
                </a:lnTo>
                <a:cubicBezTo>
                  <a:pt x="19000" y="21105"/>
                  <a:pt x="18105" y="22000"/>
                  <a:pt x="17000" y="22000"/>
                </a:cubicBezTo>
                <a:lnTo>
                  <a:pt x="7000" y="22000"/>
                </a:lnTo>
                <a:cubicBezTo>
                  <a:pt x="5895" y="22000"/>
                  <a:pt x="5000" y="21105"/>
                  <a:pt x="5000" y="20000"/>
                </a:cubicBezTo>
                <a:lnTo>
                  <a:pt x="5000" y="4000"/>
                </a:lnTo>
                <a:cubicBezTo>
                  <a:pt x="5000" y="2895"/>
                  <a:pt x="5895" y="2000"/>
                  <a:pt x="7000" y="2000"/>
                </a:cubicBezTo>
                <a:close/>
              </a:path>
              <a:path w="24000" h="24000" fill="none">
                <a:moveTo>
                  <a:pt x="12000" y="18000"/>
                </a:moveTo>
                <a:lnTo>
                  <a:pt x="12010" y="18000"/>
                </a:lnTo>
              </a:path>
            </a:pathLst>
          </a:custGeom>
          <a:noFill/>
          <a:ln w="16932" cap="rnd">
            <a:solidFill>
              <a:schemeClr val="accent2"/>
            </a:solidFill>
            <a:round/>
          </a:ln>
        </p:spPr>
      </p:sp>
      <p:sp>
        <p:nvSpPr>
          <p:cNvPr id="106" name="text72"/>
          <p:cNvSpPr txBox="1"/>
          <p:nvPr/>
        </p:nvSpPr>
        <p:spPr>
          <a:xfrm>
            <a:off x="1991838" y="3838560"/>
            <a:ext cx="883950" cy="19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buNone/>
            </a:pPr>
            <a:r>
              <a:rPr lang="en" sz="1200" b="1" i="0" dirty="0">
                <a:solidFill>
                  <a:srgbClr val="E8EDF7"/>
                </a:solidFill>
                <a:latin typeface="Helvetica Neue"/>
                <a:ea typeface="Helvetica Neue"/>
                <a:cs typeface="Helvetica Neue"/>
              </a:rPr>
              <a:t>Mobile app</a:t>
            </a:r>
            <a:endParaRPr lang="en" sz="1200" dirty="0"/>
          </a:p>
        </p:txBody>
      </p:sp>
      <p:sp>
        <p:nvSpPr>
          <p:cNvPr id="107" name="text73"/>
          <p:cNvSpPr txBox="1"/>
          <p:nvPr/>
        </p:nvSpPr>
        <p:spPr>
          <a:xfrm>
            <a:off x="1991838" y="4049420"/>
            <a:ext cx="883950" cy="158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rgbClr val="97A3BF"/>
                </a:solidFill>
                <a:latin typeface="Helvetica Neue"/>
                <a:ea typeface="Helvetica Neue"/>
                <a:cs typeface="Helvetica Neue"/>
              </a:rPr>
              <a:t>iOS · Android</a:t>
            </a:r>
            <a:endParaRPr lang="en" sz="1000" dirty="0"/>
          </a:p>
        </p:txBody>
      </p:sp>
      <p:sp>
        <p:nvSpPr>
          <p:cNvPr id="108" name="column74-surface"/>
          <p:cNvSpPr/>
          <p:nvPr/>
        </p:nvSpPr>
        <p:spPr>
          <a:xfrm>
            <a:off x="3291840" y="3017520"/>
            <a:ext cx="1280160" cy="1005840"/>
          </a:xfrm>
          <a:prstGeom prst="roundRect">
            <a:avLst>
              <a:gd name="adj" fmla="val 12626"/>
            </a:avLst>
          </a:prstGeom>
          <a:solidFill>
            <a:srgbClr val="111A33"/>
          </a:solidFill>
          <a:ln w="12700">
            <a:solidFill>
              <a:srgbClr val="1E4466"/>
            </a:solidFill>
          </a:ln>
        </p:spPr>
      </p:sp>
      <p:sp>
        <p:nvSpPr>
          <p:cNvPr id="109" name="icon7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92200" y="3093690"/>
            <a:ext cx="279441" cy="279441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10586" y="5414"/>
                </a:moveTo>
                <a:lnTo>
                  <a:pt x="5414" y="10586"/>
                </a:lnTo>
              </a:path>
              <a:path w="24000" h="24000" fill="none">
                <a:moveTo>
                  <a:pt x="18586" y="13414"/>
                </a:moveTo>
                <a:lnTo>
                  <a:pt x="13414" y="18586"/>
                </a:lnTo>
              </a:path>
              <a:path w="24000" h="24000" fill="none">
                <a:moveTo>
                  <a:pt x="6000" y="12000"/>
                </a:moveTo>
                <a:lnTo>
                  <a:pt x="18000" y="12000"/>
                </a:lnTo>
              </a:path>
              <a:path w="24000" h="24000" fill="none">
                <a:moveTo>
                  <a:pt x="10000" y="20000"/>
                </a:moveTo>
                <a:cubicBezTo>
                  <a:pt x="10000" y="21105"/>
                  <a:pt x="10895" y="22000"/>
                  <a:pt x="12000" y="22000"/>
                </a:cubicBezTo>
                <a:cubicBezTo>
                  <a:pt x="13105" y="22000"/>
                  <a:pt x="14000" y="21105"/>
                  <a:pt x="14000" y="20000"/>
                </a:cubicBezTo>
                <a:cubicBezTo>
                  <a:pt x="14000" y="18895"/>
                  <a:pt x="13105" y="18000"/>
                  <a:pt x="12000" y="18000"/>
                </a:cubicBezTo>
                <a:cubicBezTo>
                  <a:pt x="10895" y="18000"/>
                  <a:pt x="10000" y="18895"/>
                  <a:pt x="10000" y="20000"/>
                </a:cubicBezTo>
                <a:close/>
              </a:path>
              <a:path w="24000" h="24000" fill="none">
                <a:moveTo>
                  <a:pt x="10000" y="4000"/>
                </a:moveTo>
                <a:cubicBezTo>
                  <a:pt x="10000" y="5105"/>
                  <a:pt x="10895" y="6000"/>
                  <a:pt x="12000" y="6000"/>
                </a:cubicBezTo>
                <a:cubicBezTo>
                  <a:pt x="13105" y="6000"/>
                  <a:pt x="14000" y="5105"/>
                  <a:pt x="14000" y="4000"/>
                </a:cubicBezTo>
                <a:cubicBezTo>
                  <a:pt x="14000" y="2895"/>
                  <a:pt x="13105" y="2000"/>
                  <a:pt x="12000" y="2000"/>
                </a:cubicBezTo>
                <a:cubicBezTo>
                  <a:pt x="10895" y="2000"/>
                  <a:pt x="10000" y="2895"/>
                  <a:pt x="10000" y="4000"/>
                </a:cubicBezTo>
                <a:close/>
              </a:path>
              <a:path w="24000" h="24000" fill="none">
                <a:moveTo>
                  <a:pt x="18000" y="12000"/>
                </a:moveTo>
                <a:cubicBezTo>
                  <a:pt x="18000" y="13105"/>
                  <a:pt x="18895" y="14000"/>
                  <a:pt x="20000" y="14000"/>
                </a:cubicBezTo>
                <a:cubicBezTo>
                  <a:pt x="21105" y="14000"/>
                  <a:pt x="22000" y="13105"/>
                  <a:pt x="22000" y="12000"/>
                </a:cubicBezTo>
                <a:cubicBezTo>
                  <a:pt x="22000" y="10895"/>
                  <a:pt x="21105" y="10000"/>
                  <a:pt x="20000" y="10000"/>
                </a:cubicBezTo>
                <a:cubicBezTo>
                  <a:pt x="18895" y="10000"/>
                  <a:pt x="18000" y="10895"/>
                  <a:pt x="18000" y="12000"/>
                </a:cubicBezTo>
                <a:close/>
              </a:path>
              <a:path w="24000" h="24000" fill="none">
                <a:moveTo>
                  <a:pt x="2000" y="12000"/>
                </a:moveTo>
                <a:cubicBezTo>
                  <a:pt x="2000" y="13105"/>
                  <a:pt x="2895" y="14000"/>
                  <a:pt x="4000" y="14000"/>
                </a:cubicBezTo>
                <a:cubicBezTo>
                  <a:pt x="5105" y="14000"/>
                  <a:pt x="6000" y="13105"/>
                  <a:pt x="6000" y="12000"/>
                </a:cubicBezTo>
                <a:cubicBezTo>
                  <a:pt x="6000" y="10895"/>
                  <a:pt x="5105" y="10000"/>
                  <a:pt x="4000" y="10000"/>
                </a:cubicBezTo>
                <a:cubicBezTo>
                  <a:pt x="2895" y="10000"/>
                  <a:pt x="2000" y="10895"/>
                  <a:pt x="2000" y="12000"/>
                </a:cubicBezTo>
                <a:close/>
              </a:path>
            </a:pathLst>
          </a:custGeom>
          <a:noFill/>
          <a:ln w="23287" cap="rnd">
            <a:solidFill>
              <a:schemeClr val="accent2"/>
            </a:solidFill>
            <a:round/>
          </a:ln>
        </p:spPr>
      </p:sp>
      <p:sp>
        <p:nvSpPr>
          <p:cNvPr id="110" name="text76"/>
          <p:cNvSpPr txBox="1"/>
          <p:nvPr/>
        </p:nvSpPr>
        <p:spPr>
          <a:xfrm>
            <a:off x="3451586" y="3423879"/>
            <a:ext cx="960669" cy="19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buNone/>
            </a:pPr>
            <a:r>
              <a:rPr lang="en" sz="1200" b="1" i="0" dirty="0">
                <a:solidFill>
                  <a:srgbClr val="E8EDF7"/>
                </a:solidFill>
                <a:latin typeface="Helvetica Neue"/>
                <a:ea typeface="Helvetica Neue"/>
                <a:cs typeface="Helvetica Neue"/>
              </a:rPr>
              <a:t>API Gateway</a:t>
            </a:r>
            <a:endParaRPr lang="en" sz="1200" dirty="0"/>
          </a:p>
        </p:txBody>
      </p:sp>
      <p:sp>
        <p:nvSpPr>
          <p:cNvPr id="111" name="text77"/>
          <p:cNvSpPr txBox="1"/>
          <p:nvPr/>
        </p:nvSpPr>
        <p:spPr>
          <a:xfrm>
            <a:off x="3393430" y="3672870"/>
            <a:ext cx="1076980" cy="317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rgbClr val="97A3BF"/>
                </a:solidFill>
                <a:latin typeface="Helvetica Neue"/>
                <a:ea typeface="Helvetica Neue"/>
                <a:cs typeface="Helvetica Neue"/>
              </a:rPr>
              <a:t>Routing · rate limits</a:t>
            </a:r>
            <a:endParaRPr lang="en" sz="1000" dirty="0"/>
          </a:p>
        </p:txBody>
      </p:sp>
      <p:sp>
        <p:nvSpPr>
          <p:cNvPr id="112" name="column78-surface"/>
          <p:cNvSpPr/>
          <p:nvPr/>
        </p:nvSpPr>
        <p:spPr>
          <a:xfrm>
            <a:off x="4983480" y="2898648"/>
            <a:ext cx="1371600" cy="1243584"/>
          </a:xfrm>
          <a:prstGeom prst="roundRect">
            <a:avLst>
              <a:gd name="adj" fmla="val 10212"/>
            </a:avLst>
          </a:prstGeom>
          <a:solidFill>
            <a:srgbClr val="111A33"/>
          </a:solidFill>
          <a:ln w="12700">
            <a:solidFill>
              <a:srgbClr val="1E4466"/>
            </a:solidFill>
          </a:ln>
        </p:spPr>
      </p:sp>
      <p:sp>
        <p:nvSpPr>
          <p:cNvPr id="113" name="icon7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29560" y="2974818"/>
            <a:ext cx="279441" cy="279441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2970" y="12920"/>
                </a:moveTo>
                <a:cubicBezTo>
                  <a:pt x="2369" y="13281"/>
                  <a:pt x="2002" y="13929"/>
                  <a:pt x="2000" y="14630"/>
                </a:cubicBezTo>
                <a:lnTo>
                  <a:pt x="2000" y="17870"/>
                </a:lnTo>
                <a:cubicBezTo>
                  <a:pt x="2002" y="18571"/>
                  <a:pt x="2369" y="19219"/>
                  <a:pt x="2970" y="19580"/>
                </a:cubicBezTo>
                <a:lnTo>
                  <a:pt x="5970" y="21380"/>
                </a:lnTo>
                <a:cubicBezTo>
                  <a:pt x="6604" y="21761"/>
                  <a:pt x="7396" y="21761"/>
                  <a:pt x="8030" y="21380"/>
                </a:cubicBezTo>
                <a:lnTo>
                  <a:pt x="12000" y="19000"/>
                </a:lnTo>
                <a:lnTo>
                  <a:pt x="12000" y="13500"/>
                </a:lnTo>
                <a:lnTo>
                  <a:pt x="7000" y="10500"/>
                </a:lnTo>
                <a:lnTo>
                  <a:pt x="2970" y="12920"/>
                </a:lnTo>
                <a:close/>
              </a:path>
              <a:path w="24000" h="24000" fill="none">
                <a:moveTo>
                  <a:pt x="7000" y="16500"/>
                </a:moveTo>
                <a:lnTo>
                  <a:pt x="2260" y="13650"/>
                </a:lnTo>
              </a:path>
              <a:path w="24000" h="24000" fill="none">
                <a:moveTo>
                  <a:pt x="7000" y="16500"/>
                </a:moveTo>
                <a:lnTo>
                  <a:pt x="12000" y="13500"/>
                </a:lnTo>
              </a:path>
              <a:path w="24000" h="24000" fill="none">
                <a:moveTo>
                  <a:pt x="7000" y="16500"/>
                </a:moveTo>
                <a:lnTo>
                  <a:pt x="7000" y="21670"/>
                </a:lnTo>
              </a:path>
              <a:path w="24000" h="24000" fill="none">
                <a:moveTo>
                  <a:pt x="12000" y="13500"/>
                </a:moveTo>
                <a:lnTo>
                  <a:pt x="12000" y="19000"/>
                </a:lnTo>
                <a:lnTo>
                  <a:pt x="15970" y="21380"/>
                </a:lnTo>
                <a:cubicBezTo>
                  <a:pt x="16604" y="21761"/>
                  <a:pt x="17396" y="21761"/>
                  <a:pt x="18030" y="21380"/>
                </a:cubicBezTo>
                <a:lnTo>
                  <a:pt x="21030" y="19580"/>
                </a:lnTo>
                <a:cubicBezTo>
                  <a:pt x="21631" y="19219"/>
                  <a:pt x="21998" y="18571"/>
                  <a:pt x="22000" y="17870"/>
                </a:cubicBezTo>
                <a:lnTo>
                  <a:pt x="22000" y="14630"/>
                </a:lnTo>
                <a:cubicBezTo>
                  <a:pt x="21998" y="13929"/>
                  <a:pt x="21631" y="13281"/>
                  <a:pt x="21030" y="12920"/>
                </a:cubicBezTo>
                <a:lnTo>
                  <a:pt x="17000" y="10500"/>
                </a:lnTo>
                <a:lnTo>
                  <a:pt x="12000" y="13500"/>
                </a:lnTo>
                <a:close/>
              </a:path>
              <a:path w="24000" h="24000" fill="none">
                <a:moveTo>
                  <a:pt x="17000" y="16500"/>
                </a:moveTo>
                <a:lnTo>
                  <a:pt x="12000" y="13500"/>
                </a:lnTo>
              </a:path>
              <a:path w="24000" h="24000" fill="none">
                <a:moveTo>
                  <a:pt x="17000" y="16500"/>
                </a:moveTo>
                <a:lnTo>
                  <a:pt x="21740" y="13650"/>
                </a:lnTo>
              </a:path>
              <a:path w="24000" h="24000" fill="none">
                <a:moveTo>
                  <a:pt x="17000" y="16500"/>
                </a:moveTo>
                <a:lnTo>
                  <a:pt x="17000" y="21670"/>
                </a:lnTo>
              </a:path>
              <a:path w="24000" h="24000" fill="none">
                <a:moveTo>
                  <a:pt x="7970" y="4420"/>
                </a:moveTo>
                <a:cubicBezTo>
                  <a:pt x="7369" y="4781"/>
                  <a:pt x="7002" y="5429"/>
                  <a:pt x="7000" y="6130"/>
                </a:cubicBezTo>
                <a:lnTo>
                  <a:pt x="7000" y="10500"/>
                </a:lnTo>
                <a:lnTo>
                  <a:pt x="12000" y="13500"/>
                </a:lnTo>
                <a:lnTo>
                  <a:pt x="17000" y="10500"/>
                </a:lnTo>
                <a:lnTo>
                  <a:pt x="17000" y="6130"/>
                </a:lnTo>
                <a:cubicBezTo>
                  <a:pt x="16998" y="5429"/>
                  <a:pt x="16631" y="4781"/>
                  <a:pt x="16030" y="4420"/>
                </a:cubicBezTo>
                <a:lnTo>
                  <a:pt x="13030" y="2620"/>
                </a:lnTo>
                <a:cubicBezTo>
                  <a:pt x="12396" y="2239"/>
                  <a:pt x="11604" y="2239"/>
                  <a:pt x="10970" y="2620"/>
                </a:cubicBezTo>
                <a:lnTo>
                  <a:pt x="7970" y="4420"/>
                </a:lnTo>
                <a:close/>
              </a:path>
              <a:path w="24000" h="24000" fill="none">
                <a:moveTo>
                  <a:pt x="12000" y="8000"/>
                </a:moveTo>
                <a:lnTo>
                  <a:pt x="7260" y="5150"/>
                </a:lnTo>
              </a:path>
              <a:path w="24000" h="24000" fill="none">
                <a:moveTo>
                  <a:pt x="12000" y="8000"/>
                </a:moveTo>
                <a:lnTo>
                  <a:pt x="16740" y="5150"/>
                </a:lnTo>
              </a:path>
              <a:path w="24000" h="24000" fill="none">
                <a:moveTo>
                  <a:pt x="12000" y="13500"/>
                </a:moveTo>
                <a:lnTo>
                  <a:pt x="12000" y="8000"/>
                </a:lnTo>
              </a:path>
            </a:pathLst>
          </a:custGeom>
          <a:noFill/>
          <a:ln w="23287" cap="rnd">
            <a:solidFill>
              <a:schemeClr val="accent2"/>
            </a:solidFill>
            <a:round/>
          </a:ln>
        </p:spPr>
      </p:sp>
      <p:sp>
        <p:nvSpPr>
          <p:cNvPr id="114" name="text80"/>
          <p:cNvSpPr txBox="1"/>
          <p:nvPr/>
        </p:nvSpPr>
        <p:spPr>
          <a:xfrm>
            <a:off x="5085070" y="3305007"/>
            <a:ext cx="1168420" cy="3962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buNone/>
            </a:pPr>
            <a:r>
              <a:rPr lang="en" sz="1200" b="1" i="0" dirty="0">
                <a:solidFill>
                  <a:srgbClr val="E8EDF7"/>
                </a:solidFill>
                <a:latin typeface="Helvetica Neue"/>
                <a:ea typeface="Helvetica Neue"/>
                <a:cs typeface="Helvetica Neue"/>
              </a:rPr>
              <a:t>Application services</a:t>
            </a:r>
            <a:endParaRPr lang="en" sz="1200" dirty="0"/>
          </a:p>
        </p:txBody>
      </p:sp>
      <p:sp>
        <p:nvSpPr>
          <p:cNvPr id="115" name="text81"/>
          <p:cNvSpPr txBox="1"/>
          <p:nvPr/>
        </p:nvSpPr>
        <p:spPr>
          <a:xfrm>
            <a:off x="5085070" y="3752058"/>
            <a:ext cx="1168420" cy="317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rgbClr val="97A3BF"/>
                </a:solidFill>
                <a:latin typeface="Helvetica Neue"/>
                <a:ea typeface="Helvetica Neue"/>
                <a:cs typeface="Helvetica Neue"/>
              </a:rPr>
              <a:t>Microservices · gRPC</a:t>
            </a:r>
            <a:endParaRPr lang="en" sz="1000" dirty="0"/>
          </a:p>
        </p:txBody>
      </p:sp>
      <p:sp>
        <p:nvSpPr>
          <p:cNvPr id="116" name="shape8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0" y="2039112"/>
            <a:ext cx="2157984" cy="694944"/>
          </a:xfrm>
          <a:prstGeom prst="roundRect">
            <a:avLst>
              <a:gd name="adj" fmla="val 25585"/>
            </a:avLst>
          </a:prstGeom>
          <a:solidFill>
            <a:srgbClr val="A78BFA">
              <a:alpha val="14000"/>
            </a:srgbClr>
          </a:solidFill>
          <a:ln>
            <a:noFill/>
          </a:ln>
        </p:spPr>
      </p:sp>
      <p:sp>
        <p:nvSpPr>
          <p:cNvPr id="117" name="row83-surface"/>
          <p:cNvSpPr/>
          <p:nvPr/>
        </p:nvSpPr>
        <p:spPr>
          <a:xfrm>
            <a:off x="6675120" y="2130552"/>
            <a:ext cx="1975104" cy="512064"/>
          </a:xfrm>
          <a:prstGeom prst="roundRect">
            <a:avLst>
              <a:gd name="adj" fmla="val 19841"/>
            </a:avLst>
          </a:prstGeom>
          <a:solidFill>
            <a:srgbClr val="231B4D"/>
          </a:solidFill>
          <a:ln w="12700">
            <a:solidFill>
              <a:srgbClr val="A78BFA"/>
            </a:solidFill>
          </a:ln>
        </p:spPr>
      </p:sp>
      <p:sp>
        <p:nvSpPr>
          <p:cNvPr id="118" name="icon8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89420" y="2284903"/>
            <a:ext cx="203180" cy="203180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12000" y="5000"/>
                </a:moveTo>
                <a:cubicBezTo>
                  <a:pt x="12003" y="3911"/>
                  <a:pt x="11416" y="2906"/>
                  <a:pt x="10466" y="2374"/>
                </a:cubicBezTo>
                <a:cubicBezTo>
                  <a:pt x="9516" y="1842"/>
                  <a:pt x="8353" y="1866"/>
                  <a:pt x="7426" y="2437"/>
                </a:cubicBezTo>
                <a:cubicBezTo>
                  <a:pt x="6499" y="3009"/>
                  <a:pt x="5954" y="4037"/>
                  <a:pt x="6003" y="5125"/>
                </a:cubicBezTo>
                <a:cubicBezTo>
                  <a:pt x="4812" y="5431"/>
                  <a:pt x="3828" y="6268"/>
                  <a:pt x="3335" y="7395"/>
                </a:cubicBezTo>
                <a:cubicBezTo>
                  <a:pt x="2842" y="8521"/>
                  <a:pt x="2894" y="9812"/>
                  <a:pt x="3477" y="10895"/>
                </a:cubicBezTo>
                <a:cubicBezTo>
                  <a:pt x="2450" y="11729"/>
                  <a:pt x="1902" y="13018"/>
                  <a:pt x="2013" y="14336"/>
                </a:cubicBezTo>
                <a:cubicBezTo>
                  <a:pt x="2125" y="15654"/>
                  <a:pt x="2881" y="16833"/>
                  <a:pt x="4033" y="17483"/>
                </a:cubicBezTo>
                <a:cubicBezTo>
                  <a:pt x="3842" y="18961"/>
                  <a:pt x="4488" y="20422"/>
                  <a:pt x="5710" y="21275"/>
                </a:cubicBezTo>
                <a:cubicBezTo>
                  <a:pt x="6931" y="22128"/>
                  <a:pt x="8526" y="22232"/>
                  <a:pt x="9847" y="21544"/>
                </a:cubicBezTo>
                <a:cubicBezTo>
                  <a:pt x="11169" y="20856"/>
                  <a:pt x="11998" y="19490"/>
                  <a:pt x="12000" y="18000"/>
                </a:cubicBezTo>
                <a:close/>
              </a:path>
              <a:path w="24000" h="24000" fill="none">
                <a:moveTo>
                  <a:pt x="9000" y="13000"/>
                </a:moveTo>
                <a:cubicBezTo>
                  <a:pt x="10717" y="12396"/>
                  <a:pt x="11901" y="10817"/>
                  <a:pt x="12000" y="9000"/>
                </a:cubicBezTo>
              </a:path>
              <a:path w="24000" h="24000" fill="none">
                <a:moveTo>
                  <a:pt x="6003" y="5125"/>
                </a:moveTo>
                <a:cubicBezTo>
                  <a:pt x="6023" y="5609"/>
                  <a:pt x="6159" y="6080"/>
                  <a:pt x="6401" y="6500"/>
                </a:cubicBezTo>
              </a:path>
              <a:path w="24000" h="24000" fill="none">
                <a:moveTo>
                  <a:pt x="3477" y="10896"/>
                </a:moveTo>
                <a:cubicBezTo>
                  <a:pt x="3660" y="10747"/>
                  <a:pt x="3856" y="10614"/>
                  <a:pt x="4062" y="10500"/>
                </a:cubicBezTo>
              </a:path>
              <a:path w="24000" h="24000" fill="none">
                <a:moveTo>
                  <a:pt x="6000" y="18000"/>
                </a:moveTo>
                <a:cubicBezTo>
                  <a:pt x="5311" y="18000"/>
                  <a:pt x="4633" y="17823"/>
                  <a:pt x="4033" y="17484"/>
                </a:cubicBezTo>
              </a:path>
              <a:path w="24000" h="24000" fill="none">
                <a:moveTo>
                  <a:pt x="12000" y="13000"/>
                </a:moveTo>
                <a:lnTo>
                  <a:pt x="16000" y="13000"/>
                </a:lnTo>
              </a:path>
              <a:path w="24000" h="24000" fill="none">
                <a:moveTo>
                  <a:pt x="12000" y="18000"/>
                </a:moveTo>
                <a:lnTo>
                  <a:pt x="18000" y="18000"/>
                </a:lnTo>
                <a:cubicBezTo>
                  <a:pt x="19105" y="18000"/>
                  <a:pt x="20000" y="18895"/>
                  <a:pt x="20000" y="20000"/>
                </a:cubicBezTo>
                <a:lnTo>
                  <a:pt x="20000" y="21000"/>
                </a:lnTo>
              </a:path>
              <a:path w="24000" h="24000" fill="none">
                <a:moveTo>
                  <a:pt x="12000" y="8000"/>
                </a:moveTo>
                <a:lnTo>
                  <a:pt x="20000" y="8000"/>
                </a:lnTo>
              </a:path>
              <a:path w="24000" h="24000" fill="none">
                <a:moveTo>
                  <a:pt x="16000" y="8000"/>
                </a:moveTo>
                <a:lnTo>
                  <a:pt x="16000" y="5000"/>
                </a:lnTo>
                <a:cubicBezTo>
                  <a:pt x="16000" y="3895"/>
                  <a:pt x="16895" y="3000"/>
                  <a:pt x="18000" y="3000"/>
                </a:cubicBezTo>
              </a:path>
              <a:path w="24000" h="24000" fill="none">
                <a:moveTo>
                  <a:pt x="15500" y="13000"/>
                </a:moveTo>
                <a:cubicBezTo>
                  <a:pt x="15500" y="13276"/>
                  <a:pt x="15724" y="13500"/>
                  <a:pt x="16000" y="13500"/>
                </a:cubicBezTo>
                <a:cubicBezTo>
                  <a:pt x="16276" y="13500"/>
                  <a:pt x="16500" y="13276"/>
                  <a:pt x="16500" y="13000"/>
                </a:cubicBezTo>
                <a:cubicBezTo>
                  <a:pt x="16500" y="12724"/>
                  <a:pt x="16276" y="12500"/>
                  <a:pt x="16000" y="12500"/>
                </a:cubicBezTo>
                <a:cubicBezTo>
                  <a:pt x="15724" y="12500"/>
                  <a:pt x="15500" y="12724"/>
                  <a:pt x="15500" y="13000"/>
                </a:cubicBezTo>
                <a:close/>
              </a:path>
              <a:path w="24000" h="24000" fill="none">
                <a:moveTo>
                  <a:pt x="17500" y="3000"/>
                </a:moveTo>
                <a:cubicBezTo>
                  <a:pt x="17500" y="3276"/>
                  <a:pt x="17724" y="3500"/>
                  <a:pt x="18000" y="3500"/>
                </a:cubicBezTo>
                <a:cubicBezTo>
                  <a:pt x="18276" y="3500"/>
                  <a:pt x="18500" y="3276"/>
                  <a:pt x="18500" y="3000"/>
                </a:cubicBezTo>
                <a:cubicBezTo>
                  <a:pt x="18500" y="2724"/>
                  <a:pt x="18276" y="2500"/>
                  <a:pt x="18000" y="2500"/>
                </a:cubicBezTo>
                <a:cubicBezTo>
                  <a:pt x="17724" y="2500"/>
                  <a:pt x="17500" y="2724"/>
                  <a:pt x="17500" y="3000"/>
                </a:cubicBezTo>
                <a:close/>
              </a:path>
              <a:path w="24000" h="24000" fill="none">
                <a:moveTo>
                  <a:pt x="19500" y="21000"/>
                </a:moveTo>
                <a:cubicBezTo>
                  <a:pt x="19500" y="21276"/>
                  <a:pt x="19724" y="21500"/>
                  <a:pt x="20000" y="21500"/>
                </a:cubicBezTo>
                <a:cubicBezTo>
                  <a:pt x="20276" y="21500"/>
                  <a:pt x="20500" y="21276"/>
                  <a:pt x="20500" y="21000"/>
                </a:cubicBezTo>
                <a:cubicBezTo>
                  <a:pt x="20500" y="20724"/>
                  <a:pt x="20276" y="20500"/>
                  <a:pt x="20000" y="20500"/>
                </a:cubicBezTo>
                <a:cubicBezTo>
                  <a:pt x="19724" y="20500"/>
                  <a:pt x="19500" y="20724"/>
                  <a:pt x="19500" y="21000"/>
                </a:cubicBezTo>
                <a:close/>
              </a:path>
              <a:path w="24000" h="24000" fill="none">
                <a:moveTo>
                  <a:pt x="19500" y="8000"/>
                </a:moveTo>
                <a:cubicBezTo>
                  <a:pt x="19500" y="8276"/>
                  <a:pt x="19724" y="8500"/>
                  <a:pt x="20000" y="8500"/>
                </a:cubicBezTo>
                <a:cubicBezTo>
                  <a:pt x="20276" y="8500"/>
                  <a:pt x="20500" y="8276"/>
                  <a:pt x="20500" y="8000"/>
                </a:cubicBezTo>
                <a:cubicBezTo>
                  <a:pt x="20500" y="7724"/>
                  <a:pt x="20276" y="7500"/>
                  <a:pt x="20000" y="7500"/>
                </a:cubicBezTo>
                <a:cubicBezTo>
                  <a:pt x="19724" y="7500"/>
                  <a:pt x="19500" y="7724"/>
                  <a:pt x="19500" y="8000"/>
                </a:cubicBezTo>
                <a:close/>
              </a:path>
            </a:pathLst>
          </a:custGeom>
          <a:noFill/>
          <a:ln w="16932" cap="rnd">
            <a:solidFill>
              <a:srgbClr val="A78BFA"/>
            </a:solidFill>
            <a:round/>
          </a:ln>
        </p:spPr>
      </p:sp>
      <p:sp>
        <p:nvSpPr>
          <p:cNvPr id="119" name="text86"/>
          <p:cNvSpPr txBox="1"/>
          <p:nvPr/>
        </p:nvSpPr>
        <p:spPr>
          <a:xfrm>
            <a:off x="7094190" y="2201784"/>
            <a:ext cx="1441643" cy="19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buNone/>
            </a:pPr>
            <a:r>
              <a:rPr lang="en" sz="1200" b="1" i="0" dirty="0">
                <a:solidFill>
                  <a:srgbClr val="E8EDF7"/>
                </a:solidFill>
                <a:latin typeface="Helvetica Neue"/>
                <a:ea typeface="Helvetica Neue"/>
                <a:cs typeface="Helvetica Neue"/>
              </a:rPr>
              <a:t>AI orchestrator</a:t>
            </a:r>
            <a:endParaRPr lang="en" sz="1200" dirty="0"/>
          </a:p>
        </p:txBody>
      </p:sp>
      <p:sp>
        <p:nvSpPr>
          <p:cNvPr id="120" name="text87"/>
          <p:cNvSpPr txBox="1"/>
          <p:nvPr/>
        </p:nvSpPr>
        <p:spPr>
          <a:xfrm>
            <a:off x="7094190" y="2412553"/>
            <a:ext cx="1441643" cy="158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rgbClr val="97A3BF"/>
                </a:solidFill>
                <a:latin typeface="Helvetica Neue"/>
                <a:ea typeface="Helvetica Neue"/>
                <a:cs typeface="Helvetica Neue"/>
              </a:rPr>
              <a:t>Agents · tools · memory</a:t>
            </a:r>
            <a:endParaRPr lang="en" sz="1000" dirty="0"/>
          </a:p>
        </p:txBody>
      </p:sp>
      <p:sp>
        <p:nvSpPr>
          <p:cNvPr id="121" name="row88-surface"/>
          <p:cNvSpPr/>
          <p:nvPr/>
        </p:nvSpPr>
        <p:spPr>
          <a:xfrm>
            <a:off x="6675120" y="2898648"/>
            <a:ext cx="1975104" cy="512064"/>
          </a:xfrm>
          <a:prstGeom prst="roundRect">
            <a:avLst>
              <a:gd name="adj" fmla="val 19841"/>
            </a:avLst>
          </a:prstGeom>
          <a:solidFill>
            <a:srgbClr val="111A33"/>
          </a:solidFill>
          <a:ln w="12700">
            <a:solidFill>
              <a:srgbClr val="1E4466"/>
            </a:solidFill>
          </a:ln>
        </p:spPr>
      </p:sp>
      <p:sp>
        <p:nvSpPr>
          <p:cNvPr id="122" name="icon8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89420" y="3053090"/>
            <a:ext cx="203180" cy="203180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20000" y="13000"/>
                </a:moveTo>
                <a:cubicBezTo>
                  <a:pt x="20000" y="18000"/>
                  <a:pt x="16500" y="20500"/>
                  <a:pt x="12340" y="21950"/>
                </a:cubicBezTo>
                <a:cubicBezTo>
                  <a:pt x="12122" y="22024"/>
                  <a:pt x="11886" y="22020"/>
                  <a:pt x="11670" y="21940"/>
                </a:cubicBezTo>
                <a:cubicBezTo>
                  <a:pt x="7500" y="20500"/>
                  <a:pt x="4000" y="18000"/>
                  <a:pt x="4000" y="13000"/>
                </a:cubicBezTo>
                <a:lnTo>
                  <a:pt x="4000" y="6000"/>
                </a:lnTo>
                <a:cubicBezTo>
                  <a:pt x="4000" y="5448"/>
                  <a:pt x="4448" y="5000"/>
                  <a:pt x="5000" y="5000"/>
                </a:cubicBezTo>
                <a:cubicBezTo>
                  <a:pt x="7000" y="5000"/>
                  <a:pt x="9500" y="3800"/>
                  <a:pt x="11240" y="2280"/>
                </a:cubicBezTo>
                <a:cubicBezTo>
                  <a:pt x="11678" y="1906"/>
                  <a:pt x="12322" y="1906"/>
                  <a:pt x="12760" y="2280"/>
                </a:cubicBezTo>
                <a:cubicBezTo>
                  <a:pt x="14510" y="3810"/>
                  <a:pt x="17000" y="5000"/>
                  <a:pt x="19000" y="5000"/>
                </a:cubicBezTo>
                <a:cubicBezTo>
                  <a:pt x="19552" y="5000"/>
                  <a:pt x="20000" y="5448"/>
                  <a:pt x="20000" y="6000"/>
                </a:cubicBezTo>
                <a:close/>
              </a:path>
              <a:path w="24000" h="24000" fill="none">
                <a:moveTo>
                  <a:pt x="9000" y="12000"/>
                </a:moveTo>
                <a:lnTo>
                  <a:pt x="11000" y="14000"/>
                </a:lnTo>
                <a:lnTo>
                  <a:pt x="15000" y="10000"/>
                </a:lnTo>
              </a:path>
            </a:pathLst>
          </a:custGeom>
          <a:noFill/>
          <a:ln w="16932" cap="rnd">
            <a:solidFill>
              <a:schemeClr val="accent2"/>
            </a:solidFill>
            <a:round/>
          </a:ln>
        </p:spPr>
      </p:sp>
      <p:sp>
        <p:nvSpPr>
          <p:cNvPr id="123" name="text91"/>
          <p:cNvSpPr txBox="1"/>
          <p:nvPr/>
        </p:nvSpPr>
        <p:spPr>
          <a:xfrm>
            <a:off x="7094190" y="2969880"/>
            <a:ext cx="1441643" cy="19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buNone/>
            </a:pPr>
            <a:r>
              <a:rPr lang="en" sz="1200" b="1" i="0" dirty="0">
                <a:solidFill>
                  <a:srgbClr val="E8EDF7"/>
                </a:solidFill>
                <a:latin typeface="Helvetica Neue"/>
                <a:ea typeface="Helvetica Neue"/>
                <a:cs typeface="Helvetica Neue"/>
              </a:rPr>
              <a:t>Authentication</a:t>
            </a:r>
            <a:endParaRPr lang="en" sz="1200" dirty="0"/>
          </a:p>
        </p:txBody>
      </p:sp>
      <p:sp>
        <p:nvSpPr>
          <p:cNvPr id="124" name="text92"/>
          <p:cNvSpPr txBox="1"/>
          <p:nvPr/>
        </p:nvSpPr>
        <p:spPr>
          <a:xfrm>
            <a:off x="7094190" y="3180649"/>
            <a:ext cx="1441643" cy="158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rgbClr val="97A3BF"/>
                </a:solidFill>
                <a:latin typeface="Helvetica Neue"/>
                <a:ea typeface="Helvetica Neue"/>
                <a:cs typeface="Helvetica Neue"/>
              </a:rPr>
              <a:t>OIDC · RBAC · SSO</a:t>
            </a:r>
            <a:endParaRPr lang="en" sz="1000" dirty="0"/>
          </a:p>
        </p:txBody>
      </p:sp>
      <p:sp>
        <p:nvSpPr>
          <p:cNvPr id="125" name="row93-surface"/>
          <p:cNvSpPr/>
          <p:nvPr/>
        </p:nvSpPr>
        <p:spPr>
          <a:xfrm>
            <a:off x="6675120" y="3648456"/>
            <a:ext cx="1975104" cy="512064"/>
          </a:xfrm>
          <a:prstGeom prst="roundRect">
            <a:avLst>
              <a:gd name="adj" fmla="val 19841"/>
            </a:avLst>
          </a:prstGeom>
          <a:solidFill>
            <a:srgbClr val="111A33"/>
          </a:solidFill>
          <a:ln w="12700">
            <a:solidFill>
              <a:srgbClr val="5A4514"/>
            </a:solidFill>
          </a:ln>
        </p:spPr>
      </p:sp>
      <p:sp>
        <p:nvSpPr>
          <p:cNvPr id="126" name="icon9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89420" y="3802807"/>
            <a:ext cx="203180" cy="203180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10268" y="21000"/>
                </a:moveTo>
                <a:cubicBezTo>
                  <a:pt x="10625" y="21619"/>
                  <a:pt x="11286" y="22000"/>
                  <a:pt x="12000" y="22000"/>
                </a:cubicBezTo>
                <a:cubicBezTo>
                  <a:pt x="12714" y="22000"/>
                  <a:pt x="13375" y="21619"/>
                  <a:pt x="13732" y="21000"/>
                </a:cubicBezTo>
              </a:path>
              <a:path w="24000" h="24000" fill="none">
                <a:moveTo>
                  <a:pt x="22000" y="8000"/>
                </a:moveTo>
                <a:cubicBezTo>
                  <a:pt x="22000" y="5700"/>
                  <a:pt x="21200" y="3700"/>
                  <a:pt x="20000" y="2000"/>
                </a:cubicBezTo>
              </a:path>
              <a:path w="24000" h="24000" fill="none">
                <a:moveTo>
                  <a:pt x="3262" y="15326"/>
                </a:moveTo>
                <a:cubicBezTo>
                  <a:pt x="2995" y="15619"/>
                  <a:pt x="2926" y="16041"/>
                  <a:pt x="3086" y="16403"/>
                </a:cubicBezTo>
                <a:cubicBezTo>
                  <a:pt x="3245" y="16766"/>
                  <a:pt x="3604" y="17000"/>
                  <a:pt x="4000" y="17000"/>
                </a:cubicBezTo>
                <a:lnTo>
                  <a:pt x="20000" y="17000"/>
                </a:lnTo>
                <a:cubicBezTo>
                  <a:pt x="20396" y="17000"/>
                  <a:pt x="20755" y="16767"/>
                  <a:pt x="20915" y="16405"/>
                </a:cubicBezTo>
                <a:cubicBezTo>
                  <a:pt x="21075" y="16042"/>
                  <a:pt x="21006" y="15620"/>
                  <a:pt x="20740" y="15327"/>
                </a:cubicBezTo>
                <a:cubicBezTo>
                  <a:pt x="19410" y="13956"/>
                  <a:pt x="18000" y="12499"/>
                  <a:pt x="18000" y="8000"/>
                </a:cubicBezTo>
                <a:cubicBezTo>
                  <a:pt x="18000" y="4686"/>
                  <a:pt x="15314" y="2000"/>
                  <a:pt x="12000" y="2000"/>
                </a:cubicBezTo>
                <a:cubicBezTo>
                  <a:pt x="8686" y="2000"/>
                  <a:pt x="6000" y="4686"/>
                  <a:pt x="6000" y="8000"/>
                </a:cubicBezTo>
                <a:cubicBezTo>
                  <a:pt x="6000" y="12499"/>
                  <a:pt x="4589" y="13956"/>
                  <a:pt x="3262" y="15326"/>
                </a:cubicBezTo>
              </a:path>
              <a:path w="24000" h="24000" fill="none">
                <a:moveTo>
                  <a:pt x="4000" y="2000"/>
                </a:moveTo>
                <a:cubicBezTo>
                  <a:pt x="2800" y="3700"/>
                  <a:pt x="2000" y="5700"/>
                  <a:pt x="2000" y="8000"/>
                </a:cubicBezTo>
              </a:path>
            </a:pathLst>
          </a:custGeom>
          <a:noFill/>
          <a:ln w="16932" cap="rnd">
            <a:solidFill>
              <a:srgbClr val="FBBF24"/>
            </a:solidFill>
            <a:round/>
          </a:ln>
        </p:spPr>
      </p:sp>
      <p:sp>
        <p:nvSpPr>
          <p:cNvPr id="127" name="text96"/>
          <p:cNvSpPr txBox="1"/>
          <p:nvPr/>
        </p:nvSpPr>
        <p:spPr>
          <a:xfrm>
            <a:off x="7094190" y="3719688"/>
            <a:ext cx="1441643" cy="19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buNone/>
            </a:pPr>
            <a:r>
              <a:rPr lang="en" sz="1200" b="1" i="0" dirty="0">
                <a:solidFill>
                  <a:srgbClr val="E8EDF7"/>
                </a:solidFill>
                <a:latin typeface="Helvetica Neue"/>
                <a:ea typeface="Helvetica Neue"/>
                <a:cs typeface="Helvetica Neue"/>
              </a:rPr>
              <a:t>Notifications</a:t>
            </a:r>
            <a:endParaRPr lang="en" sz="1200" dirty="0"/>
          </a:p>
        </p:txBody>
      </p:sp>
      <p:sp>
        <p:nvSpPr>
          <p:cNvPr id="128" name="text97"/>
          <p:cNvSpPr txBox="1"/>
          <p:nvPr/>
        </p:nvSpPr>
        <p:spPr>
          <a:xfrm>
            <a:off x="7094190" y="3930457"/>
            <a:ext cx="1441643" cy="158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rgbClr val="97A3BF"/>
                </a:solidFill>
                <a:latin typeface="Helvetica Neue"/>
                <a:ea typeface="Helvetica Neue"/>
                <a:cs typeface="Helvetica Neue"/>
              </a:rPr>
              <a:t>Push · email · SMS</a:t>
            </a:r>
            <a:endParaRPr lang="en" sz="1000" dirty="0"/>
          </a:p>
        </p:txBody>
      </p:sp>
      <p:sp>
        <p:nvSpPr>
          <p:cNvPr id="129" name="row98-surface"/>
          <p:cNvSpPr/>
          <p:nvPr/>
        </p:nvSpPr>
        <p:spPr>
          <a:xfrm>
            <a:off x="6675120" y="4389120"/>
            <a:ext cx="1975104" cy="512064"/>
          </a:xfrm>
          <a:prstGeom prst="roundRect">
            <a:avLst>
              <a:gd name="adj" fmla="val 19841"/>
            </a:avLst>
          </a:prstGeom>
          <a:solidFill>
            <a:srgbClr val="111A33"/>
          </a:solidFill>
          <a:ln w="12700">
            <a:solidFill>
              <a:srgbClr val="1A5552"/>
            </a:solidFill>
          </a:ln>
        </p:spPr>
      </p:sp>
      <p:sp>
        <p:nvSpPr>
          <p:cNvPr id="130" name="icon9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89420" y="4543471"/>
            <a:ext cx="203180" cy="203180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3000" y="5000"/>
                </a:moveTo>
                <a:cubicBezTo>
                  <a:pt x="3000" y="6657"/>
                  <a:pt x="7029" y="8000"/>
                  <a:pt x="12000" y="8000"/>
                </a:cubicBezTo>
                <a:cubicBezTo>
                  <a:pt x="16971" y="8000"/>
                  <a:pt x="21000" y="6657"/>
                  <a:pt x="21000" y="5000"/>
                </a:cubicBezTo>
                <a:cubicBezTo>
                  <a:pt x="21000" y="3343"/>
                  <a:pt x="16971" y="2000"/>
                  <a:pt x="12000" y="2000"/>
                </a:cubicBezTo>
                <a:cubicBezTo>
                  <a:pt x="7029" y="2000"/>
                  <a:pt x="3000" y="3343"/>
                  <a:pt x="3000" y="5000"/>
                </a:cubicBezTo>
                <a:close/>
              </a:path>
              <a:path w="24000" h="24000" fill="none">
                <a:moveTo>
                  <a:pt x="3000" y="5000"/>
                </a:moveTo>
                <a:lnTo>
                  <a:pt x="3000" y="19000"/>
                </a:lnTo>
                <a:cubicBezTo>
                  <a:pt x="2989" y="19976"/>
                  <a:pt x="4402" y="20893"/>
                  <a:pt x="6790" y="21458"/>
                </a:cubicBezTo>
                <a:cubicBezTo>
                  <a:pt x="9177" y="22023"/>
                  <a:pt x="12240" y="22165"/>
                  <a:pt x="15000" y="21840"/>
                </a:cubicBezTo>
              </a:path>
              <a:path w="24000" h="24000" fill="none">
                <a:moveTo>
                  <a:pt x="21000" y="5000"/>
                </a:moveTo>
                <a:lnTo>
                  <a:pt x="21000" y="8000"/>
                </a:lnTo>
              </a:path>
              <a:path w="24000" h="24000" fill="none">
                <a:moveTo>
                  <a:pt x="21000" y="12000"/>
                </a:moveTo>
                <a:lnTo>
                  <a:pt x="18000" y="17000"/>
                </a:lnTo>
                <a:lnTo>
                  <a:pt x="22000" y="17000"/>
                </a:lnTo>
                <a:lnTo>
                  <a:pt x="19000" y="22000"/>
                </a:lnTo>
              </a:path>
              <a:path w="24000" h="24000" fill="none">
                <a:moveTo>
                  <a:pt x="3000" y="12000"/>
                </a:moveTo>
                <a:cubicBezTo>
                  <a:pt x="3003" y="12948"/>
                  <a:pt x="4350" y="13840"/>
                  <a:pt x="6633" y="14405"/>
                </a:cubicBezTo>
                <a:cubicBezTo>
                  <a:pt x="8916" y="14970"/>
                  <a:pt x="11866" y="15143"/>
                  <a:pt x="14590" y="14870"/>
                </a:cubicBezTo>
              </a:path>
            </a:pathLst>
          </a:custGeom>
          <a:noFill/>
          <a:ln w="16932" cap="rnd">
            <a:solidFill>
              <a:srgbClr val="2DD4BF"/>
            </a:solidFill>
            <a:round/>
          </a:ln>
        </p:spPr>
      </p:sp>
      <p:sp>
        <p:nvSpPr>
          <p:cNvPr id="131" name="text101"/>
          <p:cNvSpPr txBox="1"/>
          <p:nvPr/>
        </p:nvSpPr>
        <p:spPr>
          <a:xfrm>
            <a:off x="7094190" y="4460352"/>
            <a:ext cx="1441643" cy="19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buNone/>
            </a:pPr>
            <a:r>
              <a:rPr lang="en" sz="1200" b="1" i="0" dirty="0">
                <a:solidFill>
                  <a:srgbClr val="E8EDF7"/>
                </a:solidFill>
                <a:latin typeface="Helvetica Neue"/>
                <a:ea typeface="Helvetica Neue"/>
                <a:cs typeface="Helvetica Neue"/>
              </a:rPr>
              <a:t>Data service</a:t>
            </a:r>
            <a:endParaRPr lang="en" sz="1200" dirty="0"/>
          </a:p>
        </p:txBody>
      </p:sp>
      <p:sp>
        <p:nvSpPr>
          <p:cNvPr id="132" name="text102"/>
          <p:cNvSpPr txBox="1"/>
          <p:nvPr/>
        </p:nvSpPr>
        <p:spPr>
          <a:xfrm>
            <a:off x="7094190" y="4671121"/>
            <a:ext cx="1441643" cy="158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rgbClr val="97A3BF"/>
                </a:solidFill>
                <a:latin typeface="Helvetica Neue"/>
                <a:ea typeface="Helvetica Neue"/>
                <a:cs typeface="Helvetica Neue"/>
              </a:rPr>
              <a:t>Queries · cache · files</a:t>
            </a:r>
            <a:endParaRPr lang="en" sz="1000" dirty="0"/>
          </a:p>
        </p:txBody>
      </p:sp>
      <p:sp>
        <p:nvSpPr>
          <p:cNvPr id="133" name="row103-surface"/>
          <p:cNvSpPr/>
          <p:nvPr/>
        </p:nvSpPr>
        <p:spPr>
          <a:xfrm>
            <a:off x="9144091" y="1737360"/>
            <a:ext cx="2450592" cy="457200"/>
          </a:xfrm>
          <a:prstGeom prst="roundRect">
            <a:avLst>
              <a:gd name="adj" fmla="val 22222"/>
            </a:avLst>
          </a:prstGeom>
          <a:solidFill>
            <a:srgbClr val="111A33"/>
          </a:solidFill>
          <a:ln w="12700">
            <a:solidFill>
              <a:srgbClr val="433779"/>
            </a:solidFill>
          </a:ln>
        </p:spPr>
      </p:sp>
      <p:sp>
        <p:nvSpPr>
          <p:cNvPr id="134" name="icon10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58391" y="1864370"/>
            <a:ext cx="203180" cy="203180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11017" y="2814"/>
                </a:moveTo>
                <a:cubicBezTo>
                  <a:pt x="11105" y="2341"/>
                  <a:pt x="11519" y="1998"/>
                  <a:pt x="12000" y="1998"/>
                </a:cubicBezTo>
                <a:cubicBezTo>
                  <a:pt x="12481" y="1998"/>
                  <a:pt x="12895" y="2341"/>
                  <a:pt x="12983" y="2814"/>
                </a:cubicBezTo>
                <a:lnTo>
                  <a:pt x="14034" y="8372"/>
                </a:lnTo>
                <a:cubicBezTo>
                  <a:pt x="14187" y="9181"/>
                  <a:pt x="14819" y="9813"/>
                  <a:pt x="15628" y="9966"/>
                </a:cubicBezTo>
                <a:lnTo>
                  <a:pt x="21186" y="11017"/>
                </a:lnTo>
                <a:cubicBezTo>
                  <a:pt x="21659" y="11105"/>
                  <a:pt x="22002" y="11519"/>
                  <a:pt x="22002" y="12000"/>
                </a:cubicBezTo>
                <a:cubicBezTo>
                  <a:pt x="22002" y="12481"/>
                  <a:pt x="21659" y="12895"/>
                  <a:pt x="21186" y="12983"/>
                </a:cubicBezTo>
                <a:lnTo>
                  <a:pt x="15628" y="14034"/>
                </a:lnTo>
                <a:cubicBezTo>
                  <a:pt x="14819" y="14187"/>
                  <a:pt x="14187" y="14819"/>
                  <a:pt x="14034" y="15628"/>
                </a:cubicBezTo>
                <a:lnTo>
                  <a:pt x="12983" y="21186"/>
                </a:lnTo>
                <a:cubicBezTo>
                  <a:pt x="12895" y="21659"/>
                  <a:pt x="12481" y="22002"/>
                  <a:pt x="12000" y="22002"/>
                </a:cubicBezTo>
                <a:cubicBezTo>
                  <a:pt x="11519" y="22002"/>
                  <a:pt x="11105" y="21659"/>
                  <a:pt x="11017" y="21186"/>
                </a:cubicBezTo>
                <a:lnTo>
                  <a:pt x="9966" y="15628"/>
                </a:lnTo>
                <a:cubicBezTo>
                  <a:pt x="9813" y="14819"/>
                  <a:pt x="9181" y="14187"/>
                  <a:pt x="8372" y="14034"/>
                </a:cubicBezTo>
                <a:lnTo>
                  <a:pt x="2814" y="12983"/>
                </a:lnTo>
                <a:cubicBezTo>
                  <a:pt x="2341" y="12895"/>
                  <a:pt x="1998" y="12481"/>
                  <a:pt x="1998" y="12000"/>
                </a:cubicBezTo>
                <a:cubicBezTo>
                  <a:pt x="1998" y="11519"/>
                  <a:pt x="2341" y="11105"/>
                  <a:pt x="2814" y="11017"/>
                </a:cubicBezTo>
                <a:lnTo>
                  <a:pt x="8372" y="9966"/>
                </a:lnTo>
                <a:cubicBezTo>
                  <a:pt x="9181" y="9813"/>
                  <a:pt x="9813" y="9181"/>
                  <a:pt x="9966" y="8372"/>
                </a:cubicBezTo>
                <a:close/>
              </a:path>
              <a:path w="24000" h="24000" fill="none">
                <a:moveTo>
                  <a:pt x="20000" y="2000"/>
                </a:moveTo>
                <a:lnTo>
                  <a:pt x="20000" y="6000"/>
                </a:lnTo>
              </a:path>
              <a:path w="24000" h="24000" fill="none">
                <a:moveTo>
                  <a:pt x="22000" y="4000"/>
                </a:moveTo>
                <a:lnTo>
                  <a:pt x="18000" y="4000"/>
                </a:lnTo>
              </a:path>
              <a:path w="24000" h="24000" fill="none">
                <a:moveTo>
                  <a:pt x="2000" y="20000"/>
                </a:moveTo>
                <a:cubicBezTo>
                  <a:pt x="2000" y="21105"/>
                  <a:pt x="2895" y="22000"/>
                  <a:pt x="4000" y="22000"/>
                </a:cubicBezTo>
                <a:cubicBezTo>
                  <a:pt x="5105" y="22000"/>
                  <a:pt x="6000" y="21105"/>
                  <a:pt x="6000" y="20000"/>
                </a:cubicBezTo>
                <a:cubicBezTo>
                  <a:pt x="6000" y="18895"/>
                  <a:pt x="5105" y="18000"/>
                  <a:pt x="4000" y="18000"/>
                </a:cubicBezTo>
                <a:cubicBezTo>
                  <a:pt x="2895" y="18000"/>
                  <a:pt x="2000" y="18895"/>
                  <a:pt x="2000" y="20000"/>
                </a:cubicBezTo>
                <a:close/>
              </a:path>
            </a:pathLst>
          </a:custGeom>
          <a:noFill/>
          <a:ln w="16932" cap="rnd">
            <a:solidFill>
              <a:srgbClr val="A78BFA"/>
            </a:solidFill>
            <a:round/>
          </a:ln>
        </p:spPr>
      </p:sp>
      <p:sp>
        <p:nvSpPr>
          <p:cNvPr id="135" name="text106"/>
          <p:cNvSpPr txBox="1"/>
          <p:nvPr/>
        </p:nvSpPr>
        <p:spPr>
          <a:xfrm>
            <a:off x="9563161" y="1781160"/>
            <a:ext cx="1917222" cy="19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buNone/>
            </a:pPr>
            <a:r>
              <a:rPr lang="en" sz="1200" b="1" i="0" dirty="0">
                <a:solidFill>
                  <a:srgbClr val="E8EDF7"/>
                </a:solidFill>
                <a:latin typeface="Helvetica Neue"/>
                <a:ea typeface="Helvetica Neue"/>
                <a:cs typeface="Helvetica Neue"/>
              </a:rPr>
              <a:t>LLM providers</a:t>
            </a:r>
            <a:endParaRPr lang="en" sz="1200" dirty="0"/>
          </a:p>
        </p:txBody>
      </p:sp>
      <p:sp>
        <p:nvSpPr>
          <p:cNvPr id="136" name="text107"/>
          <p:cNvSpPr txBox="1"/>
          <p:nvPr/>
        </p:nvSpPr>
        <p:spPr>
          <a:xfrm>
            <a:off x="9563161" y="1991929"/>
            <a:ext cx="1917222" cy="158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rgbClr val="97A3BF"/>
                </a:solidFill>
                <a:latin typeface="Helvetica Neue"/>
                <a:ea typeface="Helvetica Neue"/>
                <a:cs typeface="Helvetica Neue"/>
              </a:rPr>
              <a:t>Claude · GPT · open models</a:t>
            </a:r>
            <a:endParaRPr lang="en" sz="1000" dirty="0"/>
          </a:p>
        </p:txBody>
      </p:sp>
      <p:sp>
        <p:nvSpPr>
          <p:cNvPr id="137" name="row108-surface"/>
          <p:cNvSpPr/>
          <p:nvPr/>
        </p:nvSpPr>
        <p:spPr>
          <a:xfrm>
            <a:off x="9144091" y="2267712"/>
            <a:ext cx="2450592" cy="457200"/>
          </a:xfrm>
          <a:prstGeom prst="roundRect">
            <a:avLst>
              <a:gd name="adj" fmla="val 22222"/>
            </a:avLst>
          </a:prstGeom>
          <a:solidFill>
            <a:srgbClr val="111A33"/>
          </a:solidFill>
          <a:ln w="12700">
            <a:solidFill>
              <a:srgbClr val="433779"/>
            </a:solidFill>
          </a:ln>
        </p:spPr>
      </p:sp>
      <p:sp>
        <p:nvSpPr>
          <p:cNvPr id="138" name="icon10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58391" y="2394722"/>
            <a:ext cx="203180" cy="203180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12830" y="2180"/>
                </a:moveTo>
                <a:cubicBezTo>
                  <a:pt x="12303" y="1940"/>
                  <a:pt x="11697" y="1940"/>
                  <a:pt x="11170" y="2180"/>
                </a:cubicBezTo>
                <a:lnTo>
                  <a:pt x="2600" y="6080"/>
                </a:lnTo>
                <a:cubicBezTo>
                  <a:pt x="2237" y="6240"/>
                  <a:pt x="2003" y="6599"/>
                  <a:pt x="2003" y="6995"/>
                </a:cubicBezTo>
                <a:cubicBezTo>
                  <a:pt x="2003" y="7391"/>
                  <a:pt x="2237" y="7750"/>
                  <a:pt x="2600" y="7910"/>
                </a:cubicBezTo>
                <a:lnTo>
                  <a:pt x="11180" y="11820"/>
                </a:lnTo>
                <a:cubicBezTo>
                  <a:pt x="11707" y="12060"/>
                  <a:pt x="12313" y="12060"/>
                  <a:pt x="12840" y="11820"/>
                </a:cubicBezTo>
                <a:lnTo>
                  <a:pt x="21420" y="7920"/>
                </a:lnTo>
                <a:cubicBezTo>
                  <a:pt x="21783" y="7760"/>
                  <a:pt x="22017" y="7401"/>
                  <a:pt x="22017" y="7005"/>
                </a:cubicBezTo>
                <a:cubicBezTo>
                  <a:pt x="22017" y="6609"/>
                  <a:pt x="21783" y="6250"/>
                  <a:pt x="21420" y="6090"/>
                </a:cubicBezTo>
                <a:close/>
              </a:path>
              <a:path w="24000" h="24000" fill="none">
                <a:moveTo>
                  <a:pt x="2000" y="12000"/>
                </a:moveTo>
                <a:cubicBezTo>
                  <a:pt x="1999" y="12391"/>
                  <a:pt x="2226" y="12746"/>
                  <a:pt x="2580" y="12910"/>
                </a:cubicBezTo>
                <a:lnTo>
                  <a:pt x="11180" y="16820"/>
                </a:lnTo>
                <a:cubicBezTo>
                  <a:pt x="11704" y="17057"/>
                  <a:pt x="12306" y="17057"/>
                  <a:pt x="12830" y="16820"/>
                </a:cubicBezTo>
                <a:lnTo>
                  <a:pt x="21410" y="12920"/>
                </a:lnTo>
                <a:cubicBezTo>
                  <a:pt x="21772" y="12757"/>
                  <a:pt x="22003" y="12397"/>
                  <a:pt x="22000" y="12000"/>
                </a:cubicBezTo>
              </a:path>
              <a:path w="24000" h="24000" fill="none">
                <a:moveTo>
                  <a:pt x="2000" y="17000"/>
                </a:moveTo>
                <a:cubicBezTo>
                  <a:pt x="1999" y="17391"/>
                  <a:pt x="2226" y="17746"/>
                  <a:pt x="2580" y="17910"/>
                </a:cubicBezTo>
                <a:lnTo>
                  <a:pt x="11180" y="21820"/>
                </a:lnTo>
                <a:cubicBezTo>
                  <a:pt x="11704" y="22057"/>
                  <a:pt x="12306" y="22057"/>
                  <a:pt x="12830" y="21820"/>
                </a:cubicBezTo>
                <a:lnTo>
                  <a:pt x="21410" y="17920"/>
                </a:lnTo>
                <a:cubicBezTo>
                  <a:pt x="21772" y="17757"/>
                  <a:pt x="22003" y="17397"/>
                  <a:pt x="22000" y="17000"/>
                </a:cubicBezTo>
              </a:path>
            </a:pathLst>
          </a:custGeom>
          <a:noFill/>
          <a:ln w="16932" cap="rnd">
            <a:solidFill>
              <a:srgbClr val="A78BFA"/>
            </a:solidFill>
            <a:round/>
          </a:ln>
        </p:spPr>
      </p:sp>
      <p:sp>
        <p:nvSpPr>
          <p:cNvPr id="139" name="text111"/>
          <p:cNvSpPr txBox="1"/>
          <p:nvPr/>
        </p:nvSpPr>
        <p:spPr>
          <a:xfrm>
            <a:off x="9563161" y="2311512"/>
            <a:ext cx="1917222" cy="19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buNone/>
            </a:pPr>
            <a:r>
              <a:rPr lang="en" sz="1200" b="1" i="0" dirty="0">
                <a:solidFill>
                  <a:srgbClr val="E8EDF7"/>
                </a:solidFill>
                <a:latin typeface="Helvetica Neue"/>
                <a:ea typeface="Helvetica Neue"/>
                <a:cs typeface="Helvetica Neue"/>
              </a:rPr>
              <a:t>Vector database</a:t>
            </a:r>
            <a:endParaRPr lang="en" sz="1200" dirty="0"/>
          </a:p>
        </p:txBody>
      </p:sp>
      <p:sp>
        <p:nvSpPr>
          <p:cNvPr id="140" name="text112"/>
          <p:cNvSpPr txBox="1"/>
          <p:nvPr/>
        </p:nvSpPr>
        <p:spPr>
          <a:xfrm>
            <a:off x="9563161" y="2522372"/>
            <a:ext cx="1917222" cy="158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rgbClr val="97A3BF"/>
                </a:solidFill>
                <a:latin typeface="Helvetica Neue"/>
                <a:ea typeface="Helvetica Neue"/>
                <a:cs typeface="Helvetica Neue"/>
              </a:rPr>
              <a:t>pgvector · embeddings</a:t>
            </a:r>
            <a:endParaRPr lang="en" sz="1000" dirty="0"/>
          </a:p>
        </p:txBody>
      </p:sp>
      <p:sp>
        <p:nvSpPr>
          <p:cNvPr id="141" name="row113-surface"/>
          <p:cNvSpPr/>
          <p:nvPr/>
        </p:nvSpPr>
        <p:spPr>
          <a:xfrm>
            <a:off x="9144091" y="2798064"/>
            <a:ext cx="2450592" cy="457200"/>
          </a:xfrm>
          <a:prstGeom prst="roundRect">
            <a:avLst>
              <a:gd name="adj" fmla="val 22222"/>
            </a:avLst>
          </a:prstGeom>
          <a:solidFill>
            <a:srgbClr val="111A33"/>
          </a:solidFill>
          <a:ln w="12700">
            <a:solidFill>
              <a:srgbClr val="433779"/>
            </a:solidFill>
          </a:ln>
        </p:spPr>
      </p:sp>
      <p:sp>
        <p:nvSpPr>
          <p:cNvPr id="142" name="icon1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58391" y="2925074"/>
            <a:ext cx="203180" cy="203180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6300" y="20300"/>
                </a:moveTo>
                <a:cubicBezTo>
                  <a:pt x="6750" y="20752"/>
                  <a:pt x="7362" y="21006"/>
                  <a:pt x="8000" y="21006"/>
                </a:cubicBezTo>
                <a:cubicBezTo>
                  <a:pt x="8638" y="21006"/>
                  <a:pt x="9250" y="20752"/>
                  <a:pt x="9700" y="20300"/>
                </a:cubicBezTo>
                <a:lnTo>
                  <a:pt x="12000" y="18000"/>
                </a:lnTo>
                <a:lnTo>
                  <a:pt x="6000" y="12000"/>
                </a:lnTo>
                <a:lnTo>
                  <a:pt x="3700" y="14300"/>
                </a:lnTo>
                <a:cubicBezTo>
                  <a:pt x="3248" y="14750"/>
                  <a:pt x="2994" y="15362"/>
                  <a:pt x="2994" y="16000"/>
                </a:cubicBezTo>
                <a:cubicBezTo>
                  <a:pt x="2994" y="16638"/>
                  <a:pt x="3248" y="17250"/>
                  <a:pt x="3700" y="17700"/>
                </a:cubicBezTo>
                <a:close/>
              </a:path>
              <a:path w="24000" h="24000" fill="none">
                <a:moveTo>
                  <a:pt x="2000" y="22000"/>
                </a:moveTo>
                <a:lnTo>
                  <a:pt x="5000" y="19000"/>
                </a:lnTo>
              </a:path>
              <a:path w="24000" h="24000" fill="none">
                <a:moveTo>
                  <a:pt x="7500" y="13500"/>
                </a:moveTo>
                <a:lnTo>
                  <a:pt x="10000" y="11000"/>
                </a:lnTo>
              </a:path>
              <a:path w="24000" h="24000" fill="none">
                <a:moveTo>
                  <a:pt x="10500" y="16500"/>
                </a:moveTo>
                <a:lnTo>
                  <a:pt x="13000" y="14000"/>
                </a:lnTo>
              </a:path>
              <a:path w="24000" h="24000" fill="none">
                <a:moveTo>
                  <a:pt x="18000" y="3000"/>
                </a:moveTo>
                <a:lnTo>
                  <a:pt x="14000" y="7000"/>
                </a:lnTo>
                <a:lnTo>
                  <a:pt x="20000" y="7000"/>
                </a:lnTo>
                <a:lnTo>
                  <a:pt x="16000" y="11000"/>
                </a:lnTo>
              </a:path>
            </a:pathLst>
          </a:custGeom>
          <a:noFill/>
          <a:ln w="16932" cap="rnd">
            <a:solidFill>
              <a:srgbClr val="A78BFA"/>
            </a:solidFill>
            <a:round/>
          </a:ln>
        </p:spPr>
      </p:sp>
      <p:sp>
        <p:nvSpPr>
          <p:cNvPr id="143" name="text116"/>
          <p:cNvSpPr txBox="1"/>
          <p:nvPr/>
        </p:nvSpPr>
        <p:spPr>
          <a:xfrm>
            <a:off x="9563161" y="2841864"/>
            <a:ext cx="1917222" cy="19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buNone/>
            </a:pPr>
            <a:r>
              <a:rPr lang="en" sz="1200" b="1" i="0" dirty="0">
                <a:solidFill>
                  <a:srgbClr val="E8EDF7"/>
                </a:solidFill>
                <a:latin typeface="Helvetica Neue"/>
                <a:ea typeface="Helvetica Neue"/>
                <a:cs typeface="Helvetica Neue"/>
              </a:rPr>
              <a:t>Tool / MCP services</a:t>
            </a:r>
            <a:endParaRPr lang="en" sz="1200" dirty="0"/>
          </a:p>
        </p:txBody>
      </p:sp>
      <p:sp>
        <p:nvSpPr>
          <p:cNvPr id="144" name="text117"/>
          <p:cNvSpPr txBox="1"/>
          <p:nvPr/>
        </p:nvSpPr>
        <p:spPr>
          <a:xfrm>
            <a:off x="9563161" y="3052724"/>
            <a:ext cx="1917222" cy="158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rgbClr val="97A3BF"/>
                </a:solidFill>
                <a:latin typeface="Helvetica Neue"/>
                <a:ea typeface="Helvetica Neue"/>
                <a:cs typeface="Helvetica Neue"/>
              </a:rPr>
              <a:t>MCP servers · internal APIs</a:t>
            </a:r>
            <a:endParaRPr lang="en" sz="1000" dirty="0"/>
          </a:p>
        </p:txBody>
      </p:sp>
      <p:sp>
        <p:nvSpPr>
          <p:cNvPr id="145" name="row118-surface"/>
          <p:cNvSpPr/>
          <p:nvPr/>
        </p:nvSpPr>
        <p:spPr>
          <a:xfrm>
            <a:off x="9144091" y="3840480"/>
            <a:ext cx="2450592" cy="457200"/>
          </a:xfrm>
          <a:prstGeom prst="roundRect">
            <a:avLst>
              <a:gd name="adj" fmla="val 22222"/>
            </a:avLst>
          </a:prstGeom>
          <a:solidFill>
            <a:srgbClr val="111A33"/>
          </a:solidFill>
          <a:ln w="12700">
            <a:solidFill>
              <a:srgbClr val="1A5552"/>
            </a:solidFill>
          </a:ln>
        </p:spPr>
      </p:sp>
      <p:sp>
        <p:nvSpPr>
          <p:cNvPr id="146" name="icon1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58391" y="3967490"/>
            <a:ext cx="203180" cy="203180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3000" y="5000"/>
                </a:moveTo>
                <a:cubicBezTo>
                  <a:pt x="3000" y="6657"/>
                  <a:pt x="7029" y="8000"/>
                  <a:pt x="12000" y="8000"/>
                </a:cubicBezTo>
                <a:cubicBezTo>
                  <a:pt x="16971" y="8000"/>
                  <a:pt x="21000" y="6657"/>
                  <a:pt x="21000" y="5000"/>
                </a:cubicBezTo>
                <a:cubicBezTo>
                  <a:pt x="21000" y="3343"/>
                  <a:pt x="16971" y="2000"/>
                  <a:pt x="12000" y="2000"/>
                </a:cubicBezTo>
                <a:cubicBezTo>
                  <a:pt x="7029" y="2000"/>
                  <a:pt x="3000" y="3343"/>
                  <a:pt x="3000" y="5000"/>
                </a:cubicBezTo>
                <a:close/>
              </a:path>
              <a:path w="24000" h="24000" fill="none">
                <a:moveTo>
                  <a:pt x="3000" y="5000"/>
                </a:moveTo>
                <a:lnTo>
                  <a:pt x="3000" y="19000"/>
                </a:lnTo>
                <a:cubicBezTo>
                  <a:pt x="3000" y="20657"/>
                  <a:pt x="7029" y="22000"/>
                  <a:pt x="12000" y="22000"/>
                </a:cubicBezTo>
                <a:cubicBezTo>
                  <a:pt x="16971" y="22000"/>
                  <a:pt x="21000" y="20657"/>
                  <a:pt x="21000" y="19000"/>
                </a:cubicBezTo>
                <a:lnTo>
                  <a:pt x="21000" y="5000"/>
                </a:lnTo>
              </a:path>
              <a:path w="24000" h="24000" fill="none">
                <a:moveTo>
                  <a:pt x="3000" y="12000"/>
                </a:moveTo>
                <a:cubicBezTo>
                  <a:pt x="3000" y="13657"/>
                  <a:pt x="7029" y="15000"/>
                  <a:pt x="12000" y="15000"/>
                </a:cubicBezTo>
                <a:cubicBezTo>
                  <a:pt x="16971" y="15000"/>
                  <a:pt x="21000" y="13657"/>
                  <a:pt x="21000" y="12000"/>
                </a:cubicBezTo>
              </a:path>
            </a:pathLst>
          </a:custGeom>
          <a:noFill/>
          <a:ln w="16932" cap="rnd">
            <a:solidFill>
              <a:srgbClr val="2DD4BF"/>
            </a:solidFill>
            <a:round/>
          </a:ln>
        </p:spPr>
      </p:sp>
      <p:sp>
        <p:nvSpPr>
          <p:cNvPr id="147" name="text121"/>
          <p:cNvSpPr txBox="1"/>
          <p:nvPr/>
        </p:nvSpPr>
        <p:spPr>
          <a:xfrm>
            <a:off x="9563161" y="3884280"/>
            <a:ext cx="1917222" cy="19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buNone/>
            </a:pPr>
            <a:r>
              <a:rPr lang="en" sz="1200" b="1" i="0" dirty="0">
                <a:solidFill>
                  <a:srgbClr val="E8EDF7"/>
                </a:solidFill>
                <a:latin typeface="Helvetica Neue"/>
                <a:ea typeface="Helvetica Neue"/>
                <a:cs typeface="Helvetica Neue"/>
              </a:rPr>
              <a:t>PostgreSQL</a:t>
            </a:r>
            <a:endParaRPr lang="en" sz="1200" dirty="0"/>
          </a:p>
        </p:txBody>
      </p:sp>
      <p:sp>
        <p:nvSpPr>
          <p:cNvPr id="148" name="text122"/>
          <p:cNvSpPr txBox="1"/>
          <p:nvPr/>
        </p:nvSpPr>
        <p:spPr>
          <a:xfrm>
            <a:off x="9563161" y="4095140"/>
            <a:ext cx="1917222" cy="158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rgbClr val="97A3BF"/>
                </a:solidFill>
                <a:latin typeface="Helvetica Neue"/>
                <a:ea typeface="Helvetica Neue"/>
                <a:cs typeface="Helvetica Neue"/>
              </a:rPr>
              <a:t>Primary + 2 read replicas</a:t>
            </a:r>
            <a:endParaRPr lang="en" sz="1000" dirty="0"/>
          </a:p>
        </p:txBody>
      </p:sp>
      <p:sp>
        <p:nvSpPr>
          <p:cNvPr id="149" name="row123-surface"/>
          <p:cNvSpPr/>
          <p:nvPr/>
        </p:nvSpPr>
        <p:spPr>
          <a:xfrm>
            <a:off x="9144091" y="4370832"/>
            <a:ext cx="2450592" cy="457200"/>
          </a:xfrm>
          <a:prstGeom prst="roundRect">
            <a:avLst>
              <a:gd name="adj" fmla="val 22222"/>
            </a:avLst>
          </a:prstGeom>
          <a:solidFill>
            <a:srgbClr val="111A33"/>
          </a:solidFill>
          <a:ln w="12700">
            <a:solidFill>
              <a:srgbClr val="1A5552"/>
            </a:solidFill>
          </a:ln>
        </p:spPr>
      </p:sp>
      <p:sp>
        <p:nvSpPr>
          <p:cNvPr id="150" name="icon1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58391" y="4497842"/>
            <a:ext cx="203180" cy="203180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15914" y="4000"/>
                </a:moveTo>
                <a:cubicBezTo>
                  <a:pt x="16147" y="3340"/>
                  <a:pt x="15892" y="2606"/>
                  <a:pt x="15300" y="2232"/>
                </a:cubicBezTo>
                <a:cubicBezTo>
                  <a:pt x="14708" y="1859"/>
                  <a:pt x="13936" y="1944"/>
                  <a:pt x="13440" y="2439"/>
                </a:cubicBezTo>
                <a:lnTo>
                  <a:pt x="4440" y="11439"/>
                </a:lnTo>
                <a:cubicBezTo>
                  <a:pt x="4011" y="11868"/>
                  <a:pt x="3882" y="12513"/>
                  <a:pt x="4114" y="13074"/>
                </a:cubicBezTo>
                <a:cubicBezTo>
                  <a:pt x="4346" y="13634"/>
                  <a:pt x="4893" y="14000"/>
                  <a:pt x="5500" y="14000"/>
                </a:cubicBezTo>
                <a:lnTo>
                  <a:pt x="9502" y="14000"/>
                </a:lnTo>
                <a:cubicBezTo>
                  <a:pt x="9664" y="14000"/>
                  <a:pt x="9816" y="14079"/>
                  <a:pt x="9910" y="14211"/>
                </a:cubicBezTo>
                <a:cubicBezTo>
                  <a:pt x="10003" y="14344"/>
                  <a:pt x="10027" y="14513"/>
                  <a:pt x="9973" y="14666"/>
                </a:cubicBezTo>
                <a:lnTo>
                  <a:pt x="8086" y="20000"/>
                </a:lnTo>
                <a:cubicBezTo>
                  <a:pt x="7853" y="20661"/>
                  <a:pt x="8108" y="21395"/>
                  <a:pt x="8701" y="21768"/>
                </a:cubicBezTo>
                <a:cubicBezTo>
                  <a:pt x="9293" y="22142"/>
                  <a:pt x="10066" y="22055"/>
                  <a:pt x="10561" y="21560"/>
                </a:cubicBezTo>
                <a:lnTo>
                  <a:pt x="19561" y="12560"/>
                </a:lnTo>
                <a:cubicBezTo>
                  <a:pt x="19990" y="12131"/>
                  <a:pt x="20118" y="11486"/>
                  <a:pt x="19885" y="10926"/>
                </a:cubicBezTo>
                <a:cubicBezTo>
                  <a:pt x="19653" y="10365"/>
                  <a:pt x="19106" y="10000"/>
                  <a:pt x="18500" y="10000"/>
                </a:cubicBezTo>
                <a:lnTo>
                  <a:pt x="14503" y="10000"/>
                </a:lnTo>
                <a:cubicBezTo>
                  <a:pt x="14340" y="10000"/>
                  <a:pt x="14188" y="9921"/>
                  <a:pt x="14094" y="9789"/>
                </a:cubicBezTo>
                <a:cubicBezTo>
                  <a:pt x="14000" y="9656"/>
                  <a:pt x="13977" y="9486"/>
                  <a:pt x="14031" y="9333"/>
                </a:cubicBezTo>
                <a:close/>
              </a:path>
            </a:pathLst>
          </a:custGeom>
          <a:noFill/>
          <a:ln w="16932" cap="rnd">
            <a:solidFill>
              <a:srgbClr val="2DD4BF"/>
            </a:solidFill>
            <a:round/>
          </a:ln>
        </p:spPr>
      </p:sp>
      <p:sp>
        <p:nvSpPr>
          <p:cNvPr id="151" name="text126"/>
          <p:cNvSpPr txBox="1"/>
          <p:nvPr/>
        </p:nvSpPr>
        <p:spPr>
          <a:xfrm>
            <a:off x="9563161" y="4414632"/>
            <a:ext cx="1917222" cy="19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buNone/>
            </a:pPr>
            <a:r>
              <a:rPr lang="en" sz="1200" b="1" i="0" dirty="0">
                <a:solidFill>
                  <a:srgbClr val="E8EDF7"/>
                </a:solidFill>
                <a:latin typeface="Helvetica Neue"/>
                <a:ea typeface="Helvetica Neue"/>
                <a:cs typeface="Helvetica Neue"/>
              </a:rPr>
              <a:t>Redis</a:t>
            </a:r>
            <a:endParaRPr lang="en" sz="1200" dirty="0"/>
          </a:p>
        </p:txBody>
      </p:sp>
      <p:sp>
        <p:nvSpPr>
          <p:cNvPr id="152" name="text127"/>
          <p:cNvSpPr txBox="1"/>
          <p:nvPr/>
        </p:nvSpPr>
        <p:spPr>
          <a:xfrm>
            <a:off x="9563161" y="4625492"/>
            <a:ext cx="1917222" cy="158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rgbClr val="97A3BF"/>
                </a:solidFill>
                <a:latin typeface="Helvetica Neue"/>
                <a:ea typeface="Helvetica Neue"/>
                <a:cs typeface="Helvetica Neue"/>
              </a:rPr>
              <a:t>Cache · sessions · queues</a:t>
            </a:r>
            <a:endParaRPr lang="en" sz="1000" dirty="0"/>
          </a:p>
        </p:txBody>
      </p:sp>
      <p:sp>
        <p:nvSpPr>
          <p:cNvPr id="153" name="row128-surface"/>
          <p:cNvSpPr/>
          <p:nvPr/>
        </p:nvSpPr>
        <p:spPr>
          <a:xfrm>
            <a:off x="9144091" y="4901275"/>
            <a:ext cx="2450592" cy="457200"/>
          </a:xfrm>
          <a:prstGeom prst="roundRect">
            <a:avLst>
              <a:gd name="adj" fmla="val 22222"/>
            </a:avLst>
          </a:prstGeom>
          <a:solidFill>
            <a:srgbClr val="111A33"/>
          </a:solidFill>
          <a:ln w="12700">
            <a:solidFill>
              <a:srgbClr val="1A5552"/>
            </a:solidFill>
          </a:ln>
        </p:spPr>
      </p:sp>
      <p:sp>
        <p:nvSpPr>
          <p:cNvPr id="154" name="icon12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58391" y="5028194"/>
            <a:ext cx="203180" cy="203180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10000" y="16000"/>
                </a:moveTo>
                <a:lnTo>
                  <a:pt x="10010" y="16000"/>
                </a:lnTo>
              </a:path>
              <a:path w="24000" h="24000" fill="none">
                <a:moveTo>
                  <a:pt x="2212" y="11577"/>
                </a:moveTo>
                <a:cubicBezTo>
                  <a:pt x="2073" y="11855"/>
                  <a:pt x="2000" y="12162"/>
                  <a:pt x="2000" y="12473"/>
                </a:cubicBezTo>
                <a:lnTo>
                  <a:pt x="2000" y="18000"/>
                </a:lnTo>
                <a:cubicBezTo>
                  <a:pt x="2000" y="19105"/>
                  <a:pt x="2895" y="20000"/>
                  <a:pt x="4000" y="20000"/>
                </a:cubicBezTo>
                <a:lnTo>
                  <a:pt x="20000" y="20000"/>
                </a:lnTo>
                <a:cubicBezTo>
                  <a:pt x="21105" y="20000"/>
                  <a:pt x="22000" y="19105"/>
                  <a:pt x="22000" y="18000"/>
                </a:cubicBezTo>
                <a:lnTo>
                  <a:pt x="22000" y="12473"/>
                </a:lnTo>
                <a:cubicBezTo>
                  <a:pt x="22000" y="12162"/>
                  <a:pt x="21927" y="11855"/>
                  <a:pt x="21788" y="11577"/>
                </a:cubicBezTo>
                <a:lnTo>
                  <a:pt x="18550" y="5110"/>
                </a:lnTo>
                <a:cubicBezTo>
                  <a:pt x="18212" y="4430"/>
                  <a:pt x="17519" y="4000"/>
                  <a:pt x="16760" y="4000"/>
                </a:cubicBezTo>
                <a:lnTo>
                  <a:pt x="7240" y="4000"/>
                </a:lnTo>
                <a:cubicBezTo>
                  <a:pt x="6481" y="4000"/>
                  <a:pt x="5788" y="4430"/>
                  <a:pt x="5450" y="5110"/>
                </a:cubicBezTo>
                <a:close/>
              </a:path>
              <a:path w="24000" h="24000" fill="none">
                <a:moveTo>
                  <a:pt x="21946" y="12013"/>
                </a:moveTo>
                <a:lnTo>
                  <a:pt x="2054" y="12013"/>
                </a:lnTo>
              </a:path>
              <a:path w="24000" h="24000" fill="none">
                <a:moveTo>
                  <a:pt x="6000" y="16000"/>
                </a:moveTo>
                <a:lnTo>
                  <a:pt x="6010" y="16000"/>
                </a:lnTo>
              </a:path>
            </a:pathLst>
          </a:custGeom>
          <a:noFill/>
          <a:ln w="16932" cap="rnd">
            <a:solidFill>
              <a:srgbClr val="2DD4BF"/>
            </a:solidFill>
            <a:round/>
          </a:ln>
        </p:spPr>
      </p:sp>
      <p:sp>
        <p:nvSpPr>
          <p:cNvPr id="155" name="text131"/>
          <p:cNvSpPr txBox="1"/>
          <p:nvPr/>
        </p:nvSpPr>
        <p:spPr>
          <a:xfrm>
            <a:off x="9563161" y="4944984"/>
            <a:ext cx="1917222" cy="19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buNone/>
            </a:pPr>
            <a:r>
              <a:rPr lang="en" sz="1200" b="1" i="0" dirty="0">
                <a:solidFill>
                  <a:srgbClr val="E8EDF7"/>
                </a:solidFill>
                <a:latin typeface="Helvetica Neue"/>
                <a:ea typeface="Helvetica Neue"/>
                <a:cs typeface="Helvetica Neue"/>
              </a:rPr>
              <a:t>Object storage</a:t>
            </a:r>
            <a:endParaRPr lang="en" sz="1200" dirty="0"/>
          </a:p>
        </p:txBody>
      </p:sp>
      <p:sp>
        <p:nvSpPr>
          <p:cNvPr id="156" name="text132"/>
          <p:cNvSpPr txBox="1"/>
          <p:nvPr/>
        </p:nvSpPr>
        <p:spPr>
          <a:xfrm>
            <a:off x="9563161" y="5155844"/>
            <a:ext cx="1917222" cy="158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rgbClr val="97A3BF"/>
                </a:solidFill>
                <a:latin typeface="Helvetica Neue"/>
                <a:ea typeface="Helvetica Neue"/>
                <a:cs typeface="Helvetica Neue"/>
              </a:rPr>
              <a:t>S3 · documents &amp; media</a:t>
            </a:r>
            <a:endParaRPr lang="en" sz="1000" dirty="0"/>
          </a:p>
        </p:txBody>
      </p:sp>
      <p:sp>
        <p:nvSpPr>
          <p:cNvPr id="157" name="free133-surface"/>
          <p:cNvSpPr/>
          <p:nvPr/>
        </p:nvSpPr>
        <p:spPr>
          <a:xfrm>
            <a:off x="457200" y="5596128"/>
            <a:ext cx="11277295" cy="804672"/>
          </a:xfrm>
          <a:prstGeom prst="roundRect">
            <a:avLst>
              <a:gd name="adj" fmla="val 15783"/>
            </a:avLst>
          </a:prstGeom>
          <a:solidFill>
            <a:srgbClr val="0E1730"/>
          </a:solidFill>
          <a:ln w="12700">
            <a:solidFill>
              <a:srgbClr val="2A3757"/>
            </a:solidFill>
          </a:ln>
        </p:spPr>
      </p:sp>
      <p:sp>
        <p:nvSpPr>
          <p:cNvPr id="158" name="text134"/>
          <p:cNvSpPr txBox="1"/>
          <p:nvPr/>
        </p:nvSpPr>
        <p:spPr>
          <a:xfrm>
            <a:off x="658368" y="5705856"/>
            <a:ext cx="19202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buNone/>
            </a:pPr>
            <a:r>
              <a:rPr lang="en" sz="1000" b="0" i="0" spc="120" dirty="0">
                <a:solidFill>
                  <a:schemeClr val="accent2"/>
                </a:solidFill>
                <a:latin typeface="Menlo"/>
                <a:ea typeface="Menlo"/>
                <a:cs typeface="Menlo"/>
              </a:rPr>
              <a:t>INFRASTRUCTURE LAYER</a:t>
            </a:r>
            <a:endParaRPr lang="en" sz="1000" dirty="0"/>
          </a:p>
        </p:txBody>
      </p:sp>
      <p:sp>
        <p:nvSpPr>
          <p:cNvPr id="159" name="text135"/>
          <p:cNvSpPr txBox="1"/>
          <p:nvPr/>
        </p:nvSpPr>
        <p:spPr>
          <a:xfrm>
            <a:off x="658368" y="5925312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rgbClr val="97A3BF"/>
                </a:solidFill>
                <a:latin typeface="Helvetica Neue"/>
                <a:ea typeface="Helvetica Neue"/>
                <a:cs typeface="Helvetica Neue"/>
              </a:rPr>
              <a:t>Runs, observes and ships everything above</a:t>
            </a:r>
            <a:endParaRPr lang="en" sz="1000" dirty="0"/>
          </a:p>
        </p:txBody>
      </p:sp>
      <p:sp>
        <p:nvSpPr>
          <p:cNvPr id="160" name="row136-surface"/>
          <p:cNvSpPr/>
          <p:nvPr/>
        </p:nvSpPr>
        <p:spPr>
          <a:xfrm>
            <a:off x="2697480" y="5705856"/>
            <a:ext cx="2852928" cy="585216"/>
          </a:xfrm>
          <a:prstGeom prst="roundRect">
            <a:avLst>
              <a:gd name="adj" fmla="val 17361"/>
            </a:avLst>
          </a:prstGeom>
          <a:solidFill>
            <a:srgbClr val="152040"/>
          </a:solidFill>
          <a:ln w="12700">
            <a:solidFill>
              <a:srgbClr val="2A3757"/>
            </a:solidFill>
          </a:ln>
        </p:spPr>
      </p:sp>
      <p:sp>
        <p:nvSpPr>
          <p:cNvPr id="161" name="icon13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11780" y="5884164"/>
            <a:ext cx="228600" cy="228600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22000" y="7700"/>
                </a:moveTo>
                <a:cubicBezTo>
                  <a:pt x="22000" y="7100"/>
                  <a:pt x="21600" y="6500"/>
                  <a:pt x="21200" y="6200"/>
                </a:cubicBezTo>
                <a:lnTo>
                  <a:pt x="14900" y="2300"/>
                </a:lnTo>
                <a:cubicBezTo>
                  <a:pt x="14373" y="2000"/>
                  <a:pt x="13727" y="2000"/>
                  <a:pt x="13200" y="2300"/>
                </a:cubicBezTo>
                <a:lnTo>
                  <a:pt x="2900" y="8300"/>
                </a:lnTo>
                <a:cubicBezTo>
                  <a:pt x="2400" y="8500"/>
                  <a:pt x="2000" y="9100"/>
                  <a:pt x="2000" y="9700"/>
                </a:cubicBezTo>
                <a:lnTo>
                  <a:pt x="2000" y="16300"/>
                </a:lnTo>
                <a:cubicBezTo>
                  <a:pt x="2000" y="16800"/>
                  <a:pt x="2400" y="17500"/>
                  <a:pt x="2800" y="17800"/>
                </a:cubicBezTo>
                <a:lnTo>
                  <a:pt x="9100" y="21700"/>
                </a:lnTo>
                <a:cubicBezTo>
                  <a:pt x="9627" y="22000"/>
                  <a:pt x="10273" y="22000"/>
                  <a:pt x="10800" y="21700"/>
                </a:cubicBezTo>
                <a:lnTo>
                  <a:pt x="21100" y="15700"/>
                </a:lnTo>
                <a:cubicBezTo>
                  <a:pt x="21600" y="15400"/>
                  <a:pt x="22000" y="14700"/>
                  <a:pt x="22000" y="14200"/>
                </a:cubicBezTo>
                <a:close/>
              </a:path>
              <a:path w="24000" h="24000" fill="none">
                <a:moveTo>
                  <a:pt x="10000" y="21900"/>
                </a:moveTo>
                <a:lnTo>
                  <a:pt x="10000" y="14000"/>
                </a:lnTo>
                <a:lnTo>
                  <a:pt x="2100" y="9100"/>
                </a:lnTo>
              </a:path>
              <a:path w="24000" h="24000" fill="none">
                <a:moveTo>
                  <a:pt x="10000" y="14000"/>
                </a:moveTo>
                <a:lnTo>
                  <a:pt x="21900" y="7100"/>
                </a:lnTo>
              </a:path>
              <a:path w="24000" h="24000" fill="none">
                <a:moveTo>
                  <a:pt x="14000" y="19800"/>
                </a:moveTo>
                <a:lnTo>
                  <a:pt x="14000" y="11700"/>
                </a:lnTo>
              </a:path>
              <a:path w="24000" h="24000" fill="none">
                <a:moveTo>
                  <a:pt x="18000" y="17500"/>
                </a:moveTo>
                <a:lnTo>
                  <a:pt x="18000" y="9400"/>
                </a:lnTo>
              </a:path>
            </a:pathLst>
          </a:custGeom>
          <a:noFill/>
          <a:ln w="19050" cap="rnd">
            <a:solidFill>
              <a:schemeClr val="accent2"/>
            </a:solidFill>
            <a:round/>
          </a:ln>
        </p:spPr>
      </p:sp>
      <p:sp>
        <p:nvSpPr>
          <p:cNvPr id="162" name="text139"/>
          <p:cNvSpPr txBox="1"/>
          <p:nvPr/>
        </p:nvSpPr>
        <p:spPr>
          <a:xfrm>
            <a:off x="3141970" y="5813664"/>
            <a:ext cx="2294138" cy="19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buNone/>
            </a:pPr>
            <a:r>
              <a:rPr lang="en" sz="1200" b="1" i="0" dirty="0">
                <a:solidFill>
                  <a:srgbClr val="E8EDF7"/>
                </a:solidFill>
                <a:latin typeface="Helvetica Neue"/>
                <a:ea typeface="Helvetica Neue"/>
                <a:cs typeface="Helvetica Neue"/>
              </a:rPr>
              <a:t>Kubernetes</a:t>
            </a:r>
            <a:endParaRPr lang="en" sz="1200" dirty="0"/>
          </a:p>
        </p:txBody>
      </p:sp>
      <p:sp>
        <p:nvSpPr>
          <p:cNvPr id="163" name="text140"/>
          <p:cNvSpPr txBox="1"/>
          <p:nvPr/>
        </p:nvSpPr>
        <p:spPr>
          <a:xfrm>
            <a:off x="3141970" y="6024524"/>
            <a:ext cx="2294138" cy="158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rgbClr val="97A3BF"/>
                </a:solidFill>
                <a:latin typeface="Helvetica Neue"/>
                <a:ea typeface="Helvetica Neue"/>
                <a:cs typeface="Helvetica Neue"/>
              </a:rPr>
              <a:t>EKS · autoscaling node pools</a:t>
            </a:r>
            <a:endParaRPr lang="en" sz="1000" dirty="0"/>
          </a:p>
        </p:txBody>
      </p:sp>
      <p:sp>
        <p:nvSpPr>
          <p:cNvPr id="164" name="row141-surface"/>
          <p:cNvSpPr/>
          <p:nvPr/>
        </p:nvSpPr>
        <p:spPr>
          <a:xfrm>
            <a:off x="5742432" y="5705856"/>
            <a:ext cx="2852928" cy="585216"/>
          </a:xfrm>
          <a:prstGeom prst="roundRect">
            <a:avLst>
              <a:gd name="adj" fmla="val 17361"/>
            </a:avLst>
          </a:prstGeom>
          <a:solidFill>
            <a:srgbClr val="152040"/>
          </a:solidFill>
          <a:ln w="12700">
            <a:solidFill>
              <a:srgbClr val="2A3757"/>
            </a:solidFill>
          </a:ln>
        </p:spPr>
      </p:sp>
      <p:sp>
        <p:nvSpPr>
          <p:cNvPr id="165" name="icon14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56732" y="5884164"/>
            <a:ext cx="228600" cy="228600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22000" y="12000"/>
                </a:moveTo>
                <a:lnTo>
                  <a:pt x="19520" y="12000"/>
                </a:lnTo>
                <a:cubicBezTo>
                  <a:pt x="18622" y="11998"/>
                  <a:pt x="17833" y="12595"/>
                  <a:pt x="17590" y="13460"/>
                </a:cubicBezTo>
                <a:lnTo>
                  <a:pt x="15240" y="21820"/>
                </a:lnTo>
                <a:cubicBezTo>
                  <a:pt x="15209" y="21927"/>
                  <a:pt x="15111" y="22000"/>
                  <a:pt x="15000" y="22000"/>
                </a:cubicBezTo>
                <a:cubicBezTo>
                  <a:pt x="14889" y="22000"/>
                  <a:pt x="14791" y="21927"/>
                  <a:pt x="14760" y="21820"/>
                </a:cubicBezTo>
                <a:lnTo>
                  <a:pt x="9240" y="2180"/>
                </a:lnTo>
                <a:cubicBezTo>
                  <a:pt x="9209" y="2073"/>
                  <a:pt x="9111" y="2000"/>
                  <a:pt x="9000" y="2000"/>
                </a:cubicBezTo>
                <a:cubicBezTo>
                  <a:pt x="8889" y="2000"/>
                  <a:pt x="8791" y="2073"/>
                  <a:pt x="8760" y="2180"/>
                </a:cubicBezTo>
                <a:lnTo>
                  <a:pt x="6410" y="10540"/>
                </a:lnTo>
                <a:cubicBezTo>
                  <a:pt x="6168" y="11401"/>
                  <a:pt x="5384" y="11997"/>
                  <a:pt x="4490" y="12000"/>
                </a:cubicBezTo>
                <a:lnTo>
                  <a:pt x="2000" y="12000"/>
                </a:lnTo>
              </a:path>
            </a:pathLst>
          </a:custGeom>
          <a:noFill/>
          <a:ln w="19050" cap="rnd">
            <a:solidFill>
              <a:srgbClr val="A78BFA"/>
            </a:solidFill>
            <a:round/>
          </a:ln>
        </p:spPr>
      </p:sp>
      <p:sp>
        <p:nvSpPr>
          <p:cNvPr id="166" name="text144"/>
          <p:cNvSpPr txBox="1"/>
          <p:nvPr/>
        </p:nvSpPr>
        <p:spPr>
          <a:xfrm>
            <a:off x="6186922" y="5813664"/>
            <a:ext cx="2294138" cy="19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buNone/>
            </a:pPr>
            <a:r>
              <a:rPr lang="en" sz="1200" b="1" i="0" dirty="0">
                <a:solidFill>
                  <a:srgbClr val="E8EDF7"/>
                </a:solidFill>
                <a:latin typeface="Helvetica Neue"/>
                <a:ea typeface="Helvetica Neue"/>
                <a:cs typeface="Helvetica Neue"/>
              </a:rPr>
              <a:t>Observability</a:t>
            </a:r>
            <a:endParaRPr lang="en" sz="1200" dirty="0"/>
          </a:p>
        </p:txBody>
      </p:sp>
      <p:sp>
        <p:nvSpPr>
          <p:cNvPr id="167" name="text145"/>
          <p:cNvSpPr txBox="1"/>
          <p:nvPr/>
        </p:nvSpPr>
        <p:spPr>
          <a:xfrm>
            <a:off x="6186922" y="6024524"/>
            <a:ext cx="2294138" cy="158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rgbClr val="97A3BF"/>
                </a:solidFill>
                <a:latin typeface="Helvetica Neue"/>
                <a:ea typeface="Helvetica Neue"/>
                <a:cs typeface="Helvetica Neue"/>
              </a:rPr>
              <a:t>OpenTelemetry · metrics, logs, traces</a:t>
            </a:r>
            <a:endParaRPr lang="en" sz="1000" dirty="0"/>
          </a:p>
        </p:txBody>
      </p:sp>
      <p:sp>
        <p:nvSpPr>
          <p:cNvPr id="168" name="row146-surface"/>
          <p:cNvSpPr/>
          <p:nvPr/>
        </p:nvSpPr>
        <p:spPr>
          <a:xfrm>
            <a:off x="8787384" y="5705856"/>
            <a:ext cx="2852928" cy="585216"/>
          </a:xfrm>
          <a:prstGeom prst="roundRect">
            <a:avLst>
              <a:gd name="adj" fmla="val 17361"/>
            </a:avLst>
          </a:prstGeom>
          <a:solidFill>
            <a:srgbClr val="152040"/>
          </a:solidFill>
          <a:ln w="12700">
            <a:solidFill>
              <a:srgbClr val="2A3757"/>
            </a:solidFill>
          </a:ln>
        </p:spPr>
      </p:sp>
      <p:sp>
        <p:nvSpPr>
          <p:cNvPr id="169" name="icon14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01684" y="5884164"/>
            <a:ext cx="228600" cy="228600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15000" y="6000"/>
                </a:moveTo>
                <a:cubicBezTo>
                  <a:pt x="10029" y="6000"/>
                  <a:pt x="6000" y="10029"/>
                  <a:pt x="6000" y="15000"/>
                </a:cubicBezTo>
                <a:lnTo>
                  <a:pt x="6000" y="3000"/>
                </a:lnTo>
              </a:path>
              <a:path w="24000" h="24000" fill="none">
                <a:moveTo>
                  <a:pt x="15000" y="6000"/>
                </a:moveTo>
                <a:cubicBezTo>
                  <a:pt x="15000" y="7657"/>
                  <a:pt x="16343" y="9000"/>
                  <a:pt x="18000" y="9000"/>
                </a:cubicBezTo>
                <a:cubicBezTo>
                  <a:pt x="19657" y="9000"/>
                  <a:pt x="21000" y="7657"/>
                  <a:pt x="21000" y="6000"/>
                </a:cubicBezTo>
                <a:cubicBezTo>
                  <a:pt x="21000" y="4343"/>
                  <a:pt x="19657" y="3000"/>
                  <a:pt x="18000" y="3000"/>
                </a:cubicBezTo>
                <a:cubicBezTo>
                  <a:pt x="16343" y="3000"/>
                  <a:pt x="15000" y="4343"/>
                  <a:pt x="15000" y="6000"/>
                </a:cubicBezTo>
                <a:close/>
              </a:path>
              <a:path w="24000" h="24000" fill="none">
                <a:moveTo>
                  <a:pt x="3000" y="18000"/>
                </a:moveTo>
                <a:cubicBezTo>
                  <a:pt x="3000" y="19657"/>
                  <a:pt x="4343" y="21000"/>
                  <a:pt x="6000" y="21000"/>
                </a:cubicBezTo>
                <a:cubicBezTo>
                  <a:pt x="7657" y="21000"/>
                  <a:pt x="9000" y="19657"/>
                  <a:pt x="9000" y="18000"/>
                </a:cubicBezTo>
                <a:cubicBezTo>
                  <a:pt x="9000" y="16343"/>
                  <a:pt x="7657" y="15000"/>
                  <a:pt x="6000" y="15000"/>
                </a:cubicBezTo>
                <a:cubicBezTo>
                  <a:pt x="4343" y="15000"/>
                  <a:pt x="3000" y="16343"/>
                  <a:pt x="3000" y="18000"/>
                </a:cubicBezTo>
                <a:close/>
              </a:path>
            </a:pathLst>
          </a:custGeom>
          <a:noFill/>
          <a:ln w="19050" cap="rnd">
            <a:solidFill>
              <a:srgbClr val="2DD4BF"/>
            </a:solidFill>
            <a:round/>
          </a:ln>
        </p:spPr>
      </p:sp>
      <p:sp>
        <p:nvSpPr>
          <p:cNvPr id="170" name="text149"/>
          <p:cNvSpPr txBox="1"/>
          <p:nvPr/>
        </p:nvSpPr>
        <p:spPr>
          <a:xfrm>
            <a:off x="9231874" y="5813664"/>
            <a:ext cx="2294138" cy="19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buNone/>
            </a:pPr>
            <a:r>
              <a:rPr lang="en" sz="1200" b="1" i="0" dirty="0">
                <a:solidFill>
                  <a:srgbClr val="E8EDF7"/>
                </a:solidFill>
                <a:latin typeface="Helvetica Neue"/>
                <a:ea typeface="Helvetica Neue"/>
                <a:cs typeface="Helvetica Neue"/>
              </a:rPr>
              <a:t>CI/CD</a:t>
            </a:r>
            <a:endParaRPr lang="en" sz="1200" dirty="0"/>
          </a:p>
        </p:txBody>
      </p:sp>
      <p:sp>
        <p:nvSpPr>
          <p:cNvPr id="171" name="text150"/>
          <p:cNvSpPr txBox="1"/>
          <p:nvPr/>
        </p:nvSpPr>
        <p:spPr>
          <a:xfrm>
            <a:off x="9231874" y="6024524"/>
            <a:ext cx="2294138" cy="158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rgbClr val="97A3BF"/>
                </a:solidFill>
                <a:latin typeface="Helvetica Neue"/>
                <a:ea typeface="Helvetica Neue"/>
                <a:cs typeface="Helvetica Neue"/>
              </a:rPr>
              <a:t>GitHub Actions · Argo CD · canary</a:t>
            </a:r>
            <a:endParaRPr lang="en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ata-stor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1"/>
          <p:cNvSpPr txBox="1"/>
          <p:nvPr/>
        </p:nvSpPr>
        <p:spPr>
          <a:xfrm>
            <a:off x="457200" y="45720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buNone/>
            </a:pPr>
            <a:r>
              <a:rPr lang="en" sz="1050" b="1" i="0" spc="189" dirty="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rPr>
              <a:t>PRODUCT ANALYTICS  ·  JANUARY – JUNE 2024</a:t>
            </a:r>
            <a:endParaRPr lang="en" sz="1050" dirty="0"/>
          </a:p>
        </p:txBody>
      </p:sp>
      <p:sp>
        <p:nvSpPr>
          <p:cNvPr id="3" name="text2"/>
          <p:cNvSpPr>
            <a:spLocks noGrp="1"/>
          </p:cNvSpPr>
          <p:nvPr>
            <p:ph type="title"/>
          </p:nvPr>
        </p:nvSpPr>
        <p:spPr>
          <a:xfrm>
            <a:off x="457200" y="694944"/>
            <a:ext cx="10058400" cy="5852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buNone/>
            </a:pPr>
            <a:r>
              <a:rPr lang="en" sz="3200" b="1" i="0" dirty="0">
                <a:solidFill>
                  <a:schemeClr val="tx1"/>
                </a:solidFill>
                <a:latin typeface="Charter"/>
                <a:ea typeface="Charter"/>
                <a:cs typeface="Charter"/>
              </a:rPr>
              <a:t>From growth to retention: what the data tells us</a:t>
            </a:r>
            <a:endParaRPr lang="en" sz="3200" dirty="0"/>
          </a:p>
        </p:txBody>
      </p:sp>
      <p:sp>
        <p:nvSpPr>
          <p:cNvPr id="4" name="text3"/>
          <p:cNvSpPr txBox="1"/>
          <p:nvPr/>
        </p:nvSpPr>
        <p:spPr>
          <a:xfrm>
            <a:off x="457200" y="1261872"/>
            <a:ext cx="9144091" cy="3108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buNone/>
            </a:pPr>
            <a:r>
              <a:rPr lang="en" sz="1500" b="0" i="1" dirty="0">
                <a:solidFill>
                  <a:schemeClr val="tx2"/>
                </a:solidFill>
                <a:latin typeface="Charter"/>
                <a:ea typeface="Charter"/>
                <a:cs typeface="Charter"/>
              </a:rPr>
              <a:t>Six months of product data, three signals, and one decision.</a:t>
            </a:r>
            <a:endParaRPr lang="en" sz="1500" dirty="0"/>
          </a:p>
        </p:txBody>
      </p:sp>
      <p:sp>
        <p:nvSpPr>
          <p:cNvPr id="5" name="shape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694475"/>
            <a:ext cx="11277295" cy="12710"/>
          </a:xfrm>
          <a:prstGeom prst="rect">
            <a:avLst/>
          </a:prstGeom>
          <a:solidFill>
            <a:schemeClr val="tx1"/>
          </a:solidFill>
          <a:ln>
            <a:noFill/>
          </a:ln>
        </p:spPr>
      </p:sp>
      <p:sp>
        <p:nvSpPr>
          <p:cNvPr id="6" name="shape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4445" y="1920240"/>
            <a:ext cx="9510" cy="340156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7" name="shape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62005" y="1920240"/>
            <a:ext cx="9510" cy="340156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8" name="text7"/>
          <p:cNvSpPr txBox="1"/>
          <p:nvPr/>
        </p:nvSpPr>
        <p:spPr>
          <a:xfrm>
            <a:off x="457200" y="1901952"/>
            <a:ext cx="4343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buNone/>
            </a:pPr>
            <a:r>
              <a:rPr lang="en" sz="1050" b="1" i="0" spc="168" dirty="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rPr>
              <a:t>01    ACQUISITION</a:t>
            </a:r>
            <a:endParaRPr lang="en" sz="1050" dirty="0"/>
          </a:p>
        </p:txBody>
      </p:sp>
      <p:sp>
        <p:nvSpPr>
          <p:cNvPr id="9" name="text8"/>
          <p:cNvSpPr txBox="1"/>
          <p:nvPr/>
        </p:nvSpPr>
        <p:spPr>
          <a:xfrm>
            <a:off x="457200" y="2157984"/>
            <a:ext cx="43434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006"/>
              </a:lnSpc>
              <a:spcBef>
                <a:spcPts val="0"/>
              </a:spcBef>
              <a:buNone/>
            </a:pPr>
            <a:r>
              <a:rPr lang="en" sz="1700" b="1" i="0" dirty="0">
                <a:solidFill>
                  <a:schemeClr val="tx1"/>
                </a:solidFill>
                <a:latin typeface="Charter"/>
                <a:ea typeface="Charter"/>
                <a:cs typeface="Charter"/>
              </a:rPr>
              <a:t>Users are arriving faster every month</a:t>
            </a:r>
            <a:endParaRPr lang="en" sz="1700" dirty="0"/>
          </a:p>
        </p:txBody>
      </p:sp>
      <p:sp>
        <p:nvSpPr>
          <p:cNvPr id="10" name="text9"/>
          <p:cNvSpPr txBox="1"/>
          <p:nvPr/>
        </p:nvSpPr>
        <p:spPr>
          <a:xfrm>
            <a:off x="457200" y="2523744"/>
            <a:ext cx="1783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4180"/>
              </a:lnSpc>
              <a:spcBef>
                <a:spcPts val="0"/>
              </a:spcBef>
              <a:buNone/>
            </a:pPr>
            <a:r>
              <a:rPr lang="en" sz="4400" b="1" i="0" dirty="0">
                <a:solidFill>
                  <a:schemeClr val="tx1"/>
                </a:solidFill>
                <a:latin typeface="Charter"/>
                <a:ea typeface="Charter"/>
                <a:cs typeface="Charter"/>
              </a:rPr>
              <a:t>+88%</a:t>
            </a:r>
            <a:endParaRPr lang="en" sz="4400" dirty="0"/>
          </a:p>
        </p:txBody>
      </p:sp>
      <p:sp>
        <p:nvSpPr>
          <p:cNvPr id="11" name="text10"/>
          <p:cNvSpPr txBox="1"/>
          <p:nvPr/>
        </p:nvSpPr>
        <p:spPr>
          <a:xfrm>
            <a:off x="2267712" y="2633472"/>
            <a:ext cx="2532888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buNone/>
            </a:pPr>
            <a:r>
              <a:rPr lang="en" sz="1200" b="0" i="0" dirty="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monthly active users,</a:t>
            </a:r>
            <a:endParaRPr lang="en" sz="1200" dirty="0"/>
          </a:p>
          <a:p>
            <a:pPr algn="l">
              <a:lnSpc>
                <a:spcPts val="1560"/>
              </a:lnSpc>
              <a:spcBef>
                <a:spcPts val="420"/>
              </a:spcBef>
              <a:buNone/>
            </a:pPr>
            <a:r>
              <a:rPr lang="en" sz="1200" b="0" i="0" dirty="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42K in January, 79K in June</a:t>
            </a:r>
            <a:endParaRPr lang="en" sz="1200" dirty="0"/>
          </a:p>
        </p:txBody>
      </p:sp>
      <p:graphicFrame>
        <p:nvGraphicFramePr>
          <p:cNvPr id="12" name="chart11" descr="Monthly active users in thousands, January to June: 42, 47, 53, 61, 68, 79; June highlighted"/>
          <p:cNvGraphicFramePr/>
          <p:nvPr/>
        </p:nvGraphicFramePr>
        <p:xfrm>
          <a:off x="365760" y="3218688"/>
          <a:ext cx="4480560" cy="215798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12"/>
          <p:cNvSpPr txBox="1"/>
          <p:nvPr/>
        </p:nvSpPr>
        <p:spPr>
          <a:xfrm>
            <a:off x="5257800" y="1901952"/>
            <a:ext cx="28803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buNone/>
            </a:pPr>
            <a:r>
              <a:rPr lang="en" sz="1050" b="1" i="0" spc="168" dirty="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rPr>
              <a:t>02    RETENTION</a:t>
            </a:r>
            <a:endParaRPr lang="en" sz="1050" dirty="0"/>
          </a:p>
        </p:txBody>
      </p:sp>
      <p:sp>
        <p:nvSpPr>
          <p:cNvPr id="14" name="text13"/>
          <p:cNvSpPr txBox="1"/>
          <p:nvPr/>
        </p:nvSpPr>
        <p:spPr>
          <a:xfrm>
            <a:off x="5257800" y="2157984"/>
            <a:ext cx="288036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006"/>
              </a:lnSpc>
              <a:spcBef>
                <a:spcPts val="0"/>
              </a:spcBef>
              <a:buNone/>
            </a:pPr>
            <a:r>
              <a:rPr lang="en" sz="1700" b="1" i="0" dirty="0">
                <a:solidFill>
                  <a:schemeClr val="tx1"/>
                </a:solidFill>
                <a:latin typeface="Charter"/>
                <a:ea typeface="Charter"/>
                <a:cs typeface="Charter"/>
              </a:rPr>
              <a:t>Cohorts settle by month 3</a:t>
            </a:r>
            <a:endParaRPr lang="en" sz="1700" dirty="0"/>
          </a:p>
        </p:txBody>
      </p:sp>
      <p:sp>
        <p:nvSpPr>
          <p:cNvPr id="15" name="text14"/>
          <p:cNvSpPr txBox="1"/>
          <p:nvPr/>
        </p:nvSpPr>
        <p:spPr>
          <a:xfrm>
            <a:off x="5257800" y="2523744"/>
            <a:ext cx="1783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4180"/>
              </a:lnSpc>
              <a:spcBef>
                <a:spcPts val="0"/>
              </a:spcBef>
              <a:buNone/>
            </a:pPr>
            <a:r>
              <a:rPr lang="en" sz="4400" b="1" i="0" dirty="0">
                <a:solidFill>
                  <a:schemeClr val="tx1"/>
                </a:solidFill>
                <a:latin typeface="Charter"/>
                <a:ea typeface="Charter"/>
                <a:cs typeface="Charter"/>
              </a:rPr>
              <a:t>62%</a:t>
            </a:r>
            <a:endParaRPr lang="en" sz="4400" dirty="0"/>
          </a:p>
        </p:txBody>
      </p:sp>
      <p:sp>
        <p:nvSpPr>
          <p:cNvPr id="16" name="text15"/>
          <p:cNvSpPr txBox="1"/>
          <p:nvPr/>
        </p:nvSpPr>
        <p:spPr>
          <a:xfrm>
            <a:off x="7068312" y="2633472"/>
            <a:ext cx="1069848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buNone/>
            </a:pPr>
            <a:r>
              <a:rPr lang="en" sz="1200" b="0" i="0" dirty="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still active</a:t>
            </a:r>
            <a:endParaRPr lang="en" sz="1200" dirty="0"/>
          </a:p>
          <a:p>
            <a:pPr algn="l">
              <a:lnSpc>
                <a:spcPts val="1560"/>
              </a:lnSpc>
              <a:spcBef>
                <a:spcPts val="420"/>
              </a:spcBef>
              <a:buNone/>
            </a:pPr>
            <a:r>
              <a:rPr lang="en" sz="1200" b="0" i="0" dirty="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at month 6</a:t>
            </a:r>
            <a:endParaRPr lang="en" sz="1200" dirty="0"/>
          </a:p>
        </p:txBody>
      </p:sp>
      <p:sp>
        <p:nvSpPr>
          <p:cNvPr id="17" name="shape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32120" y="3456432"/>
            <a:ext cx="2468880" cy="1517904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0"/>
                </a:moveTo>
                <a:lnTo>
                  <a:pt x="200" y="180"/>
                </a:lnTo>
                <a:lnTo>
                  <a:pt x="400" y="280"/>
                </a:lnTo>
                <a:lnTo>
                  <a:pt x="600" y="330"/>
                </a:lnTo>
                <a:lnTo>
                  <a:pt x="800" y="360"/>
                </a:lnTo>
                <a:lnTo>
                  <a:pt x="1000" y="380"/>
                </a:lnTo>
                <a:lnTo>
                  <a:pt x="1000" y="1000"/>
                </a:lnTo>
                <a:lnTo>
                  <a:pt x="0" y="1000"/>
                </a:lnTo>
                <a:close/>
              </a:path>
            </a:pathLst>
          </a:custGeom>
          <a:solidFill>
            <a:srgbClr val="ECE6DA"/>
          </a:solidFill>
          <a:ln>
            <a:noFill/>
          </a:ln>
        </p:spPr>
      </p:sp>
      <p:sp>
        <p:nvSpPr>
          <p:cNvPr id="18" name="shape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32120" y="4969581"/>
            <a:ext cx="2468880" cy="9510"/>
          </a:xfrm>
          <a:prstGeom prst="rect">
            <a:avLst/>
          </a:prstGeom>
          <a:solidFill>
            <a:schemeClr val="tx2"/>
          </a:solidFill>
          <a:ln>
            <a:noFill/>
          </a:ln>
        </p:spPr>
      </p:sp>
      <p:sp>
        <p:nvSpPr>
          <p:cNvPr id="19" name="shape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32120" y="3453232"/>
            <a:ext cx="2468880" cy="630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0" name="text19"/>
          <p:cNvSpPr txBox="1"/>
          <p:nvPr/>
        </p:nvSpPr>
        <p:spPr>
          <a:xfrm>
            <a:off x="5074920" y="3364992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100</a:t>
            </a:r>
            <a:endParaRPr lang="en" sz="1000" dirty="0"/>
          </a:p>
        </p:txBody>
      </p:sp>
      <p:sp>
        <p:nvSpPr>
          <p:cNvPr id="21" name="text20"/>
          <p:cNvSpPr txBox="1"/>
          <p:nvPr/>
        </p:nvSpPr>
        <p:spPr>
          <a:xfrm>
            <a:off x="5074920" y="4873752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0</a:t>
            </a:r>
            <a:endParaRPr lang="en" sz="1000" dirty="0"/>
          </a:p>
        </p:txBody>
      </p:sp>
      <p:sp>
        <p:nvSpPr>
          <p:cNvPr id="22" name="shape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32120" y="3456432"/>
            <a:ext cx="2468880" cy="1517904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0"/>
                </a:moveTo>
                <a:lnTo>
                  <a:pt x="200" y="180"/>
                </a:lnTo>
                <a:lnTo>
                  <a:pt x="400" y="280"/>
                </a:lnTo>
                <a:lnTo>
                  <a:pt x="600" y="330"/>
                </a:lnTo>
                <a:lnTo>
                  <a:pt x="800" y="360"/>
                </a:lnTo>
                <a:lnTo>
                  <a:pt x="1000" y="380"/>
                </a:lnTo>
              </a:path>
            </a:pathLst>
          </a:custGeom>
          <a:noFill/>
          <a:ln w="25400">
            <a:solidFill>
              <a:schemeClr val="tx1"/>
            </a:solidFill>
          </a:ln>
        </p:spPr>
      </p:sp>
      <p:sp>
        <p:nvSpPr>
          <p:cNvPr id="23" name="shape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95544" y="3419856"/>
            <a:ext cx="73152" cy="73061"/>
          </a:xfrm>
          <a:prstGeom prst="ellipse">
            <a:avLst/>
          </a:prstGeom>
          <a:solidFill>
            <a:schemeClr val="tx1"/>
          </a:solidFill>
          <a:ln>
            <a:noFill/>
          </a:ln>
        </p:spPr>
      </p:sp>
      <p:sp>
        <p:nvSpPr>
          <p:cNvPr id="24" name="text23"/>
          <p:cNvSpPr txBox="1"/>
          <p:nvPr/>
        </p:nvSpPr>
        <p:spPr>
          <a:xfrm>
            <a:off x="5303520" y="5020147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M1</a:t>
            </a:r>
            <a:endParaRPr lang="en" sz="1000" dirty="0"/>
          </a:p>
        </p:txBody>
      </p:sp>
      <p:sp>
        <p:nvSpPr>
          <p:cNvPr id="25" name="shape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89320" y="3693079"/>
            <a:ext cx="73152" cy="73061"/>
          </a:xfrm>
          <a:prstGeom prst="ellipse">
            <a:avLst/>
          </a:prstGeom>
          <a:solidFill>
            <a:schemeClr val="tx1"/>
          </a:solidFill>
          <a:ln>
            <a:noFill/>
          </a:ln>
        </p:spPr>
      </p:sp>
      <p:sp>
        <p:nvSpPr>
          <p:cNvPr id="26" name="text25"/>
          <p:cNvSpPr txBox="1"/>
          <p:nvPr/>
        </p:nvSpPr>
        <p:spPr>
          <a:xfrm>
            <a:off x="5797296" y="5020147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M2</a:t>
            </a:r>
            <a:endParaRPr lang="en" sz="1000" dirty="0"/>
          </a:p>
        </p:txBody>
      </p:sp>
      <p:sp>
        <p:nvSpPr>
          <p:cNvPr id="27" name="shape2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83096" y="3844869"/>
            <a:ext cx="73152" cy="73061"/>
          </a:xfrm>
          <a:prstGeom prst="ellipse">
            <a:avLst/>
          </a:prstGeom>
          <a:solidFill>
            <a:schemeClr val="tx1"/>
          </a:solidFill>
          <a:ln>
            <a:noFill/>
          </a:ln>
        </p:spPr>
      </p:sp>
      <p:sp>
        <p:nvSpPr>
          <p:cNvPr id="28" name="text27"/>
          <p:cNvSpPr txBox="1"/>
          <p:nvPr/>
        </p:nvSpPr>
        <p:spPr>
          <a:xfrm>
            <a:off x="6291072" y="5020147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M3</a:t>
            </a:r>
            <a:endParaRPr lang="en" sz="1000" dirty="0"/>
          </a:p>
        </p:txBody>
      </p:sp>
      <p:sp>
        <p:nvSpPr>
          <p:cNvPr id="29" name="shape2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76872" y="3920764"/>
            <a:ext cx="73152" cy="73061"/>
          </a:xfrm>
          <a:prstGeom prst="ellipse">
            <a:avLst/>
          </a:prstGeom>
          <a:solidFill>
            <a:schemeClr val="tx1"/>
          </a:solidFill>
          <a:ln>
            <a:noFill/>
          </a:ln>
        </p:spPr>
      </p:sp>
      <p:sp>
        <p:nvSpPr>
          <p:cNvPr id="30" name="text29"/>
          <p:cNvSpPr txBox="1"/>
          <p:nvPr/>
        </p:nvSpPr>
        <p:spPr>
          <a:xfrm>
            <a:off x="6784848" y="5020147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M4</a:t>
            </a:r>
            <a:endParaRPr lang="en" sz="1000" dirty="0"/>
          </a:p>
        </p:txBody>
      </p:sp>
      <p:sp>
        <p:nvSpPr>
          <p:cNvPr id="31" name="shape3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70648" y="3966301"/>
            <a:ext cx="73152" cy="73061"/>
          </a:xfrm>
          <a:prstGeom prst="ellipse">
            <a:avLst/>
          </a:prstGeom>
          <a:solidFill>
            <a:schemeClr val="tx1"/>
          </a:solidFill>
          <a:ln>
            <a:noFill/>
          </a:ln>
        </p:spPr>
      </p:sp>
      <p:sp>
        <p:nvSpPr>
          <p:cNvPr id="32" name="text31"/>
          <p:cNvSpPr txBox="1"/>
          <p:nvPr/>
        </p:nvSpPr>
        <p:spPr>
          <a:xfrm>
            <a:off x="7278624" y="5020147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M5</a:t>
            </a:r>
            <a:endParaRPr lang="en" sz="1000" dirty="0"/>
          </a:p>
        </p:txBody>
      </p:sp>
      <p:sp>
        <p:nvSpPr>
          <p:cNvPr id="33" name="shape3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41564" y="3973800"/>
            <a:ext cx="118872" cy="11887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4" name="text33"/>
          <p:cNvSpPr txBox="1"/>
          <p:nvPr/>
        </p:nvSpPr>
        <p:spPr>
          <a:xfrm>
            <a:off x="7772400" y="5020147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M6</a:t>
            </a:r>
            <a:endParaRPr lang="en" sz="1000" dirty="0"/>
          </a:p>
        </p:txBody>
      </p:sp>
      <p:sp>
        <p:nvSpPr>
          <p:cNvPr id="35" name="shape3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19672" y="3719688"/>
            <a:ext cx="1481328" cy="127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6" name="shape3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13363" y="3725997"/>
            <a:ext cx="12710" cy="7306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7" name="shape3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94691" y="3725997"/>
            <a:ext cx="12710" cy="1975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8" name="text37"/>
          <p:cNvSpPr txBox="1"/>
          <p:nvPr/>
        </p:nvSpPr>
        <p:spPr>
          <a:xfrm>
            <a:off x="6473952" y="3479109"/>
            <a:ext cx="1828891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313"/>
              </a:lnSpc>
              <a:spcBef>
                <a:spcPts val="0"/>
              </a:spcBef>
              <a:buNone/>
            </a:pPr>
            <a:r>
              <a:rPr lang="en" sz="1050" b="1" i="0" dirty="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rPr>
              <a:t>−10 pts in three months</a:t>
            </a:r>
            <a:endParaRPr lang="en" sz="1050" dirty="0"/>
          </a:p>
        </p:txBody>
      </p:sp>
      <p:sp>
        <p:nvSpPr>
          <p:cNvPr id="39" name="text38"/>
          <p:cNvSpPr txBox="1"/>
          <p:nvPr/>
        </p:nvSpPr>
        <p:spPr>
          <a:xfrm>
            <a:off x="7635331" y="4124676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>
              <a:lnSpc>
                <a:spcPts val="1313"/>
              </a:lnSpc>
              <a:spcBef>
                <a:spcPts val="0"/>
              </a:spcBef>
              <a:buNone/>
            </a:pPr>
            <a:r>
              <a:rPr lang="en" sz="1050" b="1" i="0" dirty="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rPr>
              <a:t>62%</a:t>
            </a:r>
            <a:endParaRPr lang="en" sz="1050" dirty="0"/>
          </a:p>
        </p:txBody>
      </p:sp>
      <p:sp>
        <p:nvSpPr>
          <p:cNvPr id="40" name="text39"/>
          <p:cNvSpPr txBox="1"/>
          <p:nvPr/>
        </p:nvSpPr>
        <p:spPr>
          <a:xfrm>
            <a:off x="8595360" y="1901952"/>
            <a:ext cx="3139135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buNone/>
            </a:pPr>
            <a:r>
              <a:rPr lang="en" sz="1050" b="1" i="0" spc="168" dirty="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rPr>
              <a:t>03    ACTIVATION</a:t>
            </a:r>
            <a:endParaRPr lang="en" sz="1050" dirty="0"/>
          </a:p>
        </p:txBody>
      </p:sp>
      <p:sp>
        <p:nvSpPr>
          <p:cNvPr id="41" name="text40"/>
          <p:cNvSpPr txBox="1"/>
          <p:nvPr/>
        </p:nvSpPr>
        <p:spPr>
          <a:xfrm>
            <a:off x="8595360" y="2157984"/>
            <a:ext cx="3139135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006"/>
              </a:lnSpc>
              <a:spcBef>
                <a:spcPts val="0"/>
              </a:spcBef>
              <a:buNone/>
            </a:pPr>
            <a:r>
              <a:rPr lang="en" sz="1700" b="1" i="0" dirty="0">
                <a:solidFill>
                  <a:schemeClr val="tx1"/>
                </a:solidFill>
                <a:latin typeface="Charter"/>
                <a:ea typeface="Charter"/>
                <a:cs typeface="Charter"/>
              </a:rPr>
              <a:t>Activation is the leak</a:t>
            </a:r>
            <a:endParaRPr lang="en" sz="1700" dirty="0"/>
          </a:p>
        </p:txBody>
      </p:sp>
      <p:sp>
        <p:nvSpPr>
          <p:cNvPr id="42" name="text41"/>
          <p:cNvSpPr txBox="1"/>
          <p:nvPr/>
        </p:nvSpPr>
        <p:spPr>
          <a:xfrm>
            <a:off x="8595360" y="2523744"/>
            <a:ext cx="1783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4180"/>
              </a:lnSpc>
              <a:spcBef>
                <a:spcPts val="0"/>
              </a:spcBef>
              <a:buNone/>
            </a:pPr>
            <a:r>
              <a:rPr lang="en" sz="4400" b="1" i="0" dirty="0">
                <a:solidFill>
                  <a:schemeClr val="tx1"/>
                </a:solidFill>
                <a:latin typeface="Charter"/>
                <a:ea typeface="Charter"/>
                <a:cs typeface="Charter"/>
              </a:rPr>
              <a:t>8.4%</a:t>
            </a:r>
            <a:endParaRPr lang="en" sz="4400" dirty="0"/>
          </a:p>
        </p:txBody>
      </p:sp>
      <p:sp>
        <p:nvSpPr>
          <p:cNvPr id="43" name="text42"/>
          <p:cNvSpPr txBox="1"/>
          <p:nvPr/>
        </p:nvSpPr>
        <p:spPr>
          <a:xfrm>
            <a:off x="10405963" y="2633472"/>
            <a:ext cx="1328623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buNone/>
            </a:pPr>
            <a:r>
              <a:rPr lang="en" sz="1200" b="0" i="0" dirty="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of visitors become</a:t>
            </a:r>
            <a:endParaRPr lang="en" sz="1200" dirty="0"/>
          </a:p>
          <a:p>
            <a:pPr algn="l">
              <a:lnSpc>
                <a:spcPts val="1560"/>
              </a:lnSpc>
              <a:spcBef>
                <a:spcPts val="420"/>
              </a:spcBef>
              <a:buNone/>
            </a:pPr>
            <a:r>
              <a:rPr lang="en" sz="1200" b="0" i="0" dirty="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paying customers</a:t>
            </a:r>
            <a:endParaRPr lang="en" sz="1200" dirty="0"/>
          </a:p>
        </p:txBody>
      </p:sp>
      <p:sp>
        <p:nvSpPr>
          <p:cNvPr id="44" name="text43"/>
          <p:cNvSpPr txBox="1"/>
          <p:nvPr/>
        </p:nvSpPr>
        <p:spPr>
          <a:xfrm>
            <a:off x="8595360" y="3337560"/>
            <a:ext cx="8686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buNone/>
            </a:pPr>
            <a:r>
              <a:rPr lang="en" sz="1200" b="0" i="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Visitors</a:t>
            </a:r>
            <a:endParaRPr lang="en" sz="1200" dirty="0"/>
          </a:p>
        </p:txBody>
      </p:sp>
      <p:sp>
        <p:nvSpPr>
          <p:cNvPr id="45" name="shape4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509851" y="3310128"/>
            <a:ext cx="1691640" cy="310805"/>
          </a:xfrm>
          <a:prstGeom prst="rect">
            <a:avLst/>
          </a:prstGeom>
          <a:solidFill>
            <a:schemeClr val="tx1"/>
          </a:solidFill>
          <a:ln>
            <a:noFill/>
          </a:ln>
        </p:spPr>
      </p:sp>
      <p:sp>
        <p:nvSpPr>
          <p:cNvPr id="46" name="text45"/>
          <p:cNvSpPr txBox="1"/>
          <p:nvPr/>
        </p:nvSpPr>
        <p:spPr>
          <a:xfrm>
            <a:off x="11274552" y="3337560"/>
            <a:ext cx="459943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buNone/>
            </a:pPr>
            <a:r>
              <a:rPr lang="en" sz="1200" b="0" i="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100K</a:t>
            </a:r>
            <a:endParaRPr lang="en" sz="1200" dirty="0"/>
          </a:p>
        </p:txBody>
      </p:sp>
      <p:sp>
        <p:nvSpPr>
          <p:cNvPr id="47" name="text46"/>
          <p:cNvSpPr txBox="1"/>
          <p:nvPr/>
        </p:nvSpPr>
        <p:spPr>
          <a:xfrm>
            <a:off x="8595360" y="3840480"/>
            <a:ext cx="8686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buNone/>
            </a:pPr>
            <a:r>
              <a:rPr lang="en" sz="1200" b="0" i="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Sign-ups</a:t>
            </a:r>
            <a:endParaRPr lang="en" sz="1200" dirty="0"/>
          </a:p>
        </p:txBody>
      </p:sp>
      <p:sp>
        <p:nvSpPr>
          <p:cNvPr id="48" name="shape4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509851" y="3813048"/>
            <a:ext cx="541325" cy="310805"/>
          </a:xfrm>
          <a:prstGeom prst="rect">
            <a:avLst/>
          </a:prstGeom>
          <a:solidFill>
            <a:schemeClr val="tx1"/>
          </a:solidFill>
          <a:ln>
            <a:noFill/>
          </a:ln>
        </p:spPr>
      </p:sp>
      <p:sp>
        <p:nvSpPr>
          <p:cNvPr id="49" name="text48"/>
          <p:cNvSpPr txBox="1"/>
          <p:nvPr/>
        </p:nvSpPr>
        <p:spPr>
          <a:xfrm>
            <a:off x="10124237" y="3840480"/>
            <a:ext cx="161025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buNone/>
            </a:pPr>
            <a:r>
              <a:rPr lang="en" sz="1200" b="0" i="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32K  ·  32%</a:t>
            </a:r>
            <a:endParaRPr lang="en" sz="1200" dirty="0"/>
          </a:p>
        </p:txBody>
      </p:sp>
      <p:sp>
        <p:nvSpPr>
          <p:cNvPr id="50" name="text49"/>
          <p:cNvSpPr txBox="1"/>
          <p:nvPr/>
        </p:nvSpPr>
        <p:spPr>
          <a:xfrm>
            <a:off x="8595360" y="4343400"/>
            <a:ext cx="8686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buNone/>
            </a:pPr>
            <a:r>
              <a:rPr lang="en" sz="1200" b="0" i="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Activated</a:t>
            </a:r>
            <a:endParaRPr lang="en" sz="1200" dirty="0"/>
          </a:p>
        </p:txBody>
      </p:sp>
      <p:sp>
        <p:nvSpPr>
          <p:cNvPr id="51" name="shape5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509851" y="4315968"/>
            <a:ext cx="355244" cy="3108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52" name="shape5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865096" y="4315968"/>
            <a:ext cx="186080" cy="310805"/>
          </a:xfrm>
          <a:prstGeom prst="rect">
            <a:avLst/>
          </a:prstGeom>
          <a:solidFill>
            <a:srgbClr val="F8DCCD"/>
          </a:solidFill>
          <a:ln w="12700">
            <a:solidFill>
              <a:schemeClr val="accent1"/>
            </a:solidFill>
          </a:ln>
        </p:spPr>
      </p:sp>
      <p:sp>
        <p:nvSpPr>
          <p:cNvPr id="53" name="text52"/>
          <p:cNvSpPr txBox="1"/>
          <p:nvPr/>
        </p:nvSpPr>
        <p:spPr>
          <a:xfrm>
            <a:off x="9819284" y="4636008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1" i="0" dirty="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rPr>
              <a:t>11K lost</a:t>
            </a:r>
            <a:endParaRPr lang="en" sz="1000" dirty="0"/>
          </a:p>
        </p:txBody>
      </p:sp>
      <p:sp>
        <p:nvSpPr>
          <p:cNvPr id="54" name="text53"/>
          <p:cNvSpPr txBox="1"/>
          <p:nvPr/>
        </p:nvSpPr>
        <p:spPr>
          <a:xfrm>
            <a:off x="10124237" y="4343400"/>
            <a:ext cx="161025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buNone/>
            </a:pPr>
            <a:r>
              <a:rPr lang="en" sz="1200" b="1" i="0" dirty="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rPr>
              <a:t>21K  ·  66%</a:t>
            </a:r>
            <a:endParaRPr lang="en" sz="1200" dirty="0"/>
          </a:p>
        </p:txBody>
      </p:sp>
      <p:sp>
        <p:nvSpPr>
          <p:cNvPr id="55" name="text54"/>
          <p:cNvSpPr txBox="1"/>
          <p:nvPr/>
        </p:nvSpPr>
        <p:spPr>
          <a:xfrm>
            <a:off x="8595360" y="4846320"/>
            <a:ext cx="8686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buNone/>
            </a:pPr>
            <a:r>
              <a:rPr lang="en" sz="1200" b="0" i="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Paid</a:t>
            </a:r>
            <a:endParaRPr lang="en" sz="1200" dirty="0"/>
          </a:p>
        </p:txBody>
      </p:sp>
      <p:sp>
        <p:nvSpPr>
          <p:cNvPr id="56" name="shape5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509851" y="4818888"/>
            <a:ext cx="142098" cy="310805"/>
          </a:xfrm>
          <a:prstGeom prst="rect">
            <a:avLst/>
          </a:prstGeom>
          <a:solidFill>
            <a:schemeClr val="tx1"/>
          </a:solidFill>
          <a:ln>
            <a:noFill/>
          </a:ln>
        </p:spPr>
      </p:sp>
      <p:sp>
        <p:nvSpPr>
          <p:cNvPr id="57" name="text56"/>
          <p:cNvSpPr txBox="1"/>
          <p:nvPr/>
        </p:nvSpPr>
        <p:spPr>
          <a:xfrm>
            <a:off x="9725010" y="4846320"/>
            <a:ext cx="2009485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buNone/>
            </a:pPr>
            <a:r>
              <a:rPr lang="en" sz="1200" b="0" i="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8.4K  ·  40%</a:t>
            </a:r>
            <a:endParaRPr lang="en" sz="1200" dirty="0"/>
          </a:p>
        </p:txBody>
      </p:sp>
      <p:sp>
        <p:nvSpPr>
          <p:cNvPr id="58" name="shape5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596128"/>
            <a:ext cx="12191970" cy="1261872"/>
          </a:xfrm>
          <a:prstGeom prst="rect">
            <a:avLst/>
          </a:prstGeom>
          <a:solidFill>
            <a:schemeClr val="tx1"/>
          </a:solidFill>
          <a:ln>
            <a:noFill/>
          </a:ln>
        </p:spPr>
      </p:sp>
      <p:sp>
        <p:nvSpPr>
          <p:cNvPr id="59" name="free58-surface"/>
          <p:cNvSpPr/>
          <p:nvPr/>
        </p:nvSpPr>
        <p:spPr>
          <a:xfrm>
            <a:off x="457200" y="5596128"/>
            <a:ext cx="11277295" cy="804672"/>
          </a:xfrm>
          <a:prstGeom prst="rect">
            <a:avLst/>
          </a:prstGeom>
          <a:solidFill>
            <a:schemeClr val="tx1"/>
          </a:solidFill>
          <a:ln>
            <a:noFill/>
          </a:ln>
        </p:spPr>
      </p:sp>
      <p:sp>
        <p:nvSpPr>
          <p:cNvPr id="60" name="text59"/>
          <p:cNvSpPr txBox="1"/>
          <p:nvPr/>
        </p:nvSpPr>
        <p:spPr>
          <a:xfrm>
            <a:off x="457200" y="5998464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buNone/>
            </a:pPr>
            <a:r>
              <a:rPr lang="en" sz="1050" b="1" i="0" spc="105" dirty="0">
                <a:solidFill>
                  <a:srgbClr val="FF8A5B"/>
                </a:solidFill>
                <a:latin typeface="Helvetica Neue"/>
                <a:ea typeface="Helvetica Neue"/>
                <a:cs typeface="Helvetica Neue"/>
              </a:rPr>
              <a:t>THE TAKEAWAY</a:t>
            </a:r>
            <a:endParaRPr lang="en" sz="1050" dirty="0"/>
          </a:p>
        </p:txBody>
      </p:sp>
      <p:sp>
        <p:nvSpPr>
          <p:cNvPr id="61" name="text60"/>
          <p:cNvSpPr txBox="1"/>
          <p:nvPr/>
        </p:nvSpPr>
        <p:spPr>
          <a:xfrm>
            <a:off x="1965960" y="5888736"/>
            <a:ext cx="61722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85"/>
              </a:lnSpc>
              <a:spcBef>
                <a:spcPts val="0"/>
              </a:spcBef>
              <a:buNone/>
            </a:pPr>
            <a:r>
              <a:rPr lang="en" sz="1900" b="1" i="0" dirty="0">
                <a:solidFill>
                  <a:schemeClr val="bg1"/>
                </a:solidFill>
                <a:latin typeface="Charter"/>
                <a:ea typeface="Charter"/>
                <a:cs typeface="Charter"/>
              </a:rPr>
              <a:t>Acquisition is accelerating, but activation remains the biggest growth lever.</a:t>
            </a:r>
            <a:endParaRPr lang="en" sz="1900" dirty="0"/>
          </a:p>
        </p:txBody>
      </p:sp>
      <p:sp>
        <p:nvSpPr>
          <p:cNvPr id="62" name="shape6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07725" y="5907024"/>
            <a:ext cx="9510" cy="530352"/>
          </a:xfrm>
          <a:prstGeom prst="rect">
            <a:avLst/>
          </a:prstGeom>
          <a:solidFill>
            <a:schemeClr val="tx2"/>
          </a:solidFill>
          <a:ln>
            <a:noFill/>
          </a:ln>
        </p:spPr>
      </p:sp>
      <p:sp>
        <p:nvSpPr>
          <p:cNvPr id="63" name="text62"/>
          <p:cNvSpPr txBox="1"/>
          <p:nvPr/>
        </p:nvSpPr>
        <p:spPr>
          <a:xfrm>
            <a:off x="8595360" y="5888736"/>
            <a:ext cx="12801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850"/>
              </a:lnSpc>
              <a:spcBef>
                <a:spcPts val="0"/>
              </a:spcBef>
              <a:buNone/>
            </a:pPr>
            <a:r>
              <a:rPr lang="en" sz="3000" b="1" i="0" dirty="0">
                <a:solidFill>
                  <a:srgbClr val="FF8A5B"/>
                </a:solidFill>
                <a:latin typeface="Charter"/>
                <a:ea typeface="Charter"/>
                <a:cs typeface="Charter"/>
              </a:rPr>
              <a:t>+1.8K</a:t>
            </a:r>
            <a:endParaRPr lang="en" sz="3000" dirty="0"/>
          </a:p>
        </p:txBody>
      </p:sp>
      <p:sp>
        <p:nvSpPr>
          <p:cNvPr id="64" name="text63"/>
          <p:cNvSpPr txBox="1"/>
          <p:nvPr/>
        </p:nvSpPr>
        <p:spPr>
          <a:xfrm>
            <a:off x="9857232" y="5907024"/>
            <a:ext cx="1877263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313"/>
              </a:lnSpc>
              <a:spcBef>
                <a:spcPts val="0"/>
              </a:spcBef>
              <a:buNone/>
            </a:pPr>
            <a:r>
              <a:rPr lang="en" sz="1050" b="0" i="0" dirty="0">
                <a:solidFill>
                  <a:srgbClr val="CFC8BA"/>
                </a:solidFill>
                <a:latin typeface="Helvetica Neue"/>
                <a:ea typeface="Helvetica Neue"/>
                <a:cs typeface="Helvetica Neue"/>
              </a:rPr>
              <a:t>paid users a month if activation rises from 66% to 80%</a:t>
            </a:r>
            <a:endParaRPr lang="en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duct-keynot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70" cy="6858000"/>
          </a:xfrm>
          <a:prstGeom prst="rect">
            <a:avLst/>
          </a:prstGeom>
        </p:spPr>
      </p:pic>
      <p:sp>
        <p:nvSpPr>
          <p:cNvPr id="3" name="column2-surface"/>
          <p:cNvSpPr/>
          <p:nvPr/>
        </p:nvSpPr>
        <p:spPr>
          <a:xfrm>
            <a:off x="457200" y="503011"/>
            <a:ext cx="274320" cy="274320"/>
          </a:xfrm>
          <a:prstGeom prst="roundRect">
            <a:avLst>
              <a:gd name="adj" fmla="val 32407"/>
            </a:avLst>
          </a:prstGeom>
          <a:solidFill>
            <a:srgbClr val="6D28D9"/>
          </a:solidFill>
          <a:ln>
            <a:noFill/>
          </a:ln>
        </p:spPr>
      </p:sp>
      <p:sp>
        <p:nvSpPr>
          <p:cNvPr id="4" name="icon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1790" y="557601"/>
            <a:ext cx="165141" cy="165141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11017" y="2814"/>
                </a:moveTo>
                <a:cubicBezTo>
                  <a:pt x="11105" y="2341"/>
                  <a:pt x="11519" y="1998"/>
                  <a:pt x="12000" y="1998"/>
                </a:cubicBezTo>
                <a:cubicBezTo>
                  <a:pt x="12481" y="1998"/>
                  <a:pt x="12895" y="2341"/>
                  <a:pt x="12983" y="2814"/>
                </a:cubicBezTo>
                <a:lnTo>
                  <a:pt x="14034" y="8372"/>
                </a:lnTo>
                <a:cubicBezTo>
                  <a:pt x="14187" y="9181"/>
                  <a:pt x="14819" y="9813"/>
                  <a:pt x="15628" y="9966"/>
                </a:cubicBezTo>
                <a:lnTo>
                  <a:pt x="21186" y="11017"/>
                </a:lnTo>
                <a:cubicBezTo>
                  <a:pt x="21659" y="11105"/>
                  <a:pt x="22002" y="11519"/>
                  <a:pt x="22002" y="12000"/>
                </a:cubicBezTo>
                <a:cubicBezTo>
                  <a:pt x="22002" y="12481"/>
                  <a:pt x="21659" y="12895"/>
                  <a:pt x="21186" y="12983"/>
                </a:cubicBezTo>
                <a:lnTo>
                  <a:pt x="15628" y="14034"/>
                </a:lnTo>
                <a:cubicBezTo>
                  <a:pt x="14819" y="14187"/>
                  <a:pt x="14187" y="14819"/>
                  <a:pt x="14034" y="15628"/>
                </a:cubicBezTo>
                <a:lnTo>
                  <a:pt x="12983" y="21186"/>
                </a:lnTo>
                <a:cubicBezTo>
                  <a:pt x="12895" y="21659"/>
                  <a:pt x="12481" y="22002"/>
                  <a:pt x="12000" y="22002"/>
                </a:cubicBezTo>
                <a:cubicBezTo>
                  <a:pt x="11519" y="22002"/>
                  <a:pt x="11105" y="21659"/>
                  <a:pt x="11017" y="21186"/>
                </a:cubicBezTo>
                <a:lnTo>
                  <a:pt x="9966" y="15628"/>
                </a:lnTo>
                <a:cubicBezTo>
                  <a:pt x="9813" y="14819"/>
                  <a:pt x="9181" y="14187"/>
                  <a:pt x="8372" y="14034"/>
                </a:cubicBezTo>
                <a:lnTo>
                  <a:pt x="2814" y="12983"/>
                </a:lnTo>
                <a:cubicBezTo>
                  <a:pt x="2341" y="12895"/>
                  <a:pt x="1998" y="12481"/>
                  <a:pt x="1998" y="12000"/>
                </a:cubicBezTo>
                <a:cubicBezTo>
                  <a:pt x="1998" y="11519"/>
                  <a:pt x="2341" y="11105"/>
                  <a:pt x="2814" y="11017"/>
                </a:cubicBezTo>
                <a:lnTo>
                  <a:pt x="8372" y="9966"/>
                </a:lnTo>
                <a:cubicBezTo>
                  <a:pt x="9181" y="9813"/>
                  <a:pt x="9813" y="9181"/>
                  <a:pt x="9966" y="8372"/>
                </a:cubicBezTo>
                <a:close/>
              </a:path>
              <a:path w="24000" h="24000" fill="none">
                <a:moveTo>
                  <a:pt x="20000" y="2000"/>
                </a:moveTo>
                <a:lnTo>
                  <a:pt x="20000" y="6000"/>
                </a:lnTo>
              </a:path>
              <a:path w="24000" h="24000" fill="none">
                <a:moveTo>
                  <a:pt x="22000" y="4000"/>
                </a:moveTo>
                <a:lnTo>
                  <a:pt x="18000" y="4000"/>
                </a:lnTo>
              </a:path>
              <a:path w="24000" h="24000" fill="none">
                <a:moveTo>
                  <a:pt x="2000" y="20000"/>
                </a:moveTo>
                <a:cubicBezTo>
                  <a:pt x="2000" y="21105"/>
                  <a:pt x="2895" y="22000"/>
                  <a:pt x="4000" y="22000"/>
                </a:cubicBezTo>
                <a:cubicBezTo>
                  <a:pt x="5105" y="22000"/>
                  <a:pt x="6000" y="21105"/>
                  <a:pt x="6000" y="20000"/>
                </a:cubicBezTo>
                <a:cubicBezTo>
                  <a:pt x="6000" y="18895"/>
                  <a:pt x="5105" y="18000"/>
                  <a:pt x="4000" y="18000"/>
                </a:cubicBezTo>
                <a:cubicBezTo>
                  <a:pt x="2895" y="18000"/>
                  <a:pt x="2000" y="18895"/>
                  <a:pt x="2000" y="20000"/>
                </a:cubicBezTo>
                <a:close/>
              </a:path>
            </a:pathLst>
          </a:custGeom>
          <a:noFill/>
          <a:ln w="13762" cap="rnd">
            <a:solidFill>
              <a:schemeClr val="accent6"/>
            </a:solidFill>
            <a:round/>
          </a:ln>
        </p:spPr>
      </p:sp>
      <p:sp>
        <p:nvSpPr>
          <p:cNvPr id="5" name="text4"/>
          <p:cNvSpPr txBox="1"/>
          <p:nvPr/>
        </p:nvSpPr>
        <p:spPr>
          <a:xfrm>
            <a:off x="822960" y="484632"/>
            <a:ext cx="1188720" cy="3108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1770"/>
              </a:lnSpc>
              <a:spcBef>
                <a:spcPts val="0"/>
              </a:spcBef>
              <a:buNone/>
            </a:pPr>
            <a:r>
              <a:rPr lang="en" sz="1500" b="1" i="0" spc="210" dirty="0">
                <a:solidFill>
                  <a:srgbClr val="0B0B10"/>
                </a:solidFill>
                <a:latin typeface="Helvetica Neue"/>
                <a:ea typeface="Helvetica Neue"/>
                <a:cs typeface="Helvetica Neue"/>
              </a:rPr>
              <a:t>NOVA</a:t>
            </a:r>
            <a:endParaRPr lang="en" sz="1500" dirty="0"/>
          </a:p>
        </p:txBody>
      </p:sp>
      <p:sp>
        <p:nvSpPr>
          <p:cNvPr id="6" name="text5"/>
          <p:cNvSpPr txBox="1"/>
          <p:nvPr/>
        </p:nvSpPr>
        <p:spPr>
          <a:xfrm>
            <a:off x="6675120" y="503011"/>
            <a:ext cx="505937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r">
              <a:lnSpc>
                <a:spcPts val="1375"/>
              </a:lnSpc>
              <a:spcBef>
                <a:spcPts val="0"/>
              </a:spcBef>
              <a:buNone/>
            </a:pPr>
            <a:r>
              <a:rPr lang="en" sz="1100" b="0" i="0" dirty="0">
                <a:solidFill>
                  <a:srgbClr val="5D5F6E"/>
                </a:solidFill>
                <a:latin typeface="Helvetica Neue"/>
                <a:ea typeface="Helvetica Neue"/>
                <a:cs typeface="Helvetica Neue"/>
              </a:rPr>
              <a:t>Product        Solutions        Pricing        Resources</a:t>
            </a:r>
            <a:endParaRPr lang="en" sz="1100" dirty="0"/>
          </a:p>
        </p:txBody>
      </p:sp>
      <p:sp>
        <p:nvSpPr>
          <p:cNvPr id="7" name="row6-surface"/>
          <p:cNvSpPr/>
          <p:nvPr/>
        </p:nvSpPr>
        <p:spPr>
          <a:xfrm>
            <a:off x="457200" y="1481328"/>
            <a:ext cx="2651760" cy="310805"/>
          </a:xfrm>
          <a:prstGeom prst="roundRect">
            <a:avLst>
              <a:gd name="adj" fmla="val 50000"/>
            </a:avLst>
          </a:prstGeom>
          <a:solidFill>
            <a:srgbClr val="EFEAFE"/>
          </a:solidFill>
          <a:ln>
            <a:noFill/>
          </a:ln>
        </p:spPr>
      </p:sp>
      <p:sp>
        <p:nvSpPr>
          <p:cNvPr id="8" name="icon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630" y="1560515"/>
            <a:ext cx="152430" cy="152430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11017" y="2814"/>
                </a:moveTo>
                <a:cubicBezTo>
                  <a:pt x="11105" y="2341"/>
                  <a:pt x="11519" y="1998"/>
                  <a:pt x="12000" y="1998"/>
                </a:cubicBezTo>
                <a:cubicBezTo>
                  <a:pt x="12481" y="1998"/>
                  <a:pt x="12895" y="2341"/>
                  <a:pt x="12983" y="2814"/>
                </a:cubicBezTo>
                <a:lnTo>
                  <a:pt x="14034" y="8372"/>
                </a:lnTo>
                <a:cubicBezTo>
                  <a:pt x="14187" y="9181"/>
                  <a:pt x="14819" y="9813"/>
                  <a:pt x="15628" y="9966"/>
                </a:cubicBezTo>
                <a:lnTo>
                  <a:pt x="21186" y="11017"/>
                </a:lnTo>
                <a:cubicBezTo>
                  <a:pt x="21659" y="11105"/>
                  <a:pt x="22002" y="11519"/>
                  <a:pt x="22002" y="12000"/>
                </a:cubicBezTo>
                <a:cubicBezTo>
                  <a:pt x="22002" y="12481"/>
                  <a:pt x="21659" y="12895"/>
                  <a:pt x="21186" y="12983"/>
                </a:cubicBezTo>
                <a:lnTo>
                  <a:pt x="15628" y="14034"/>
                </a:lnTo>
                <a:cubicBezTo>
                  <a:pt x="14819" y="14187"/>
                  <a:pt x="14187" y="14819"/>
                  <a:pt x="14034" y="15628"/>
                </a:cubicBezTo>
                <a:lnTo>
                  <a:pt x="12983" y="21186"/>
                </a:lnTo>
                <a:cubicBezTo>
                  <a:pt x="12895" y="21659"/>
                  <a:pt x="12481" y="22002"/>
                  <a:pt x="12000" y="22002"/>
                </a:cubicBezTo>
                <a:cubicBezTo>
                  <a:pt x="11519" y="22002"/>
                  <a:pt x="11105" y="21659"/>
                  <a:pt x="11017" y="21186"/>
                </a:cubicBezTo>
                <a:lnTo>
                  <a:pt x="9966" y="15628"/>
                </a:lnTo>
                <a:cubicBezTo>
                  <a:pt x="9813" y="14819"/>
                  <a:pt x="9181" y="14187"/>
                  <a:pt x="8372" y="14034"/>
                </a:cubicBezTo>
                <a:lnTo>
                  <a:pt x="2814" y="12983"/>
                </a:lnTo>
                <a:cubicBezTo>
                  <a:pt x="2341" y="12895"/>
                  <a:pt x="1998" y="12481"/>
                  <a:pt x="1998" y="12000"/>
                </a:cubicBezTo>
                <a:cubicBezTo>
                  <a:pt x="1998" y="11519"/>
                  <a:pt x="2341" y="11105"/>
                  <a:pt x="2814" y="11017"/>
                </a:cubicBezTo>
                <a:lnTo>
                  <a:pt x="8372" y="9966"/>
                </a:lnTo>
                <a:cubicBezTo>
                  <a:pt x="9181" y="9813"/>
                  <a:pt x="9813" y="9181"/>
                  <a:pt x="9966" y="8372"/>
                </a:cubicBezTo>
                <a:close/>
              </a:path>
              <a:path w="24000" h="24000" fill="none">
                <a:moveTo>
                  <a:pt x="20000" y="2000"/>
                </a:moveTo>
                <a:lnTo>
                  <a:pt x="20000" y="6000"/>
                </a:lnTo>
              </a:path>
              <a:path w="24000" h="24000" fill="none">
                <a:moveTo>
                  <a:pt x="22000" y="4000"/>
                </a:moveTo>
                <a:lnTo>
                  <a:pt x="18000" y="4000"/>
                </a:lnTo>
              </a:path>
              <a:path w="24000" h="24000" fill="none">
                <a:moveTo>
                  <a:pt x="2000" y="20000"/>
                </a:moveTo>
                <a:cubicBezTo>
                  <a:pt x="2000" y="21105"/>
                  <a:pt x="2895" y="22000"/>
                  <a:pt x="4000" y="22000"/>
                </a:cubicBezTo>
                <a:cubicBezTo>
                  <a:pt x="5105" y="22000"/>
                  <a:pt x="6000" y="21105"/>
                  <a:pt x="6000" y="20000"/>
                </a:cubicBezTo>
                <a:cubicBezTo>
                  <a:pt x="6000" y="18895"/>
                  <a:pt x="5105" y="18000"/>
                  <a:pt x="4000" y="18000"/>
                </a:cubicBezTo>
                <a:cubicBezTo>
                  <a:pt x="2895" y="18000"/>
                  <a:pt x="2000" y="18895"/>
                  <a:pt x="2000" y="20000"/>
                </a:cubicBezTo>
                <a:close/>
              </a:path>
            </a:pathLst>
          </a:custGeom>
          <a:noFill/>
          <a:ln w="12703" cap="rnd">
            <a:solidFill>
              <a:srgbClr val="6D28D9"/>
            </a:solidFill>
            <a:round/>
          </a:ln>
        </p:spPr>
      </p:sp>
      <p:sp>
        <p:nvSpPr>
          <p:cNvPr id="9" name="text8"/>
          <p:cNvSpPr txBox="1"/>
          <p:nvPr/>
        </p:nvSpPr>
        <p:spPr>
          <a:xfrm>
            <a:off x="838230" y="1549359"/>
            <a:ext cx="2118299" cy="174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buNone/>
            </a:pPr>
            <a:r>
              <a:rPr lang="en" sz="1100" b="1" i="0" dirty="0">
                <a:solidFill>
                  <a:srgbClr val="6D28D9"/>
                </a:solidFill>
                <a:latin typeface="Helvetica Neue"/>
                <a:ea typeface="Helvetica Neue"/>
                <a:cs typeface="Helvetica Neue"/>
              </a:rPr>
              <a:t>NOVA  ·  Your AI workspace</a:t>
            </a:r>
            <a:endParaRPr lang="en" sz="1100" dirty="0"/>
          </a:p>
        </p:txBody>
      </p:sp>
      <p:sp>
        <p:nvSpPr>
          <p:cNvPr id="10" name="text9"/>
          <p:cNvSpPr>
            <a:spLocks noGrp="1"/>
          </p:cNvSpPr>
          <p:nvPr>
            <p:ph type="title"/>
          </p:nvPr>
        </p:nvSpPr>
        <p:spPr>
          <a:xfrm>
            <a:off x="457200" y="1920240"/>
            <a:ext cx="585216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5200"/>
              </a:lnSpc>
              <a:spcBef>
                <a:spcPts val="0"/>
              </a:spcBef>
              <a:buNone/>
            </a:pPr>
            <a:r>
              <a:rPr lang="en" sz="5000" b="1" i="0" spc="-125" dirty="0">
                <a:solidFill>
                  <a:srgbClr val="0B0B10"/>
                </a:solidFill>
                <a:latin typeface="Helvetica Neue"/>
                <a:ea typeface="Helvetica Neue"/>
                <a:cs typeface="Helvetica Neue"/>
              </a:rPr>
              <a:t>One workspace.</a:t>
            </a:r>
            <a:endParaRPr lang="en" sz="5000" dirty="0"/>
          </a:p>
        </p:txBody>
      </p:sp>
      <p:sp>
        <p:nvSpPr>
          <p:cNvPr id="11" name="text10"/>
          <p:cNvSpPr txBox="1"/>
          <p:nvPr/>
        </p:nvSpPr>
        <p:spPr>
          <a:xfrm>
            <a:off x="457200" y="2578608"/>
            <a:ext cx="585216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5200"/>
              </a:lnSpc>
              <a:spcBef>
                <a:spcPts val="0"/>
              </a:spcBef>
              <a:buNone/>
            </a:pPr>
            <a:r>
              <a:rPr lang="en" sz="5000" b="1" i="0" spc="-125" dirty="0">
                <a:solidFill>
                  <a:srgbClr val="0B0B10"/>
                </a:solidFill>
                <a:latin typeface="Helvetica Neue"/>
                <a:ea typeface="Helvetica Neue"/>
                <a:cs typeface="Helvetica Neue"/>
              </a:rPr>
              <a:t>Every idea.</a:t>
            </a:r>
            <a:endParaRPr lang="en" sz="5000" dirty="0"/>
          </a:p>
        </p:txBody>
      </p:sp>
      <p:sp>
        <p:nvSpPr>
          <p:cNvPr id="12" name="text11"/>
          <p:cNvSpPr txBox="1"/>
          <p:nvPr/>
        </p:nvSpPr>
        <p:spPr>
          <a:xfrm>
            <a:off x="457200" y="3237067"/>
            <a:ext cx="585216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5200"/>
              </a:lnSpc>
              <a:spcBef>
                <a:spcPts val="0"/>
              </a:spcBef>
              <a:buNone/>
            </a:pPr>
            <a:r>
              <a:rPr lang="en" sz="5000" b="1" i="0" spc="-125" dirty="0">
                <a:solidFill>
                  <a:srgbClr val="6D28D9"/>
                </a:solidFill>
                <a:latin typeface="Helvetica Neue"/>
                <a:ea typeface="Helvetica Neue"/>
                <a:cs typeface="Helvetica Neue"/>
              </a:rPr>
              <a:t>Amplified by AI.</a:t>
            </a:r>
            <a:endParaRPr lang="en" sz="5000" dirty="0"/>
          </a:p>
        </p:txBody>
      </p:sp>
      <p:sp>
        <p:nvSpPr>
          <p:cNvPr id="13" name="text12"/>
          <p:cNvSpPr txBox="1"/>
          <p:nvPr/>
        </p:nvSpPr>
        <p:spPr>
          <a:xfrm>
            <a:off x="457200" y="4188043"/>
            <a:ext cx="42976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295"/>
              </a:lnSpc>
              <a:spcBef>
                <a:spcPts val="0"/>
              </a:spcBef>
              <a:buNone/>
            </a:pPr>
            <a:r>
              <a:rPr lang="en" sz="1700" b="0" i="0" dirty="0">
                <a:solidFill>
                  <a:srgbClr val="5D5F6E"/>
                </a:solidFill>
                <a:latin typeface="Helvetica Neue"/>
                <a:ea typeface="Helvetica Neue"/>
                <a:cs typeface="Helvetica Neue"/>
              </a:rPr>
              <a:t>From idea to execution without leaving your workspace.</a:t>
            </a:r>
            <a:endParaRPr lang="en" sz="1700" dirty="0"/>
          </a:p>
        </p:txBody>
      </p:sp>
      <p:sp>
        <p:nvSpPr>
          <p:cNvPr id="14" name="row13-surface"/>
          <p:cNvSpPr/>
          <p:nvPr/>
        </p:nvSpPr>
        <p:spPr>
          <a:xfrm>
            <a:off x="457200" y="5074920"/>
            <a:ext cx="1600200" cy="457200"/>
          </a:xfrm>
          <a:prstGeom prst="roundRect">
            <a:avLst>
              <a:gd name="adj" fmla="val 50000"/>
            </a:avLst>
          </a:prstGeom>
          <a:solidFill>
            <a:srgbClr val="0B0B10"/>
          </a:solidFill>
          <a:ln>
            <a:noFill/>
          </a:ln>
        </p:spPr>
      </p:sp>
      <p:sp>
        <p:nvSpPr>
          <p:cNvPr id="15" name="text14"/>
          <p:cNvSpPr txBox="1"/>
          <p:nvPr/>
        </p:nvSpPr>
        <p:spPr>
          <a:xfrm>
            <a:off x="659922" y="5196169"/>
            <a:ext cx="915314" cy="2146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buNone/>
            </a:pPr>
            <a:r>
              <a:rPr lang="en" sz="1300" b="1" i="0" dirty="0">
                <a:solidFill>
                  <a:schemeClr val="accent6"/>
                </a:solidFill>
                <a:latin typeface="Helvetica Neue"/>
                <a:ea typeface="Helvetica Neue"/>
                <a:cs typeface="Helvetica Neue"/>
              </a:rPr>
              <a:t>Get started</a:t>
            </a:r>
            <a:endParaRPr lang="en" sz="1300" dirty="0"/>
          </a:p>
        </p:txBody>
      </p:sp>
      <p:sp>
        <p:nvSpPr>
          <p:cNvPr id="16" name="icon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676918" y="5214549"/>
            <a:ext cx="177759" cy="177759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5000" y="12000"/>
                </a:moveTo>
                <a:lnTo>
                  <a:pt x="19000" y="12000"/>
                </a:lnTo>
              </a:path>
              <a:path w="24000" h="24000" fill="none">
                <a:moveTo>
                  <a:pt x="12000" y="5000"/>
                </a:moveTo>
                <a:lnTo>
                  <a:pt x="19000" y="12000"/>
                </a:lnTo>
                <a:lnTo>
                  <a:pt x="12000" y="19000"/>
                </a:lnTo>
              </a:path>
            </a:pathLst>
          </a:custGeom>
          <a:noFill/>
          <a:ln w="14813" cap="rnd">
            <a:solidFill>
              <a:schemeClr val="accent6"/>
            </a:solidFill>
            <a:round/>
          </a:ln>
        </p:spPr>
      </p:sp>
      <p:sp>
        <p:nvSpPr>
          <p:cNvPr id="17" name="row16-surface"/>
          <p:cNvSpPr/>
          <p:nvPr/>
        </p:nvSpPr>
        <p:spPr>
          <a:xfrm>
            <a:off x="2194651" y="5074920"/>
            <a:ext cx="1783080" cy="4572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rgbClr val="CFCBDD"/>
            </a:solidFill>
          </a:ln>
        </p:spPr>
      </p:sp>
      <p:sp>
        <p:nvSpPr>
          <p:cNvPr id="18" name="icon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392253" y="5208240"/>
            <a:ext cx="190470" cy="190470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9000" y="9003"/>
                </a:moveTo>
                <a:cubicBezTo>
                  <a:pt x="8999" y="8642"/>
                  <a:pt x="9193" y="8308"/>
                  <a:pt x="9507" y="8130"/>
                </a:cubicBezTo>
                <a:cubicBezTo>
                  <a:pt x="9822" y="7952"/>
                  <a:pt x="10208" y="7957"/>
                  <a:pt x="10517" y="8144"/>
                </a:cubicBezTo>
                <a:lnTo>
                  <a:pt x="15514" y="11141"/>
                </a:lnTo>
                <a:cubicBezTo>
                  <a:pt x="15817" y="11321"/>
                  <a:pt x="16002" y="11648"/>
                  <a:pt x="16002" y="12000"/>
                </a:cubicBezTo>
                <a:cubicBezTo>
                  <a:pt x="16002" y="12352"/>
                  <a:pt x="15817" y="12679"/>
                  <a:pt x="15514" y="12859"/>
                </a:cubicBezTo>
                <a:lnTo>
                  <a:pt x="10517" y="15856"/>
                </a:lnTo>
                <a:cubicBezTo>
                  <a:pt x="10208" y="16043"/>
                  <a:pt x="9821" y="16048"/>
                  <a:pt x="9507" y="15870"/>
                </a:cubicBezTo>
                <a:cubicBezTo>
                  <a:pt x="9192" y="15692"/>
                  <a:pt x="8999" y="15358"/>
                  <a:pt x="9000" y="14996"/>
                </a:cubicBezTo>
                <a:close/>
              </a:path>
              <a:path w="24000" h="24000" fill="none">
                <a:moveTo>
                  <a:pt x="2000" y="12000"/>
                </a:moveTo>
                <a:cubicBezTo>
                  <a:pt x="2000" y="17523"/>
                  <a:pt x="6477" y="22000"/>
                  <a:pt x="12000" y="22000"/>
                </a:cubicBezTo>
                <a:cubicBezTo>
                  <a:pt x="17523" y="22000"/>
                  <a:pt x="22000" y="17523"/>
                  <a:pt x="22000" y="12000"/>
                </a:cubicBezTo>
                <a:cubicBezTo>
                  <a:pt x="22000" y="6477"/>
                  <a:pt x="17523" y="2000"/>
                  <a:pt x="12000" y="2000"/>
                </a:cubicBezTo>
                <a:cubicBezTo>
                  <a:pt x="6477" y="2000"/>
                  <a:pt x="2000" y="6477"/>
                  <a:pt x="2000" y="12000"/>
                </a:cubicBezTo>
                <a:close/>
              </a:path>
            </a:pathLst>
          </a:custGeom>
          <a:noFill/>
          <a:ln w="15872" cap="rnd">
            <a:solidFill>
              <a:srgbClr val="0B0B10"/>
            </a:solidFill>
            <a:round/>
          </a:ln>
        </p:spPr>
      </p:sp>
      <p:sp>
        <p:nvSpPr>
          <p:cNvPr id="19" name="text18"/>
          <p:cNvSpPr txBox="1"/>
          <p:nvPr/>
        </p:nvSpPr>
        <p:spPr>
          <a:xfrm>
            <a:off x="2684313" y="5196169"/>
            <a:ext cx="1095726" cy="2146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buNone/>
            </a:pPr>
            <a:r>
              <a:rPr lang="en" sz="1300" b="0" i="0" dirty="0">
                <a:solidFill>
                  <a:srgbClr val="0B0B10"/>
                </a:solidFill>
                <a:latin typeface="Helvetica Neue"/>
                <a:ea typeface="Helvetica Neue"/>
                <a:cs typeface="Helvetica Neue"/>
              </a:rPr>
              <a:t>Watch the film</a:t>
            </a:r>
            <a:endParaRPr lang="en" sz="1300" dirty="0"/>
          </a:p>
        </p:txBody>
      </p:sp>
      <p:sp>
        <p:nvSpPr>
          <p:cNvPr id="20" name="text19"/>
          <p:cNvSpPr txBox="1"/>
          <p:nvPr/>
        </p:nvSpPr>
        <p:spPr>
          <a:xfrm>
            <a:off x="457200" y="5943600"/>
            <a:ext cx="5486491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313"/>
              </a:lnSpc>
              <a:spcBef>
                <a:spcPts val="0"/>
              </a:spcBef>
              <a:buNone/>
            </a:pPr>
            <a:r>
              <a:rPr lang="en" sz="1050" b="0" i="0" dirty="0">
                <a:solidFill>
                  <a:srgbClr val="5D5F6E"/>
                </a:solidFill>
                <a:latin typeface="Helvetica Neue"/>
                <a:ea typeface="Helvetica Neue"/>
                <a:cs typeface="Helvetica Neue"/>
              </a:rPr>
              <a:t>Free for teams up to 10   ·   SOC 2 Type II   ·   Works with the tools you use</a:t>
            </a:r>
            <a:endParaRPr lang="en" sz="1050" dirty="0"/>
          </a:p>
        </p:txBody>
      </p:sp>
      <p:sp>
        <p:nvSpPr>
          <p:cNvPr id="21" name="shape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09360" y="4773168"/>
            <a:ext cx="5257800" cy="182880"/>
          </a:xfrm>
          <a:prstGeom prst="ellipse">
            <a:avLst/>
          </a:prstGeom>
          <a:solidFill>
            <a:srgbClr val="0B0B10">
              <a:alpha val="8000"/>
            </a:srgbClr>
          </a:solidFill>
          <a:ln>
            <a:noFill/>
          </a:ln>
        </p:spPr>
      </p:sp>
      <p:sp>
        <p:nvSpPr>
          <p:cNvPr id="22" name="shape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55080" y="1325880"/>
            <a:ext cx="5120731" cy="3401568"/>
          </a:xfrm>
          <a:prstGeom prst="roundRect">
            <a:avLst>
              <a:gd name="adj" fmla="val 5974"/>
            </a:avLst>
          </a:prstGeom>
          <a:solidFill>
            <a:srgbClr val="16161C"/>
          </a:solidFill>
          <a:ln>
            <a:noFill/>
          </a:ln>
        </p:spPr>
      </p:sp>
      <p:sp>
        <p:nvSpPr>
          <p:cNvPr id="23" name="shape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97203" y="1371600"/>
            <a:ext cx="36576" cy="36576"/>
          </a:xfrm>
          <a:prstGeom prst="ellipse">
            <a:avLst/>
          </a:prstGeom>
          <a:solidFill>
            <a:srgbClr val="3A3A44"/>
          </a:solidFill>
          <a:ln>
            <a:noFill/>
          </a:ln>
        </p:spPr>
      </p:sp>
      <p:sp>
        <p:nvSpPr>
          <p:cNvPr id="24" name="shape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9904" y="4709160"/>
            <a:ext cx="5644591" cy="128016"/>
          </a:xfrm>
          <a:prstGeom prst="roundRect">
            <a:avLst>
              <a:gd name="adj" fmla="val 49603"/>
            </a:avLst>
          </a:prstGeom>
          <a:solidFill>
            <a:srgbClr val="D5D7DE"/>
          </a:solidFill>
          <a:ln>
            <a:noFill/>
          </a:ln>
        </p:spPr>
      </p:sp>
      <p:sp>
        <p:nvSpPr>
          <p:cNvPr id="25" name="shape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49640" y="4709160"/>
            <a:ext cx="731520" cy="45811"/>
          </a:xfrm>
          <a:prstGeom prst="roundRect">
            <a:avLst>
              <a:gd name="adj" fmla="val 50000"/>
            </a:avLst>
          </a:prstGeom>
          <a:solidFill>
            <a:srgbClr val="AEB1BB"/>
          </a:solidFill>
          <a:ln>
            <a:noFill/>
          </a:ln>
        </p:spPr>
      </p:sp>
      <p:sp>
        <p:nvSpPr>
          <p:cNvPr id="26" name="free25-surface"/>
          <p:cNvSpPr/>
          <p:nvPr/>
        </p:nvSpPr>
        <p:spPr>
          <a:xfrm>
            <a:off x="6464808" y="1444752"/>
            <a:ext cx="4901184" cy="3172968"/>
          </a:xfrm>
          <a:prstGeom prst="roundRect">
            <a:avLst>
              <a:gd name="adj" fmla="val 1601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27" name="free26-surface"/>
          <p:cNvSpPr/>
          <p:nvPr/>
        </p:nvSpPr>
        <p:spPr>
          <a:xfrm>
            <a:off x="6464808" y="1444752"/>
            <a:ext cx="1188720" cy="3172968"/>
          </a:xfrm>
          <a:prstGeom prst="rect">
            <a:avLst/>
          </a:prstGeom>
          <a:solidFill>
            <a:srgbClr val="F7F6FB"/>
          </a:solidFill>
          <a:ln>
            <a:noFill/>
          </a:ln>
        </p:spPr>
      </p:sp>
      <p:sp>
        <p:nvSpPr>
          <p:cNvPr id="28" name="text27"/>
          <p:cNvSpPr txBox="1"/>
          <p:nvPr/>
        </p:nvSpPr>
        <p:spPr>
          <a:xfrm>
            <a:off x="6583680" y="1554480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buNone/>
            </a:pPr>
            <a:r>
              <a:rPr lang="en" sz="1100" b="1" i="0" spc="132" dirty="0">
                <a:solidFill>
                  <a:srgbClr val="6D28D9"/>
                </a:solidFill>
                <a:latin typeface="Helvetica Neue"/>
                <a:ea typeface="Helvetica Neue"/>
                <a:cs typeface="Helvetica Neue"/>
              </a:rPr>
              <a:t>NOVA</a:t>
            </a:r>
            <a:endParaRPr lang="en" sz="1100" dirty="0"/>
          </a:p>
        </p:txBody>
      </p:sp>
      <p:sp>
        <p:nvSpPr>
          <p:cNvPr id="29" name="row28-surface"/>
          <p:cNvSpPr/>
          <p:nvPr/>
        </p:nvSpPr>
        <p:spPr>
          <a:xfrm>
            <a:off x="6574536" y="1847088"/>
            <a:ext cx="969264" cy="237744"/>
          </a:xfrm>
          <a:prstGeom prst="roundRect">
            <a:avLst>
              <a:gd name="adj" fmla="val 32051"/>
            </a:avLst>
          </a:prstGeom>
          <a:solidFill>
            <a:srgbClr val="EFEAFE"/>
          </a:solidFill>
          <a:ln>
            <a:noFill/>
          </a:ln>
        </p:spPr>
      </p:sp>
      <p:sp>
        <p:nvSpPr>
          <p:cNvPr id="30" name="icon2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76126" y="1902409"/>
            <a:ext cx="127010" cy="127010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5000" y="12000"/>
                </a:moveTo>
                <a:lnTo>
                  <a:pt x="19000" y="12000"/>
                </a:lnTo>
              </a:path>
              <a:path w="24000" h="24000" fill="none">
                <a:moveTo>
                  <a:pt x="12000" y="5000"/>
                </a:moveTo>
                <a:lnTo>
                  <a:pt x="12000" y="19000"/>
                </a:lnTo>
              </a:path>
            </a:pathLst>
          </a:custGeom>
          <a:noFill/>
          <a:ln w="10584" cap="rnd">
            <a:solidFill>
              <a:srgbClr val="6D28D9"/>
            </a:solidFill>
            <a:round/>
          </a:ln>
        </p:spPr>
      </p:sp>
      <p:sp>
        <p:nvSpPr>
          <p:cNvPr id="31" name="text30"/>
          <p:cNvSpPr txBox="1"/>
          <p:nvPr/>
        </p:nvSpPr>
        <p:spPr>
          <a:xfrm>
            <a:off x="6853885" y="1886590"/>
            <a:ext cx="588234" cy="158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1" i="0" dirty="0">
                <a:solidFill>
                  <a:srgbClr val="6D28D9"/>
                </a:solidFill>
                <a:latin typeface="Helvetica Neue"/>
                <a:ea typeface="Helvetica Neue"/>
                <a:cs typeface="Helvetica Neue"/>
              </a:rPr>
              <a:t>New chat</a:t>
            </a:r>
            <a:endParaRPr lang="en" sz="1000" dirty="0"/>
          </a:p>
        </p:txBody>
      </p:sp>
      <p:sp>
        <p:nvSpPr>
          <p:cNvPr id="32" name="icon3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20256" y="2286000"/>
            <a:ext cx="139720" cy="139720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15000" y="21000"/>
                </a:moveTo>
                <a:lnTo>
                  <a:pt x="15000" y="13000"/>
                </a:lnTo>
                <a:cubicBezTo>
                  <a:pt x="15000" y="12448"/>
                  <a:pt x="14552" y="12000"/>
                  <a:pt x="14000" y="12000"/>
                </a:cubicBezTo>
                <a:lnTo>
                  <a:pt x="10000" y="12000"/>
                </a:lnTo>
                <a:cubicBezTo>
                  <a:pt x="9448" y="12000"/>
                  <a:pt x="9000" y="12448"/>
                  <a:pt x="9000" y="13000"/>
                </a:cubicBezTo>
                <a:lnTo>
                  <a:pt x="9000" y="21000"/>
                </a:lnTo>
              </a:path>
              <a:path w="24000" h="24000" fill="none">
                <a:moveTo>
                  <a:pt x="3000" y="10000"/>
                </a:moveTo>
                <a:cubicBezTo>
                  <a:pt x="3000" y="9411"/>
                  <a:pt x="3259" y="8852"/>
                  <a:pt x="3709" y="8472"/>
                </a:cubicBezTo>
                <a:lnTo>
                  <a:pt x="10709" y="2472"/>
                </a:lnTo>
                <a:cubicBezTo>
                  <a:pt x="11454" y="1842"/>
                  <a:pt x="12546" y="1842"/>
                  <a:pt x="13291" y="2472"/>
                </a:cubicBezTo>
                <a:lnTo>
                  <a:pt x="20291" y="8472"/>
                </a:lnTo>
                <a:cubicBezTo>
                  <a:pt x="20741" y="8852"/>
                  <a:pt x="21000" y="9411"/>
                  <a:pt x="21000" y="10000"/>
                </a:cubicBezTo>
                <a:lnTo>
                  <a:pt x="21000" y="19000"/>
                </a:lnTo>
                <a:cubicBezTo>
                  <a:pt x="21000" y="20105"/>
                  <a:pt x="20105" y="21000"/>
                  <a:pt x="19000" y="21000"/>
                </a:cubicBezTo>
                <a:lnTo>
                  <a:pt x="5000" y="21000"/>
                </a:lnTo>
                <a:cubicBezTo>
                  <a:pt x="3895" y="21000"/>
                  <a:pt x="3000" y="20105"/>
                  <a:pt x="3000" y="19000"/>
                </a:cubicBezTo>
                <a:close/>
              </a:path>
            </a:pathLst>
          </a:custGeom>
          <a:noFill/>
          <a:ln w="11643" cap="rnd">
            <a:solidFill>
              <a:srgbClr val="6E6C80"/>
            </a:solidFill>
            <a:round/>
          </a:ln>
        </p:spPr>
      </p:sp>
      <p:sp>
        <p:nvSpPr>
          <p:cNvPr id="33" name="text32"/>
          <p:cNvSpPr txBox="1"/>
          <p:nvPr/>
        </p:nvSpPr>
        <p:spPr>
          <a:xfrm>
            <a:off x="6830568" y="2249424"/>
            <a:ext cx="78638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rgbClr val="1F1D2B"/>
                </a:solidFill>
                <a:latin typeface="Helvetica Neue"/>
                <a:ea typeface="Helvetica Neue"/>
                <a:cs typeface="Helvetica Neue"/>
              </a:rPr>
              <a:t>Home</a:t>
            </a:r>
            <a:endParaRPr lang="en" sz="1000" dirty="0"/>
          </a:p>
        </p:txBody>
      </p:sp>
      <p:sp>
        <p:nvSpPr>
          <p:cNvPr id="34" name="icon3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20256" y="2560320"/>
            <a:ext cx="139720" cy="139720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21000" y="21000"/>
                </a:moveTo>
                <a:lnTo>
                  <a:pt x="16660" y="16660"/>
                </a:lnTo>
              </a:path>
              <a:path w="24000" h="24000" fill="none">
                <a:moveTo>
                  <a:pt x="3000" y="11000"/>
                </a:moveTo>
                <a:cubicBezTo>
                  <a:pt x="3000" y="15418"/>
                  <a:pt x="6582" y="19000"/>
                  <a:pt x="11000" y="19000"/>
                </a:cubicBezTo>
                <a:cubicBezTo>
                  <a:pt x="15418" y="19000"/>
                  <a:pt x="19000" y="15418"/>
                  <a:pt x="19000" y="11000"/>
                </a:cubicBezTo>
                <a:cubicBezTo>
                  <a:pt x="19000" y="6582"/>
                  <a:pt x="15418" y="3000"/>
                  <a:pt x="11000" y="3000"/>
                </a:cubicBezTo>
                <a:cubicBezTo>
                  <a:pt x="6582" y="3000"/>
                  <a:pt x="3000" y="6582"/>
                  <a:pt x="3000" y="11000"/>
                </a:cubicBezTo>
                <a:close/>
              </a:path>
            </a:pathLst>
          </a:custGeom>
          <a:noFill/>
          <a:ln w="11643" cap="rnd">
            <a:solidFill>
              <a:srgbClr val="6E6C80"/>
            </a:solidFill>
            <a:round/>
          </a:ln>
        </p:spPr>
      </p:sp>
      <p:sp>
        <p:nvSpPr>
          <p:cNvPr id="35" name="text34"/>
          <p:cNvSpPr txBox="1"/>
          <p:nvPr/>
        </p:nvSpPr>
        <p:spPr>
          <a:xfrm>
            <a:off x="6830568" y="2523744"/>
            <a:ext cx="78638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rgbClr val="1F1D2B"/>
                </a:solidFill>
                <a:latin typeface="Helvetica Neue"/>
                <a:ea typeface="Helvetica Neue"/>
                <a:cs typeface="Helvetica Neue"/>
              </a:rPr>
              <a:t>Search</a:t>
            </a:r>
            <a:endParaRPr lang="en" sz="1000" dirty="0"/>
          </a:p>
        </p:txBody>
      </p:sp>
      <p:sp>
        <p:nvSpPr>
          <p:cNvPr id="36" name="icon3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20256" y="2834640"/>
            <a:ext cx="139720" cy="139720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16000" y="6000"/>
                </a:moveTo>
                <a:lnTo>
                  <a:pt x="20000" y="20000"/>
                </a:lnTo>
              </a:path>
              <a:path w="24000" h="24000" fill="none">
                <a:moveTo>
                  <a:pt x="12000" y="6000"/>
                </a:moveTo>
                <a:lnTo>
                  <a:pt x="12000" y="20000"/>
                </a:lnTo>
              </a:path>
              <a:path w="24000" h="24000" fill="none">
                <a:moveTo>
                  <a:pt x="8000" y="8000"/>
                </a:moveTo>
                <a:lnTo>
                  <a:pt x="8000" y="20000"/>
                </a:lnTo>
              </a:path>
              <a:path w="24000" h="24000" fill="none">
                <a:moveTo>
                  <a:pt x="4000" y="4000"/>
                </a:moveTo>
                <a:lnTo>
                  <a:pt x="4000" y="20000"/>
                </a:lnTo>
              </a:path>
            </a:pathLst>
          </a:custGeom>
          <a:noFill/>
          <a:ln w="11643" cap="rnd">
            <a:solidFill>
              <a:srgbClr val="6E6C80"/>
            </a:solidFill>
            <a:round/>
          </a:ln>
        </p:spPr>
      </p:sp>
      <p:sp>
        <p:nvSpPr>
          <p:cNvPr id="37" name="text36"/>
          <p:cNvSpPr txBox="1"/>
          <p:nvPr/>
        </p:nvSpPr>
        <p:spPr>
          <a:xfrm>
            <a:off x="6830568" y="2798064"/>
            <a:ext cx="78638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rgbClr val="1F1D2B"/>
                </a:solidFill>
                <a:latin typeface="Helvetica Neue"/>
                <a:ea typeface="Helvetica Neue"/>
                <a:cs typeface="Helvetica Neue"/>
              </a:rPr>
              <a:t>Library</a:t>
            </a:r>
            <a:endParaRPr lang="en" sz="1000" dirty="0"/>
          </a:p>
        </p:txBody>
      </p:sp>
      <p:sp>
        <p:nvSpPr>
          <p:cNvPr id="38" name="icon3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20256" y="3108960"/>
            <a:ext cx="139720" cy="139720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12000" y="8000"/>
                </a:moveTo>
                <a:lnTo>
                  <a:pt x="12000" y="4000"/>
                </a:lnTo>
                <a:lnTo>
                  <a:pt x="8000" y="4000"/>
                </a:lnTo>
              </a:path>
              <a:path w="24000" h="24000" fill="none">
                <a:moveTo>
                  <a:pt x="6000" y="8000"/>
                </a:moveTo>
                <a:lnTo>
                  <a:pt x="18000" y="8000"/>
                </a:lnTo>
                <a:cubicBezTo>
                  <a:pt x="19105" y="8000"/>
                  <a:pt x="20000" y="8895"/>
                  <a:pt x="20000" y="10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10000"/>
                </a:lnTo>
                <a:cubicBezTo>
                  <a:pt x="4000" y="8895"/>
                  <a:pt x="4895" y="8000"/>
                  <a:pt x="6000" y="8000"/>
                </a:cubicBezTo>
                <a:close/>
              </a:path>
              <a:path w="24000" h="24000" fill="none">
                <a:moveTo>
                  <a:pt x="2000" y="14000"/>
                </a:moveTo>
                <a:lnTo>
                  <a:pt x="4000" y="14000"/>
                </a:lnTo>
              </a:path>
              <a:path w="24000" h="24000" fill="none">
                <a:moveTo>
                  <a:pt x="20000" y="14000"/>
                </a:moveTo>
                <a:lnTo>
                  <a:pt x="22000" y="14000"/>
                </a:lnTo>
              </a:path>
              <a:path w="24000" h="24000" fill="none">
                <a:moveTo>
                  <a:pt x="15000" y="13000"/>
                </a:moveTo>
                <a:lnTo>
                  <a:pt x="15000" y="15000"/>
                </a:lnTo>
              </a:path>
              <a:path w="24000" h="24000" fill="none">
                <a:moveTo>
                  <a:pt x="9000" y="13000"/>
                </a:moveTo>
                <a:lnTo>
                  <a:pt x="9000" y="15000"/>
                </a:lnTo>
              </a:path>
            </a:pathLst>
          </a:custGeom>
          <a:noFill/>
          <a:ln w="11643" cap="rnd">
            <a:solidFill>
              <a:srgbClr val="6E6C80"/>
            </a:solidFill>
            <a:round/>
          </a:ln>
        </p:spPr>
      </p:sp>
      <p:sp>
        <p:nvSpPr>
          <p:cNvPr id="39" name="text38"/>
          <p:cNvSpPr txBox="1"/>
          <p:nvPr/>
        </p:nvSpPr>
        <p:spPr>
          <a:xfrm>
            <a:off x="6830568" y="3072384"/>
            <a:ext cx="78638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rgbClr val="1F1D2B"/>
                </a:solidFill>
                <a:latin typeface="Helvetica Neue"/>
                <a:ea typeface="Helvetica Neue"/>
                <a:cs typeface="Helvetica Neue"/>
              </a:rPr>
              <a:t>Agents</a:t>
            </a:r>
            <a:endParaRPr lang="en" sz="1000" dirty="0"/>
          </a:p>
        </p:txBody>
      </p:sp>
      <p:sp>
        <p:nvSpPr>
          <p:cNvPr id="40" name="icon3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20256" y="3383280"/>
            <a:ext cx="139720" cy="139720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5000" y="3000"/>
                </a:moveTo>
                <a:lnTo>
                  <a:pt x="9000" y="3000"/>
                </a:lnTo>
                <a:cubicBezTo>
                  <a:pt x="10105" y="3000"/>
                  <a:pt x="11000" y="3895"/>
                  <a:pt x="11000" y="5000"/>
                </a:cubicBezTo>
                <a:lnTo>
                  <a:pt x="11000" y="9000"/>
                </a:lnTo>
                <a:cubicBezTo>
                  <a:pt x="11000" y="10105"/>
                  <a:pt x="10105" y="11000"/>
                  <a:pt x="9000" y="11000"/>
                </a:cubicBezTo>
                <a:lnTo>
                  <a:pt x="5000" y="11000"/>
                </a:lnTo>
                <a:cubicBezTo>
                  <a:pt x="3895" y="11000"/>
                  <a:pt x="3000" y="10105"/>
                  <a:pt x="3000" y="9000"/>
                </a:cubicBezTo>
                <a:lnTo>
                  <a:pt x="3000" y="5000"/>
                </a:lnTo>
                <a:cubicBezTo>
                  <a:pt x="3000" y="3895"/>
                  <a:pt x="3895" y="3000"/>
                  <a:pt x="5000" y="3000"/>
                </a:cubicBezTo>
                <a:close/>
              </a:path>
              <a:path w="24000" h="24000" fill="none">
                <a:moveTo>
                  <a:pt x="7000" y="11000"/>
                </a:moveTo>
                <a:lnTo>
                  <a:pt x="7000" y="15000"/>
                </a:lnTo>
                <a:cubicBezTo>
                  <a:pt x="7000" y="16105"/>
                  <a:pt x="7895" y="17000"/>
                  <a:pt x="9000" y="17000"/>
                </a:cubicBezTo>
                <a:lnTo>
                  <a:pt x="13000" y="17000"/>
                </a:lnTo>
              </a:path>
              <a:path w="24000" h="24000" fill="none">
                <a:moveTo>
                  <a:pt x="15000" y="13000"/>
                </a:moveTo>
                <a:lnTo>
                  <a:pt x="19000" y="13000"/>
                </a:lnTo>
                <a:cubicBezTo>
                  <a:pt x="20105" y="13000"/>
                  <a:pt x="21000" y="13895"/>
                  <a:pt x="21000" y="15000"/>
                </a:cubicBezTo>
                <a:lnTo>
                  <a:pt x="21000" y="19000"/>
                </a:lnTo>
                <a:cubicBezTo>
                  <a:pt x="21000" y="20105"/>
                  <a:pt x="20105" y="21000"/>
                  <a:pt x="19000" y="21000"/>
                </a:cubicBezTo>
                <a:lnTo>
                  <a:pt x="15000" y="21000"/>
                </a:lnTo>
                <a:cubicBezTo>
                  <a:pt x="13895" y="21000"/>
                  <a:pt x="13000" y="20105"/>
                  <a:pt x="13000" y="19000"/>
                </a:cubicBezTo>
                <a:lnTo>
                  <a:pt x="13000" y="15000"/>
                </a:lnTo>
                <a:cubicBezTo>
                  <a:pt x="13000" y="13895"/>
                  <a:pt x="13895" y="13000"/>
                  <a:pt x="15000" y="13000"/>
                </a:cubicBezTo>
                <a:close/>
              </a:path>
            </a:pathLst>
          </a:custGeom>
          <a:noFill/>
          <a:ln w="11643" cap="rnd">
            <a:solidFill>
              <a:srgbClr val="6E6C80"/>
            </a:solidFill>
            <a:round/>
          </a:ln>
        </p:spPr>
      </p:sp>
      <p:sp>
        <p:nvSpPr>
          <p:cNvPr id="41" name="text40"/>
          <p:cNvSpPr txBox="1"/>
          <p:nvPr/>
        </p:nvSpPr>
        <p:spPr>
          <a:xfrm>
            <a:off x="6830568" y="3346704"/>
            <a:ext cx="78638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rgbClr val="1F1D2B"/>
                </a:solidFill>
                <a:latin typeface="Helvetica Neue"/>
                <a:ea typeface="Helvetica Neue"/>
                <a:cs typeface="Helvetica Neue"/>
              </a:rPr>
              <a:t>Automations</a:t>
            </a:r>
            <a:endParaRPr lang="en" sz="1000" dirty="0"/>
          </a:p>
        </p:txBody>
      </p:sp>
      <p:sp>
        <p:nvSpPr>
          <p:cNvPr id="42" name="shape4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0" y="4261104"/>
            <a:ext cx="219456" cy="219456"/>
          </a:xfrm>
          <a:prstGeom prst="ellipse">
            <a:avLst/>
          </a:prstGeom>
          <a:solidFill>
            <a:srgbClr val="C4B5FD"/>
          </a:solidFill>
          <a:ln>
            <a:noFill/>
          </a:ln>
        </p:spPr>
      </p:sp>
      <p:sp>
        <p:nvSpPr>
          <p:cNvPr id="43" name="text42"/>
          <p:cNvSpPr txBox="1"/>
          <p:nvPr/>
        </p:nvSpPr>
        <p:spPr>
          <a:xfrm>
            <a:off x="6858000" y="4261104"/>
            <a:ext cx="73152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rgbClr val="1F1D2B"/>
                </a:solidFill>
                <a:latin typeface="Helvetica Neue"/>
                <a:ea typeface="Helvetica Neue"/>
                <a:cs typeface="Helvetica Neue"/>
              </a:rPr>
              <a:t>Alex Kim</a:t>
            </a:r>
            <a:endParaRPr lang="en" sz="1000" dirty="0"/>
          </a:p>
        </p:txBody>
      </p:sp>
      <p:sp>
        <p:nvSpPr>
          <p:cNvPr id="44" name="text43"/>
          <p:cNvSpPr txBox="1"/>
          <p:nvPr/>
        </p:nvSpPr>
        <p:spPr>
          <a:xfrm>
            <a:off x="7726680" y="1810512"/>
            <a:ext cx="3657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buNone/>
            </a:pPr>
            <a:r>
              <a:rPr lang="en" sz="1600" b="1" i="0" dirty="0">
                <a:solidFill>
                  <a:srgbClr val="1F1D2B"/>
                </a:solidFill>
                <a:latin typeface="Helvetica Neue"/>
                <a:ea typeface="Helvetica Neue"/>
                <a:cs typeface="Helvetica Neue"/>
              </a:rPr>
              <a:t>Good morning, Alex</a:t>
            </a:r>
            <a:endParaRPr lang="en" sz="1600" dirty="0"/>
          </a:p>
        </p:txBody>
      </p:sp>
      <p:sp>
        <p:nvSpPr>
          <p:cNvPr id="45" name="text44"/>
          <p:cNvSpPr txBox="1"/>
          <p:nvPr/>
        </p:nvSpPr>
        <p:spPr>
          <a:xfrm>
            <a:off x="7726680" y="2103120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375"/>
              </a:lnSpc>
              <a:spcBef>
                <a:spcPts val="0"/>
              </a:spcBef>
              <a:buNone/>
            </a:pPr>
            <a:r>
              <a:rPr lang="en" sz="1100" b="0" i="0" dirty="0">
                <a:solidFill>
                  <a:srgbClr val="6E6C80"/>
                </a:solidFill>
                <a:latin typeface="Helvetica Neue"/>
                <a:ea typeface="Helvetica Neue"/>
                <a:cs typeface="Helvetica Neue"/>
              </a:rPr>
              <a:t>What will you build today?</a:t>
            </a:r>
            <a:endParaRPr lang="en" sz="1100" dirty="0"/>
          </a:p>
        </p:txBody>
      </p:sp>
      <p:sp>
        <p:nvSpPr>
          <p:cNvPr id="46" name="free45-surface"/>
          <p:cNvSpPr/>
          <p:nvPr/>
        </p:nvSpPr>
        <p:spPr>
          <a:xfrm>
            <a:off x="7882037" y="2468880"/>
            <a:ext cx="3346704" cy="402336"/>
          </a:xfrm>
          <a:prstGeom prst="roundRect">
            <a:avLst>
              <a:gd name="adj" fmla="val 34722"/>
            </a:avLst>
          </a:prstGeom>
          <a:solidFill>
            <a:schemeClr val="accent6"/>
          </a:solidFill>
          <a:ln w="12700">
            <a:solidFill>
              <a:srgbClr val="D9D2F7"/>
            </a:solidFill>
          </a:ln>
          <a:effectLst>
            <a:outerShdw blurRad="152400" dist="38100" dir="5400000" algn="t" rotWithShape="0">
              <a:srgbClr val="000000">
                <a:alpha val="16000"/>
              </a:srgbClr>
            </a:outerShdw>
          </a:effectLst>
        </p:spPr>
      </p:sp>
      <p:sp>
        <p:nvSpPr>
          <p:cNvPr id="47" name="icon4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19197" y="2596896"/>
            <a:ext cx="139720" cy="139720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11017" y="2814"/>
                </a:moveTo>
                <a:cubicBezTo>
                  <a:pt x="11105" y="2341"/>
                  <a:pt x="11519" y="1998"/>
                  <a:pt x="12000" y="1998"/>
                </a:cubicBezTo>
                <a:cubicBezTo>
                  <a:pt x="12481" y="1998"/>
                  <a:pt x="12895" y="2341"/>
                  <a:pt x="12983" y="2814"/>
                </a:cubicBezTo>
                <a:lnTo>
                  <a:pt x="14034" y="8372"/>
                </a:lnTo>
                <a:cubicBezTo>
                  <a:pt x="14187" y="9181"/>
                  <a:pt x="14819" y="9813"/>
                  <a:pt x="15628" y="9966"/>
                </a:cubicBezTo>
                <a:lnTo>
                  <a:pt x="21186" y="11017"/>
                </a:lnTo>
                <a:cubicBezTo>
                  <a:pt x="21659" y="11105"/>
                  <a:pt x="22002" y="11519"/>
                  <a:pt x="22002" y="12000"/>
                </a:cubicBezTo>
                <a:cubicBezTo>
                  <a:pt x="22002" y="12481"/>
                  <a:pt x="21659" y="12895"/>
                  <a:pt x="21186" y="12983"/>
                </a:cubicBezTo>
                <a:lnTo>
                  <a:pt x="15628" y="14034"/>
                </a:lnTo>
                <a:cubicBezTo>
                  <a:pt x="14819" y="14187"/>
                  <a:pt x="14187" y="14819"/>
                  <a:pt x="14034" y="15628"/>
                </a:cubicBezTo>
                <a:lnTo>
                  <a:pt x="12983" y="21186"/>
                </a:lnTo>
                <a:cubicBezTo>
                  <a:pt x="12895" y="21659"/>
                  <a:pt x="12481" y="22002"/>
                  <a:pt x="12000" y="22002"/>
                </a:cubicBezTo>
                <a:cubicBezTo>
                  <a:pt x="11519" y="22002"/>
                  <a:pt x="11105" y="21659"/>
                  <a:pt x="11017" y="21186"/>
                </a:cubicBezTo>
                <a:lnTo>
                  <a:pt x="9966" y="15628"/>
                </a:lnTo>
                <a:cubicBezTo>
                  <a:pt x="9813" y="14819"/>
                  <a:pt x="9181" y="14187"/>
                  <a:pt x="8372" y="14034"/>
                </a:cubicBezTo>
                <a:lnTo>
                  <a:pt x="2814" y="12983"/>
                </a:lnTo>
                <a:cubicBezTo>
                  <a:pt x="2341" y="12895"/>
                  <a:pt x="1998" y="12481"/>
                  <a:pt x="1998" y="12000"/>
                </a:cubicBezTo>
                <a:cubicBezTo>
                  <a:pt x="1998" y="11519"/>
                  <a:pt x="2341" y="11105"/>
                  <a:pt x="2814" y="11017"/>
                </a:cubicBezTo>
                <a:lnTo>
                  <a:pt x="8372" y="9966"/>
                </a:lnTo>
                <a:cubicBezTo>
                  <a:pt x="9181" y="9813"/>
                  <a:pt x="9813" y="9181"/>
                  <a:pt x="9966" y="8372"/>
                </a:cubicBezTo>
                <a:close/>
              </a:path>
              <a:path w="24000" h="24000" fill="none">
                <a:moveTo>
                  <a:pt x="20000" y="2000"/>
                </a:moveTo>
                <a:lnTo>
                  <a:pt x="20000" y="6000"/>
                </a:lnTo>
              </a:path>
              <a:path w="24000" h="24000" fill="none">
                <a:moveTo>
                  <a:pt x="22000" y="4000"/>
                </a:moveTo>
                <a:lnTo>
                  <a:pt x="18000" y="4000"/>
                </a:lnTo>
              </a:path>
              <a:path w="24000" h="24000" fill="none">
                <a:moveTo>
                  <a:pt x="2000" y="20000"/>
                </a:moveTo>
                <a:cubicBezTo>
                  <a:pt x="2000" y="21105"/>
                  <a:pt x="2895" y="22000"/>
                  <a:pt x="4000" y="22000"/>
                </a:cubicBezTo>
                <a:cubicBezTo>
                  <a:pt x="5105" y="22000"/>
                  <a:pt x="6000" y="21105"/>
                  <a:pt x="6000" y="20000"/>
                </a:cubicBezTo>
                <a:cubicBezTo>
                  <a:pt x="6000" y="18895"/>
                  <a:pt x="5105" y="18000"/>
                  <a:pt x="4000" y="18000"/>
                </a:cubicBezTo>
                <a:cubicBezTo>
                  <a:pt x="2895" y="18000"/>
                  <a:pt x="2000" y="18895"/>
                  <a:pt x="2000" y="20000"/>
                </a:cubicBezTo>
                <a:close/>
              </a:path>
            </a:pathLst>
          </a:custGeom>
          <a:noFill/>
          <a:ln w="11643" cap="rnd">
            <a:solidFill>
              <a:srgbClr val="6D28D9"/>
            </a:solidFill>
            <a:round/>
          </a:ln>
        </p:spPr>
      </p:sp>
      <p:sp>
        <p:nvSpPr>
          <p:cNvPr id="48" name="text47"/>
          <p:cNvSpPr txBox="1"/>
          <p:nvPr/>
        </p:nvSpPr>
        <p:spPr>
          <a:xfrm>
            <a:off x="8229509" y="2560320"/>
            <a:ext cx="24688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rgbClr val="6E6C80"/>
                </a:solidFill>
                <a:latin typeface="Helvetica Neue"/>
                <a:ea typeface="Helvetica Neue"/>
                <a:cs typeface="Helvetica Neue"/>
              </a:rPr>
              <a:t>Turn my idea into a launch plan…</a:t>
            </a:r>
            <a:endParaRPr lang="en" sz="1000" dirty="0"/>
          </a:p>
        </p:txBody>
      </p:sp>
      <p:sp>
        <p:nvSpPr>
          <p:cNvPr id="49" name="column48-surface"/>
          <p:cNvSpPr/>
          <p:nvPr/>
        </p:nvSpPr>
        <p:spPr>
          <a:xfrm>
            <a:off x="10917845" y="2532888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</p:spPr>
      </p:sp>
      <p:sp>
        <p:nvSpPr>
          <p:cNvPr id="50" name="icon4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978744" y="2593787"/>
            <a:ext cx="152430" cy="152430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5000" y="12000"/>
                </a:moveTo>
                <a:lnTo>
                  <a:pt x="12000" y="5000"/>
                </a:lnTo>
                <a:lnTo>
                  <a:pt x="19000" y="12000"/>
                </a:lnTo>
              </a:path>
              <a:path w="24000" h="24000" fill="none">
                <a:moveTo>
                  <a:pt x="12000" y="19000"/>
                </a:moveTo>
                <a:lnTo>
                  <a:pt x="12000" y="5000"/>
                </a:lnTo>
              </a:path>
            </a:pathLst>
          </a:custGeom>
          <a:noFill/>
          <a:ln w="12703" cap="rnd">
            <a:solidFill>
              <a:schemeClr val="accent6"/>
            </a:solidFill>
            <a:round/>
          </a:ln>
        </p:spPr>
      </p:sp>
      <p:sp>
        <p:nvSpPr>
          <p:cNvPr id="51" name="column50-surface"/>
          <p:cNvSpPr/>
          <p:nvPr/>
        </p:nvSpPr>
        <p:spPr>
          <a:xfrm>
            <a:off x="7818029" y="3072384"/>
            <a:ext cx="822960" cy="1115568"/>
          </a:xfrm>
          <a:prstGeom prst="roundRect">
            <a:avLst>
              <a:gd name="adj" fmla="val 12346"/>
            </a:avLst>
          </a:prstGeom>
          <a:solidFill>
            <a:schemeClr val="accent6"/>
          </a:solidFill>
          <a:ln w="9525">
            <a:solidFill>
              <a:srgbClr val="E8E6F0"/>
            </a:solidFill>
          </a:ln>
        </p:spPr>
      </p:sp>
      <p:sp>
        <p:nvSpPr>
          <p:cNvPr id="52" name="column51-surface"/>
          <p:cNvSpPr/>
          <p:nvPr/>
        </p:nvSpPr>
        <p:spPr>
          <a:xfrm>
            <a:off x="7907000" y="3173974"/>
            <a:ext cx="279441" cy="279441"/>
          </a:xfrm>
          <a:prstGeom prst="roundRect">
            <a:avLst>
              <a:gd name="adj" fmla="val 27269"/>
            </a:avLst>
          </a:prstGeom>
          <a:solidFill>
            <a:srgbClr val="EFEAFE"/>
          </a:solidFill>
          <a:ln>
            <a:noFill/>
          </a:ln>
        </p:spPr>
      </p:sp>
      <p:sp>
        <p:nvSpPr>
          <p:cNvPr id="53" name="icon5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64150" y="3231124"/>
            <a:ext cx="165141" cy="165141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21000" y="21000"/>
                </a:moveTo>
                <a:lnTo>
                  <a:pt x="16660" y="16660"/>
                </a:lnTo>
              </a:path>
              <a:path w="24000" h="24000" fill="none">
                <a:moveTo>
                  <a:pt x="3000" y="11000"/>
                </a:moveTo>
                <a:cubicBezTo>
                  <a:pt x="3000" y="15418"/>
                  <a:pt x="6582" y="19000"/>
                  <a:pt x="11000" y="19000"/>
                </a:cubicBezTo>
                <a:cubicBezTo>
                  <a:pt x="15418" y="19000"/>
                  <a:pt x="19000" y="15418"/>
                  <a:pt x="19000" y="11000"/>
                </a:cubicBezTo>
                <a:cubicBezTo>
                  <a:pt x="19000" y="6582"/>
                  <a:pt x="15418" y="3000"/>
                  <a:pt x="11000" y="3000"/>
                </a:cubicBezTo>
                <a:cubicBezTo>
                  <a:pt x="6582" y="3000"/>
                  <a:pt x="3000" y="6582"/>
                  <a:pt x="3000" y="11000"/>
                </a:cubicBezTo>
                <a:close/>
              </a:path>
            </a:pathLst>
          </a:custGeom>
          <a:noFill/>
          <a:ln w="13762" cap="rnd">
            <a:solidFill>
              <a:srgbClr val="6D28D9"/>
            </a:solidFill>
            <a:round/>
          </a:ln>
        </p:spPr>
      </p:sp>
      <p:sp>
        <p:nvSpPr>
          <p:cNvPr id="54" name="text53"/>
          <p:cNvSpPr txBox="1"/>
          <p:nvPr/>
        </p:nvSpPr>
        <p:spPr>
          <a:xfrm>
            <a:off x="7907000" y="3504164"/>
            <a:ext cx="645109" cy="1666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313"/>
              </a:lnSpc>
              <a:spcBef>
                <a:spcPts val="0"/>
              </a:spcBef>
              <a:buNone/>
            </a:pPr>
            <a:r>
              <a:rPr lang="en" sz="1050" b="1" i="0" dirty="0">
                <a:solidFill>
                  <a:srgbClr val="1F1D2B"/>
                </a:solidFill>
                <a:latin typeface="Helvetica Neue"/>
                <a:ea typeface="Helvetica Neue"/>
                <a:cs typeface="Helvetica Neue"/>
              </a:rPr>
              <a:t>Research</a:t>
            </a:r>
            <a:endParaRPr lang="en" sz="1050" dirty="0"/>
          </a:p>
        </p:txBody>
      </p:sp>
      <p:sp>
        <p:nvSpPr>
          <p:cNvPr id="55" name="text54"/>
          <p:cNvSpPr txBox="1"/>
          <p:nvPr/>
        </p:nvSpPr>
        <p:spPr>
          <a:xfrm>
            <a:off x="7907000" y="3721699"/>
            <a:ext cx="645109" cy="29205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1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rgbClr val="6E6C80"/>
                </a:solidFill>
                <a:latin typeface="Helvetica Neue"/>
                <a:ea typeface="Helvetica Neue"/>
                <a:cs typeface="Helvetica Neue"/>
              </a:rPr>
              <a:t>Cited answers</a:t>
            </a:r>
            <a:endParaRPr lang="en" sz="1000" dirty="0"/>
          </a:p>
        </p:txBody>
      </p:sp>
      <p:sp>
        <p:nvSpPr>
          <p:cNvPr id="56" name="column55-surface"/>
          <p:cNvSpPr/>
          <p:nvPr/>
        </p:nvSpPr>
        <p:spPr>
          <a:xfrm>
            <a:off x="8705088" y="3072384"/>
            <a:ext cx="822960" cy="1115568"/>
          </a:xfrm>
          <a:prstGeom prst="roundRect">
            <a:avLst>
              <a:gd name="adj" fmla="val 12346"/>
            </a:avLst>
          </a:prstGeom>
          <a:solidFill>
            <a:schemeClr val="accent6"/>
          </a:solidFill>
          <a:ln w="9525">
            <a:solidFill>
              <a:srgbClr val="E8E6F0"/>
            </a:solidFill>
          </a:ln>
        </p:spPr>
      </p:sp>
      <p:sp>
        <p:nvSpPr>
          <p:cNvPr id="57" name="column56-surface"/>
          <p:cNvSpPr/>
          <p:nvPr/>
        </p:nvSpPr>
        <p:spPr>
          <a:xfrm>
            <a:off x="8793968" y="3173974"/>
            <a:ext cx="279441" cy="279441"/>
          </a:xfrm>
          <a:prstGeom prst="roundRect">
            <a:avLst>
              <a:gd name="adj" fmla="val 27269"/>
            </a:avLst>
          </a:prstGeom>
          <a:solidFill>
            <a:srgbClr val="E0F2FE"/>
          </a:solidFill>
          <a:ln>
            <a:noFill/>
          </a:ln>
        </p:spPr>
      </p:sp>
      <p:sp>
        <p:nvSpPr>
          <p:cNvPr id="58" name="icon5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51118" y="3231124"/>
            <a:ext cx="165141" cy="165141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13000" y="21000"/>
                </a:moveTo>
                <a:lnTo>
                  <a:pt x="21000" y="21000"/>
                </a:lnTo>
              </a:path>
              <a:path w="24000" h="24000" fill="none">
                <a:moveTo>
                  <a:pt x="21174" y="6812"/>
                </a:moveTo>
                <a:cubicBezTo>
                  <a:pt x="22275" y="5711"/>
                  <a:pt x="22275" y="3926"/>
                  <a:pt x="21174" y="2826"/>
                </a:cubicBezTo>
                <a:cubicBezTo>
                  <a:pt x="20074" y="1725"/>
                  <a:pt x="18289" y="1724"/>
                  <a:pt x="17188" y="2825"/>
                </a:cubicBezTo>
                <a:lnTo>
                  <a:pt x="3842" y="16174"/>
                </a:lnTo>
                <a:cubicBezTo>
                  <a:pt x="3610" y="16406"/>
                  <a:pt x="3438" y="16691"/>
                  <a:pt x="3342" y="17004"/>
                </a:cubicBezTo>
                <a:lnTo>
                  <a:pt x="2021" y="21356"/>
                </a:lnTo>
                <a:cubicBezTo>
                  <a:pt x="1968" y="21532"/>
                  <a:pt x="2017" y="21723"/>
                  <a:pt x="2147" y="21853"/>
                </a:cubicBezTo>
                <a:cubicBezTo>
                  <a:pt x="2277" y="21983"/>
                  <a:pt x="2468" y="22031"/>
                  <a:pt x="2644" y="21978"/>
                </a:cubicBezTo>
                <a:lnTo>
                  <a:pt x="6997" y="20658"/>
                </a:lnTo>
                <a:cubicBezTo>
                  <a:pt x="7310" y="20563"/>
                  <a:pt x="7595" y="20392"/>
                  <a:pt x="7827" y="20161"/>
                </a:cubicBezTo>
                <a:close/>
              </a:path>
            </a:pathLst>
          </a:custGeom>
          <a:noFill/>
          <a:ln w="13762" cap="rnd">
            <a:solidFill>
              <a:srgbClr val="0369A1"/>
            </a:solidFill>
            <a:round/>
          </a:ln>
        </p:spPr>
      </p:sp>
      <p:sp>
        <p:nvSpPr>
          <p:cNvPr id="59" name="text58"/>
          <p:cNvSpPr txBox="1"/>
          <p:nvPr/>
        </p:nvSpPr>
        <p:spPr>
          <a:xfrm>
            <a:off x="8793968" y="3504164"/>
            <a:ext cx="645109" cy="1666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313"/>
              </a:lnSpc>
              <a:spcBef>
                <a:spcPts val="0"/>
              </a:spcBef>
              <a:buNone/>
            </a:pPr>
            <a:r>
              <a:rPr lang="en" sz="1050" b="1" i="0" dirty="0">
                <a:solidFill>
                  <a:srgbClr val="1F1D2B"/>
                </a:solidFill>
                <a:latin typeface="Helvetica Neue"/>
                <a:ea typeface="Helvetica Neue"/>
                <a:cs typeface="Helvetica Neue"/>
              </a:rPr>
              <a:t>Create</a:t>
            </a:r>
            <a:endParaRPr lang="en" sz="1050" dirty="0"/>
          </a:p>
        </p:txBody>
      </p:sp>
      <p:sp>
        <p:nvSpPr>
          <p:cNvPr id="60" name="text59"/>
          <p:cNvSpPr txBox="1"/>
          <p:nvPr/>
        </p:nvSpPr>
        <p:spPr>
          <a:xfrm>
            <a:off x="8793968" y="3721699"/>
            <a:ext cx="645109" cy="29205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1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rgbClr val="6E6C80"/>
                </a:solidFill>
                <a:latin typeface="Helvetica Neue"/>
                <a:ea typeface="Helvetica Neue"/>
                <a:cs typeface="Helvetica Neue"/>
              </a:rPr>
              <a:t>Docs &amp; slides</a:t>
            </a:r>
            <a:endParaRPr lang="en" sz="1000" dirty="0"/>
          </a:p>
        </p:txBody>
      </p:sp>
      <p:sp>
        <p:nvSpPr>
          <p:cNvPr id="61" name="column60-surface"/>
          <p:cNvSpPr/>
          <p:nvPr/>
        </p:nvSpPr>
        <p:spPr>
          <a:xfrm>
            <a:off x="9591965" y="3072384"/>
            <a:ext cx="822960" cy="1115568"/>
          </a:xfrm>
          <a:prstGeom prst="roundRect">
            <a:avLst>
              <a:gd name="adj" fmla="val 12346"/>
            </a:avLst>
          </a:prstGeom>
          <a:solidFill>
            <a:schemeClr val="accent6"/>
          </a:solidFill>
          <a:ln w="9525">
            <a:solidFill>
              <a:srgbClr val="E8E6F0"/>
            </a:solidFill>
          </a:ln>
        </p:spPr>
      </p:sp>
      <p:sp>
        <p:nvSpPr>
          <p:cNvPr id="62" name="column61-surface"/>
          <p:cNvSpPr/>
          <p:nvPr/>
        </p:nvSpPr>
        <p:spPr>
          <a:xfrm>
            <a:off x="9680936" y="3173974"/>
            <a:ext cx="279441" cy="279441"/>
          </a:xfrm>
          <a:prstGeom prst="roundRect">
            <a:avLst>
              <a:gd name="adj" fmla="val 27269"/>
            </a:avLst>
          </a:prstGeom>
          <a:solidFill>
            <a:srgbClr val="FCE7F3"/>
          </a:solidFill>
          <a:ln>
            <a:noFill/>
          </a:ln>
        </p:spPr>
      </p:sp>
      <p:sp>
        <p:nvSpPr>
          <p:cNvPr id="63" name="icon6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738086" y="3231124"/>
            <a:ext cx="165141" cy="165141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3000" y="3000"/>
                </a:moveTo>
                <a:lnTo>
                  <a:pt x="3000" y="19000"/>
                </a:lnTo>
                <a:cubicBezTo>
                  <a:pt x="3000" y="20105"/>
                  <a:pt x="3895" y="21000"/>
                  <a:pt x="5000" y="21000"/>
                </a:cubicBezTo>
                <a:lnTo>
                  <a:pt x="21000" y="21000"/>
                </a:lnTo>
              </a:path>
              <a:path w="24000" h="24000" fill="none">
                <a:moveTo>
                  <a:pt x="19000" y="9000"/>
                </a:moveTo>
                <a:lnTo>
                  <a:pt x="14000" y="14000"/>
                </a:lnTo>
                <a:lnTo>
                  <a:pt x="10000" y="10000"/>
                </a:lnTo>
                <a:lnTo>
                  <a:pt x="7000" y="13000"/>
                </a:lnTo>
              </a:path>
            </a:pathLst>
          </a:custGeom>
          <a:noFill/>
          <a:ln w="13762" cap="rnd">
            <a:solidFill>
              <a:srgbClr val="BE185D"/>
            </a:solidFill>
            <a:round/>
          </a:ln>
        </p:spPr>
      </p:sp>
      <p:sp>
        <p:nvSpPr>
          <p:cNvPr id="64" name="text63"/>
          <p:cNvSpPr txBox="1"/>
          <p:nvPr/>
        </p:nvSpPr>
        <p:spPr>
          <a:xfrm>
            <a:off x="9680936" y="3504164"/>
            <a:ext cx="645109" cy="1666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313"/>
              </a:lnSpc>
              <a:spcBef>
                <a:spcPts val="0"/>
              </a:spcBef>
              <a:buNone/>
            </a:pPr>
            <a:r>
              <a:rPr lang="en" sz="1050" b="1" i="0" dirty="0">
                <a:solidFill>
                  <a:srgbClr val="1F1D2B"/>
                </a:solidFill>
                <a:latin typeface="Helvetica Neue"/>
                <a:ea typeface="Helvetica Neue"/>
                <a:cs typeface="Helvetica Neue"/>
              </a:rPr>
              <a:t>Analyze</a:t>
            </a:r>
            <a:endParaRPr lang="en" sz="1050" dirty="0"/>
          </a:p>
        </p:txBody>
      </p:sp>
      <p:sp>
        <p:nvSpPr>
          <p:cNvPr id="65" name="text64"/>
          <p:cNvSpPr txBox="1"/>
          <p:nvPr/>
        </p:nvSpPr>
        <p:spPr>
          <a:xfrm>
            <a:off x="9680936" y="3721699"/>
            <a:ext cx="645109" cy="29205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1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rgbClr val="6E6C80"/>
                </a:solidFill>
                <a:latin typeface="Helvetica Neue"/>
                <a:ea typeface="Helvetica Neue"/>
                <a:cs typeface="Helvetica Neue"/>
              </a:rPr>
              <a:t>Live insights</a:t>
            </a:r>
            <a:endParaRPr lang="en" sz="1000" dirty="0"/>
          </a:p>
        </p:txBody>
      </p:sp>
      <p:sp>
        <p:nvSpPr>
          <p:cNvPr id="66" name="column65-surface"/>
          <p:cNvSpPr/>
          <p:nvPr/>
        </p:nvSpPr>
        <p:spPr>
          <a:xfrm>
            <a:off x="10479024" y="3072384"/>
            <a:ext cx="822960" cy="1115568"/>
          </a:xfrm>
          <a:prstGeom prst="roundRect">
            <a:avLst>
              <a:gd name="adj" fmla="val 12346"/>
            </a:avLst>
          </a:prstGeom>
          <a:solidFill>
            <a:schemeClr val="accent6"/>
          </a:solidFill>
          <a:ln w="9525">
            <a:solidFill>
              <a:srgbClr val="E8E6F0"/>
            </a:solidFill>
          </a:ln>
        </p:spPr>
      </p:sp>
      <p:sp>
        <p:nvSpPr>
          <p:cNvPr id="67" name="column66-surface"/>
          <p:cNvSpPr/>
          <p:nvPr/>
        </p:nvSpPr>
        <p:spPr>
          <a:xfrm>
            <a:off x="10567904" y="3173974"/>
            <a:ext cx="279441" cy="279441"/>
          </a:xfrm>
          <a:prstGeom prst="roundRect">
            <a:avLst>
              <a:gd name="adj" fmla="val 27269"/>
            </a:avLst>
          </a:prstGeom>
          <a:solidFill>
            <a:srgbClr val="DCFCE7"/>
          </a:solidFill>
          <a:ln>
            <a:noFill/>
          </a:ln>
        </p:spPr>
      </p:sp>
      <p:sp>
        <p:nvSpPr>
          <p:cNvPr id="68" name="icon6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625054" y="3231124"/>
            <a:ext cx="165141" cy="165141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5000" y="3000"/>
                </a:moveTo>
                <a:lnTo>
                  <a:pt x="9000" y="3000"/>
                </a:lnTo>
                <a:cubicBezTo>
                  <a:pt x="10105" y="3000"/>
                  <a:pt x="11000" y="3895"/>
                  <a:pt x="11000" y="5000"/>
                </a:cubicBezTo>
                <a:lnTo>
                  <a:pt x="11000" y="9000"/>
                </a:lnTo>
                <a:cubicBezTo>
                  <a:pt x="11000" y="10105"/>
                  <a:pt x="10105" y="11000"/>
                  <a:pt x="9000" y="11000"/>
                </a:cubicBezTo>
                <a:lnTo>
                  <a:pt x="5000" y="11000"/>
                </a:lnTo>
                <a:cubicBezTo>
                  <a:pt x="3895" y="11000"/>
                  <a:pt x="3000" y="10105"/>
                  <a:pt x="3000" y="9000"/>
                </a:cubicBezTo>
                <a:lnTo>
                  <a:pt x="3000" y="5000"/>
                </a:lnTo>
                <a:cubicBezTo>
                  <a:pt x="3000" y="3895"/>
                  <a:pt x="3895" y="3000"/>
                  <a:pt x="5000" y="3000"/>
                </a:cubicBezTo>
                <a:close/>
              </a:path>
              <a:path w="24000" h="24000" fill="none">
                <a:moveTo>
                  <a:pt x="7000" y="11000"/>
                </a:moveTo>
                <a:lnTo>
                  <a:pt x="7000" y="15000"/>
                </a:lnTo>
                <a:cubicBezTo>
                  <a:pt x="7000" y="16105"/>
                  <a:pt x="7895" y="17000"/>
                  <a:pt x="9000" y="17000"/>
                </a:cubicBezTo>
                <a:lnTo>
                  <a:pt x="13000" y="17000"/>
                </a:lnTo>
              </a:path>
              <a:path w="24000" h="24000" fill="none">
                <a:moveTo>
                  <a:pt x="15000" y="13000"/>
                </a:moveTo>
                <a:lnTo>
                  <a:pt x="19000" y="13000"/>
                </a:lnTo>
                <a:cubicBezTo>
                  <a:pt x="20105" y="13000"/>
                  <a:pt x="21000" y="13895"/>
                  <a:pt x="21000" y="15000"/>
                </a:cubicBezTo>
                <a:lnTo>
                  <a:pt x="21000" y="19000"/>
                </a:lnTo>
                <a:cubicBezTo>
                  <a:pt x="21000" y="20105"/>
                  <a:pt x="20105" y="21000"/>
                  <a:pt x="19000" y="21000"/>
                </a:cubicBezTo>
                <a:lnTo>
                  <a:pt x="15000" y="21000"/>
                </a:lnTo>
                <a:cubicBezTo>
                  <a:pt x="13895" y="21000"/>
                  <a:pt x="13000" y="20105"/>
                  <a:pt x="13000" y="19000"/>
                </a:cubicBezTo>
                <a:lnTo>
                  <a:pt x="13000" y="15000"/>
                </a:lnTo>
                <a:cubicBezTo>
                  <a:pt x="13000" y="13895"/>
                  <a:pt x="13895" y="13000"/>
                  <a:pt x="15000" y="13000"/>
                </a:cubicBezTo>
                <a:close/>
              </a:path>
            </a:pathLst>
          </a:custGeom>
          <a:noFill/>
          <a:ln w="13762" cap="rnd">
            <a:solidFill>
              <a:srgbClr val="15803D"/>
            </a:solidFill>
            <a:round/>
          </a:ln>
        </p:spPr>
      </p:sp>
      <p:sp>
        <p:nvSpPr>
          <p:cNvPr id="69" name="text68"/>
          <p:cNvSpPr txBox="1"/>
          <p:nvPr/>
        </p:nvSpPr>
        <p:spPr>
          <a:xfrm>
            <a:off x="10567904" y="3504164"/>
            <a:ext cx="645109" cy="1666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313"/>
              </a:lnSpc>
              <a:spcBef>
                <a:spcPts val="0"/>
              </a:spcBef>
              <a:buNone/>
            </a:pPr>
            <a:r>
              <a:rPr lang="en" sz="1050" b="1" i="0" dirty="0">
                <a:solidFill>
                  <a:srgbClr val="1F1D2B"/>
                </a:solidFill>
                <a:latin typeface="Helvetica Neue"/>
                <a:ea typeface="Helvetica Neue"/>
                <a:cs typeface="Helvetica Neue"/>
              </a:rPr>
              <a:t>Automate</a:t>
            </a:r>
            <a:endParaRPr lang="en" sz="1050" dirty="0"/>
          </a:p>
        </p:txBody>
      </p:sp>
      <p:sp>
        <p:nvSpPr>
          <p:cNvPr id="70" name="text69"/>
          <p:cNvSpPr txBox="1"/>
          <p:nvPr/>
        </p:nvSpPr>
        <p:spPr>
          <a:xfrm>
            <a:off x="10567904" y="3721699"/>
            <a:ext cx="645109" cy="29205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1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rgbClr val="6E6C80"/>
                </a:solidFill>
                <a:latin typeface="Helvetica Neue"/>
                <a:ea typeface="Helvetica Neue"/>
                <a:cs typeface="Helvetica Neue"/>
              </a:rPr>
              <a:t>Hands-off flows</a:t>
            </a:r>
            <a:endParaRPr lang="en" sz="1000" dirty="0"/>
          </a:p>
        </p:txBody>
      </p:sp>
      <p:sp>
        <p:nvSpPr>
          <p:cNvPr id="71" name="text70"/>
          <p:cNvSpPr txBox="1"/>
          <p:nvPr/>
        </p:nvSpPr>
        <p:spPr>
          <a:xfrm>
            <a:off x="7818029" y="4315968"/>
            <a:ext cx="34838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rgbClr val="6E6C80"/>
                </a:solidFill>
                <a:latin typeface="Helvetica Neue"/>
                <a:ea typeface="Helvetica Neue"/>
                <a:cs typeface="Helvetica Neue"/>
              </a:rPr>
              <a:t>Recent   ·   Q3 launch plan   ·   Market scan</a:t>
            </a:r>
            <a:endParaRPr lang="en" sz="1000" dirty="0"/>
          </a:p>
        </p:txBody>
      </p:sp>
      <p:sp>
        <p:nvSpPr>
          <p:cNvPr id="72" name="row71-surface"/>
          <p:cNvSpPr/>
          <p:nvPr/>
        </p:nvSpPr>
        <p:spPr>
          <a:xfrm>
            <a:off x="5669371" y="4462272"/>
            <a:ext cx="2011680" cy="585216"/>
          </a:xfrm>
          <a:prstGeom prst="roundRect">
            <a:avLst>
              <a:gd name="adj" fmla="val 26042"/>
            </a:avLst>
          </a:prstGeom>
          <a:solidFill>
            <a:schemeClr val="accent6"/>
          </a:solidFill>
          <a:ln>
            <a:noFill/>
          </a:ln>
          <a:effectLst>
            <a:outerShdw blurRad="152400" dist="38100" dir="5400000" algn="t" rotWithShape="0">
              <a:srgbClr val="000000">
                <a:alpha val="16000"/>
              </a:srgbClr>
            </a:outerShdw>
          </a:effectLst>
        </p:spPr>
      </p:sp>
      <p:sp>
        <p:nvSpPr>
          <p:cNvPr id="73" name="column72-surface"/>
          <p:cNvSpPr/>
          <p:nvPr/>
        </p:nvSpPr>
        <p:spPr>
          <a:xfrm>
            <a:off x="5796290" y="4577121"/>
            <a:ext cx="355610" cy="35561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</p:spPr>
      </p:sp>
      <p:sp>
        <p:nvSpPr>
          <p:cNvPr id="74" name="icon7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85261" y="4666000"/>
            <a:ext cx="177759" cy="177759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20000" y="6000"/>
                </a:moveTo>
                <a:lnTo>
                  <a:pt x="9000" y="17000"/>
                </a:lnTo>
                <a:lnTo>
                  <a:pt x="4000" y="12000"/>
                </a:lnTo>
              </a:path>
            </a:pathLst>
          </a:custGeom>
          <a:noFill/>
          <a:ln w="22220" cap="rnd">
            <a:solidFill>
              <a:srgbClr val="15803D"/>
            </a:solidFill>
            <a:round/>
          </a:ln>
        </p:spPr>
      </p:sp>
      <p:sp>
        <p:nvSpPr>
          <p:cNvPr id="75" name="text75"/>
          <p:cNvSpPr txBox="1"/>
          <p:nvPr/>
        </p:nvSpPr>
        <p:spPr>
          <a:xfrm>
            <a:off x="6253490" y="4585807"/>
            <a:ext cx="1300460" cy="1666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313"/>
              </a:lnSpc>
              <a:spcBef>
                <a:spcPts val="0"/>
              </a:spcBef>
              <a:buNone/>
            </a:pPr>
            <a:r>
              <a:rPr lang="en" sz="1050" b="1" i="0" dirty="0">
                <a:solidFill>
                  <a:srgbClr val="0B0B10"/>
                </a:solidFill>
                <a:latin typeface="Helvetica Neue"/>
                <a:ea typeface="Helvetica Neue"/>
                <a:cs typeface="Helvetica Neue"/>
              </a:rPr>
              <a:t>Launch plan ready</a:t>
            </a:r>
            <a:endParaRPr lang="en" sz="1050" dirty="0"/>
          </a:p>
        </p:txBody>
      </p:sp>
      <p:sp>
        <p:nvSpPr>
          <p:cNvPr id="76" name="text76"/>
          <p:cNvSpPr txBox="1"/>
          <p:nvPr/>
        </p:nvSpPr>
        <p:spPr>
          <a:xfrm>
            <a:off x="6253490" y="4765213"/>
            <a:ext cx="1300460" cy="158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rgbClr val="5D5F6E"/>
                </a:solidFill>
                <a:latin typeface="Helvetica Neue"/>
                <a:ea typeface="Helvetica Neue"/>
                <a:cs typeface="Helvetica Neue"/>
              </a:rPr>
              <a:t>Drafted in 12 seconds</a:t>
            </a:r>
            <a:endParaRPr lang="en" sz="1000" dirty="0"/>
          </a:p>
        </p:txBody>
      </p:sp>
      <p:sp>
        <p:nvSpPr>
          <p:cNvPr id="77" name="row77-surface"/>
          <p:cNvSpPr/>
          <p:nvPr/>
        </p:nvSpPr>
        <p:spPr>
          <a:xfrm>
            <a:off x="9765792" y="969264"/>
            <a:ext cx="1965960" cy="512064"/>
          </a:xfrm>
          <a:prstGeom prst="roundRect">
            <a:avLst>
              <a:gd name="adj" fmla="val 29762"/>
            </a:avLst>
          </a:prstGeom>
          <a:solidFill>
            <a:schemeClr val="accent6"/>
          </a:solidFill>
          <a:ln>
            <a:noFill/>
          </a:ln>
          <a:effectLst>
            <a:outerShdw blurRad="152400" dist="38100" dir="5400000" algn="t" rotWithShape="0">
              <a:srgbClr val="000000">
                <a:alpha val="16000"/>
              </a:srgbClr>
            </a:outerShdw>
          </a:effectLst>
        </p:spPr>
      </p:sp>
      <p:sp>
        <p:nvSpPr>
          <p:cNvPr id="78" name="column78-surface"/>
          <p:cNvSpPr/>
          <p:nvPr/>
        </p:nvSpPr>
        <p:spPr>
          <a:xfrm>
            <a:off x="9880092" y="1060155"/>
            <a:ext cx="330190" cy="330190"/>
          </a:xfrm>
          <a:prstGeom prst="roundRect">
            <a:avLst>
              <a:gd name="adj" fmla="val 50000"/>
            </a:avLst>
          </a:prstGeom>
          <a:solidFill>
            <a:srgbClr val="EFEAFE"/>
          </a:solidFill>
          <a:ln>
            <a:noFill/>
          </a:ln>
        </p:spPr>
      </p:sp>
      <p:sp>
        <p:nvSpPr>
          <p:cNvPr id="79" name="icon7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956353" y="1136325"/>
            <a:ext cx="177759" cy="177759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12000" y="8000"/>
                </a:moveTo>
                <a:lnTo>
                  <a:pt x="12000" y="4000"/>
                </a:lnTo>
                <a:lnTo>
                  <a:pt x="8000" y="4000"/>
                </a:lnTo>
              </a:path>
              <a:path w="24000" h="24000" fill="none">
                <a:moveTo>
                  <a:pt x="6000" y="8000"/>
                </a:moveTo>
                <a:lnTo>
                  <a:pt x="18000" y="8000"/>
                </a:lnTo>
                <a:cubicBezTo>
                  <a:pt x="19105" y="8000"/>
                  <a:pt x="20000" y="8895"/>
                  <a:pt x="20000" y="10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10000"/>
                </a:lnTo>
                <a:cubicBezTo>
                  <a:pt x="4000" y="8895"/>
                  <a:pt x="4895" y="8000"/>
                  <a:pt x="6000" y="8000"/>
                </a:cubicBezTo>
                <a:close/>
              </a:path>
              <a:path w="24000" h="24000" fill="none">
                <a:moveTo>
                  <a:pt x="2000" y="14000"/>
                </a:moveTo>
                <a:lnTo>
                  <a:pt x="4000" y="14000"/>
                </a:lnTo>
              </a:path>
              <a:path w="24000" h="24000" fill="none">
                <a:moveTo>
                  <a:pt x="20000" y="14000"/>
                </a:moveTo>
                <a:lnTo>
                  <a:pt x="22000" y="14000"/>
                </a:lnTo>
              </a:path>
              <a:path w="24000" h="24000" fill="none">
                <a:moveTo>
                  <a:pt x="15000" y="13000"/>
                </a:moveTo>
                <a:lnTo>
                  <a:pt x="15000" y="15000"/>
                </a:lnTo>
              </a:path>
              <a:path w="24000" h="24000" fill="none">
                <a:moveTo>
                  <a:pt x="9000" y="13000"/>
                </a:moveTo>
                <a:lnTo>
                  <a:pt x="9000" y="15000"/>
                </a:lnTo>
              </a:path>
            </a:pathLst>
          </a:custGeom>
          <a:noFill/>
          <a:ln w="14813" cap="rnd">
            <a:solidFill>
              <a:srgbClr val="6D28D9"/>
            </a:solidFill>
            <a:round/>
          </a:ln>
        </p:spPr>
      </p:sp>
      <p:sp>
        <p:nvSpPr>
          <p:cNvPr id="80" name="text81"/>
          <p:cNvSpPr txBox="1"/>
          <p:nvPr/>
        </p:nvSpPr>
        <p:spPr>
          <a:xfrm>
            <a:off x="10299253" y="1056223"/>
            <a:ext cx="1318290" cy="1666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313"/>
              </a:lnSpc>
              <a:spcBef>
                <a:spcPts val="0"/>
              </a:spcBef>
              <a:buNone/>
            </a:pPr>
            <a:r>
              <a:rPr lang="en" sz="1050" b="1" i="0" dirty="0">
                <a:solidFill>
                  <a:srgbClr val="0B0B10"/>
                </a:solidFill>
                <a:latin typeface="Helvetica Neue"/>
                <a:ea typeface="Helvetica Neue"/>
                <a:cs typeface="Helvetica Neue"/>
              </a:rPr>
              <a:t>3 agents running</a:t>
            </a:r>
            <a:endParaRPr lang="en" sz="1050" dirty="0"/>
          </a:p>
        </p:txBody>
      </p:sp>
      <p:sp>
        <p:nvSpPr>
          <p:cNvPr id="81" name="text82"/>
          <p:cNvSpPr txBox="1"/>
          <p:nvPr/>
        </p:nvSpPr>
        <p:spPr>
          <a:xfrm>
            <a:off x="10299253" y="1235537"/>
            <a:ext cx="1318290" cy="158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rgbClr val="5D5F6E"/>
                </a:solidFill>
                <a:latin typeface="Helvetica Neue"/>
                <a:ea typeface="Helvetica Neue"/>
                <a:cs typeface="Helvetica Neue"/>
              </a:rPr>
              <a:t>Market research</a:t>
            </a:r>
            <a:endParaRPr lang="en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ransforma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1"/>
          <p:cNvSpPr txBox="1"/>
          <p:nvPr/>
        </p:nvSpPr>
        <p:spPr>
          <a:xfrm>
            <a:off x="457200" y="457200"/>
            <a:ext cx="5943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buNone/>
            </a:pPr>
            <a:r>
              <a:rPr lang="en" sz="1050" b="1" i="0" spc="168" dirty="0">
                <a:solidFill>
                  <a:srgbClr val="0F7C86"/>
                </a:solidFill>
                <a:latin typeface="Futura"/>
                <a:ea typeface="Futura"/>
                <a:cs typeface="Futura"/>
              </a:rPr>
              <a:t>TRANSFORMATION ROADMAP  ·  2026 – 2028</a:t>
            </a:r>
            <a:endParaRPr lang="en" sz="1050" dirty="0"/>
          </a:p>
        </p:txBody>
      </p:sp>
      <p:sp>
        <p:nvSpPr>
          <p:cNvPr id="3" name="text2"/>
          <p:cNvSpPr>
            <a:spLocks noGrp="1"/>
          </p:cNvSpPr>
          <p:nvPr>
            <p:ph type="title"/>
          </p:nvPr>
        </p:nvSpPr>
        <p:spPr>
          <a:xfrm>
            <a:off x="457200" y="694944"/>
            <a:ext cx="11277295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940"/>
              </a:lnSpc>
              <a:spcBef>
                <a:spcPts val="0"/>
              </a:spcBef>
              <a:buNone/>
            </a:pPr>
            <a:r>
              <a:rPr lang="en" sz="2800" b="1" i="0" dirty="0">
                <a:solidFill>
                  <a:srgbClr val="1F2933"/>
                </a:solidFill>
                <a:latin typeface="Futura"/>
                <a:ea typeface="Futura"/>
                <a:cs typeface="Futura"/>
              </a:rPr>
              <a:t>From manual workflow to AI-native organization</a:t>
            </a:r>
            <a:endParaRPr lang="en" sz="2800" dirty="0"/>
          </a:p>
        </p:txBody>
      </p:sp>
      <p:sp>
        <p:nvSpPr>
          <p:cNvPr id="4" name="text3"/>
          <p:cNvSpPr txBox="1"/>
          <p:nvPr/>
        </p:nvSpPr>
        <p:spPr>
          <a:xfrm>
            <a:off x="457200" y="1243584"/>
            <a:ext cx="67665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buNone/>
            </a:pPr>
            <a:r>
              <a:rPr lang="en" sz="1400" b="0" i="0" dirty="0">
                <a:solidFill>
                  <a:srgbClr val="56606C"/>
                </a:solidFill>
                <a:latin typeface="Gill Sans"/>
                <a:ea typeface="Gill Sans"/>
                <a:cs typeface="Gill Sans"/>
              </a:rPr>
              <a:t>From fragmented tools to an autonomous, high-performance organization</a:t>
            </a:r>
            <a:endParaRPr lang="en" sz="1400" dirty="0"/>
          </a:p>
        </p:txBody>
      </p:sp>
      <p:sp>
        <p:nvSpPr>
          <p:cNvPr id="5" name="text4"/>
          <p:cNvSpPr txBox="1"/>
          <p:nvPr/>
        </p:nvSpPr>
        <p:spPr>
          <a:xfrm>
            <a:off x="6949440" y="1243584"/>
            <a:ext cx="25146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>
              <a:lnSpc>
                <a:spcPts val="1820"/>
              </a:lnSpc>
              <a:spcBef>
                <a:spcPts val="0"/>
              </a:spcBef>
              <a:buNone/>
            </a:pPr>
            <a:r>
              <a:rPr lang="en" sz="1400" b="0" i="0" dirty="0">
                <a:solidFill>
                  <a:srgbClr val="1F2933"/>
                </a:solidFill>
                <a:latin typeface="Gill Sans"/>
                <a:ea typeface="Gill Sans"/>
                <a:cs typeface="Gill Sans"/>
              </a:rPr>
              <a:t>People  ×  Process  ×  AI</a:t>
            </a:r>
            <a:endParaRPr lang="en" sz="1400" dirty="0"/>
          </a:p>
        </p:txBody>
      </p:sp>
      <p:sp>
        <p:nvSpPr>
          <p:cNvPr id="6" name="text5"/>
          <p:cNvSpPr txBox="1"/>
          <p:nvPr/>
        </p:nvSpPr>
        <p:spPr>
          <a:xfrm>
            <a:off x="9537192" y="1243584"/>
            <a:ext cx="2197303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buNone/>
            </a:pPr>
            <a:r>
              <a:rPr lang="en" sz="1400" b="1" i="0" dirty="0">
                <a:solidFill>
                  <a:srgbClr val="0F7C86"/>
                </a:solidFill>
                <a:latin typeface="Gill Sans"/>
                <a:ea typeface="Gill Sans"/>
                <a:cs typeface="Gill Sans"/>
              </a:rPr>
              <a:t>=  compounding impact</a:t>
            </a:r>
            <a:endParaRPr lang="en" sz="1400" dirty="0"/>
          </a:p>
        </p:txBody>
      </p:sp>
      <p:sp>
        <p:nvSpPr>
          <p:cNvPr id="7" name="shape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719072"/>
            <a:ext cx="3899002" cy="566928"/>
          </a:xfrm>
          <a:prstGeom prst="homePlate">
            <a:avLst/>
          </a:prstGeom>
          <a:solidFill>
            <a:srgbClr val="5F6E84"/>
          </a:solidFill>
          <a:ln>
            <a:noFill/>
          </a:ln>
        </p:spPr>
      </p:sp>
      <p:sp>
        <p:nvSpPr>
          <p:cNvPr id="8" name="row7-surface"/>
          <p:cNvSpPr/>
          <p:nvPr/>
        </p:nvSpPr>
        <p:spPr>
          <a:xfrm>
            <a:off x="658368" y="1773936"/>
            <a:ext cx="3286354" cy="457200"/>
          </a:xfrm>
          <a:prstGeom prst="rect">
            <a:avLst/>
          </a:prstGeom>
          <a:solidFill>
            <a:srgbClr val="5F6E84">
              <a:alpha val="0"/>
            </a:srgbClr>
          </a:solidFill>
          <a:ln>
            <a:noFill/>
          </a:ln>
        </p:spPr>
      </p:sp>
      <p:sp>
        <p:nvSpPr>
          <p:cNvPr id="9" name="text8"/>
          <p:cNvSpPr txBox="1"/>
          <p:nvPr/>
        </p:nvSpPr>
        <p:spPr>
          <a:xfrm>
            <a:off x="658368" y="1922435"/>
            <a:ext cx="596372" cy="1600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buNone/>
            </a:pPr>
            <a:r>
              <a:rPr lang="en" sz="1050" b="1" i="0" spc="105" dirty="0">
                <a:solidFill>
                  <a:srgbClr val="FFFFFF"/>
                </a:solidFill>
                <a:latin typeface="Futura"/>
                <a:ea typeface="Futura"/>
                <a:cs typeface="Futura"/>
              </a:rPr>
              <a:t>TODAY</a:t>
            </a:r>
            <a:endParaRPr lang="en" sz="1050" dirty="0"/>
          </a:p>
        </p:txBody>
      </p:sp>
      <p:sp>
        <p:nvSpPr>
          <p:cNvPr id="10" name="text9"/>
          <p:cNvSpPr txBox="1"/>
          <p:nvPr/>
        </p:nvSpPr>
        <p:spPr>
          <a:xfrm>
            <a:off x="1407170" y="1867571"/>
            <a:ext cx="2537643" cy="2697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buNone/>
            </a:pPr>
            <a:r>
              <a:rPr lang="en" sz="1800" b="1" i="0" dirty="0">
                <a:solidFill>
                  <a:srgbClr val="FFFFFF"/>
                </a:solidFill>
                <a:latin typeface="Futura"/>
                <a:ea typeface="Futura"/>
                <a:cs typeface="Futura"/>
              </a:rPr>
              <a:t>Manual</a:t>
            </a:r>
            <a:endParaRPr lang="en" sz="1800" dirty="0"/>
          </a:p>
        </p:txBody>
      </p:sp>
      <p:sp>
        <p:nvSpPr>
          <p:cNvPr id="11" name="free10-surface"/>
          <p:cNvSpPr/>
          <p:nvPr/>
        </p:nvSpPr>
        <p:spPr>
          <a:xfrm>
            <a:off x="457200" y="2414016"/>
            <a:ext cx="3545769" cy="1426464"/>
          </a:xfrm>
          <a:prstGeom prst="roundRect">
            <a:avLst>
              <a:gd name="adj" fmla="val 8903"/>
            </a:avLst>
          </a:prstGeom>
          <a:solidFill>
            <a:srgbClr val="F1F3F6"/>
          </a:solidFill>
          <a:ln>
            <a:noFill/>
          </a:ln>
        </p:spPr>
      </p:sp>
      <p:sp>
        <p:nvSpPr>
          <p:cNvPr id="12" name="icon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4944" y="2596896"/>
            <a:ext cx="381030" cy="381030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15000" y="2000"/>
                </a:moveTo>
                <a:lnTo>
                  <a:pt x="11000" y="2000"/>
                </a:lnTo>
                <a:cubicBezTo>
                  <a:pt x="9895" y="2000"/>
                  <a:pt x="9000" y="2895"/>
                  <a:pt x="9000" y="4000"/>
                </a:cubicBezTo>
                <a:lnTo>
                  <a:pt x="9000" y="15000"/>
                </a:lnTo>
                <a:cubicBezTo>
                  <a:pt x="9000" y="16105"/>
                  <a:pt x="9895" y="17000"/>
                  <a:pt x="11000" y="17000"/>
                </a:cubicBezTo>
                <a:lnTo>
                  <a:pt x="19000" y="17000"/>
                </a:lnTo>
                <a:cubicBezTo>
                  <a:pt x="20105" y="17000"/>
                  <a:pt x="21000" y="16105"/>
                  <a:pt x="21000" y="15000"/>
                </a:cubicBezTo>
                <a:lnTo>
                  <a:pt x="21000" y="8000"/>
                </a:lnTo>
              </a:path>
              <a:path w="24000" h="24000" fill="none">
                <a:moveTo>
                  <a:pt x="16706" y="2706"/>
                </a:moveTo>
                <a:cubicBezTo>
                  <a:pt x="16254" y="2253"/>
                  <a:pt x="15640" y="1998"/>
                  <a:pt x="15000" y="2000"/>
                </a:cubicBezTo>
                <a:lnTo>
                  <a:pt x="15000" y="7000"/>
                </a:lnTo>
                <a:cubicBezTo>
                  <a:pt x="15000" y="7552"/>
                  <a:pt x="15448" y="8000"/>
                  <a:pt x="16000" y="8000"/>
                </a:cubicBezTo>
                <a:lnTo>
                  <a:pt x="21000" y="8000"/>
                </a:lnTo>
                <a:cubicBezTo>
                  <a:pt x="21002" y="7360"/>
                  <a:pt x="20747" y="6746"/>
                  <a:pt x="20294" y="6294"/>
                </a:cubicBezTo>
                <a:close/>
              </a:path>
              <a:path w="24000" h="24000" fill="none">
                <a:moveTo>
                  <a:pt x="5000" y="7000"/>
                </a:moveTo>
                <a:cubicBezTo>
                  <a:pt x="3895" y="7000"/>
                  <a:pt x="3000" y="7895"/>
                  <a:pt x="3000" y="9000"/>
                </a:cubicBezTo>
                <a:lnTo>
                  <a:pt x="3000" y="20000"/>
                </a:lnTo>
                <a:cubicBezTo>
                  <a:pt x="3000" y="21105"/>
                  <a:pt x="3895" y="22000"/>
                  <a:pt x="5000" y="22000"/>
                </a:cubicBezTo>
                <a:lnTo>
                  <a:pt x="13000" y="22000"/>
                </a:lnTo>
                <a:cubicBezTo>
                  <a:pt x="13715" y="22000"/>
                  <a:pt x="14375" y="21619"/>
                  <a:pt x="14732" y="21000"/>
                </a:cubicBezTo>
              </a:path>
            </a:pathLst>
          </a:custGeom>
          <a:noFill/>
          <a:ln w="27783" cap="rnd">
            <a:solidFill>
              <a:srgbClr val="5F6E84"/>
            </a:solidFill>
            <a:round/>
          </a:ln>
        </p:spPr>
      </p:sp>
      <p:sp>
        <p:nvSpPr>
          <p:cNvPr id="13" name="shape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89888" y="2670048"/>
            <a:ext cx="64008" cy="64008"/>
          </a:xfrm>
          <a:prstGeom prst="ellipse">
            <a:avLst/>
          </a:prstGeom>
          <a:solidFill>
            <a:srgbClr val="5F6E84"/>
          </a:solidFill>
          <a:ln>
            <a:noFill/>
          </a:ln>
        </p:spPr>
      </p:sp>
      <p:sp>
        <p:nvSpPr>
          <p:cNvPr id="14" name="text13"/>
          <p:cNvSpPr txBox="1"/>
          <p:nvPr/>
        </p:nvSpPr>
        <p:spPr>
          <a:xfrm>
            <a:off x="1536192" y="2569464"/>
            <a:ext cx="2311329" cy="2651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buNone/>
            </a:pPr>
            <a:r>
              <a:rPr lang="en" sz="1350" b="0" i="0" dirty="0">
                <a:solidFill>
                  <a:srgbClr val="1F2933"/>
                </a:solidFill>
                <a:latin typeface="Gill Sans"/>
                <a:ea typeface="Gill Sans"/>
                <a:cs typeface="Gill Sans"/>
              </a:rPr>
              <a:t>Fragmented tools</a:t>
            </a:r>
            <a:endParaRPr lang="en" sz="1350" dirty="0"/>
          </a:p>
        </p:txBody>
      </p:sp>
      <p:sp>
        <p:nvSpPr>
          <p:cNvPr id="15" name="shape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89888" y="2953512"/>
            <a:ext cx="64008" cy="64008"/>
          </a:xfrm>
          <a:prstGeom prst="ellipse">
            <a:avLst/>
          </a:prstGeom>
          <a:solidFill>
            <a:srgbClr val="5F6E84"/>
          </a:solidFill>
          <a:ln>
            <a:noFill/>
          </a:ln>
        </p:spPr>
      </p:sp>
      <p:sp>
        <p:nvSpPr>
          <p:cNvPr id="16" name="text15"/>
          <p:cNvSpPr txBox="1"/>
          <p:nvPr/>
        </p:nvSpPr>
        <p:spPr>
          <a:xfrm>
            <a:off x="1536192" y="2852928"/>
            <a:ext cx="2311329" cy="2651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buNone/>
            </a:pPr>
            <a:r>
              <a:rPr lang="en" sz="1350" b="0" i="0" dirty="0">
                <a:solidFill>
                  <a:srgbClr val="1F2933"/>
                </a:solidFill>
                <a:latin typeface="Gill Sans"/>
                <a:ea typeface="Gill Sans"/>
                <a:cs typeface="Gill Sans"/>
              </a:rPr>
              <a:t>Repetitive work</a:t>
            </a:r>
            <a:endParaRPr lang="en" sz="1350" dirty="0"/>
          </a:p>
        </p:txBody>
      </p:sp>
      <p:sp>
        <p:nvSpPr>
          <p:cNvPr id="17" name="shape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89888" y="3236976"/>
            <a:ext cx="64008" cy="64008"/>
          </a:xfrm>
          <a:prstGeom prst="ellipse">
            <a:avLst/>
          </a:prstGeom>
          <a:solidFill>
            <a:srgbClr val="5F6E84"/>
          </a:solidFill>
          <a:ln>
            <a:noFill/>
          </a:ln>
        </p:spPr>
      </p:sp>
      <p:sp>
        <p:nvSpPr>
          <p:cNvPr id="18" name="text17"/>
          <p:cNvSpPr txBox="1"/>
          <p:nvPr/>
        </p:nvSpPr>
        <p:spPr>
          <a:xfrm>
            <a:off x="1536192" y="3136392"/>
            <a:ext cx="2311329" cy="2651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buNone/>
            </a:pPr>
            <a:r>
              <a:rPr lang="en" sz="1350" b="0" i="0" dirty="0">
                <a:solidFill>
                  <a:srgbClr val="1F2933"/>
                </a:solidFill>
                <a:latin typeface="Gill Sans"/>
                <a:ea typeface="Gill Sans"/>
                <a:cs typeface="Gill Sans"/>
              </a:rPr>
              <a:t>Slow decisions</a:t>
            </a:r>
            <a:endParaRPr lang="en" sz="1350" dirty="0"/>
          </a:p>
        </p:txBody>
      </p:sp>
      <p:sp>
        <p:nvSpPr>
          <p:cNvPr id="19" name="text18"/>
          <p:cNvSpPr txBox="1"/>
          <p:nvPr/>
        </p:nvSpPr>
        <p:spPr>
          <a:xfrm>
            <a:off x="694944" y="3529584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spc="60" dirty="0">
                <a:solidFill>
                  <a:srgbClr val="56606C"/>
                </a:solidFill>
                <a:latin typeface="Gill Sans"/>
                <a:ea typeface="Gill Sans"/>
                <a:cs typeface="Gill Sans"/>
              </a:rPr>
              <a:t>AI MATURITY</a:t>
            </a:r>
            <a:endParaRPr lang="en" sz="1000" dirty="0"/>
          </a:p>
        </p:txBody>
      </p:sp>
      <p:sp>
        <p:nvSpPr>
          <p:cNvPr id="20" name="shape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55648" y="3579876"/>
            <a:ext cx="100584" cy="100584"/>
          </a:xfrm>
          <a:prstGeom prst="ellipse">
            <a:avLst/>
          </a:prstGeom>
          <a:solidFill>
            <a:srgbClr val="5F6E84"/>
          </a:solidFill>
          <a:ln>
            <a:noFill/>
          </a:ln>
        </p:spPr>
      </p:sp>
      <p:sp>
        <p:nvSpPr>
          <p:cNvPr id="21" name="shape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938528" y="3579876"/>
            <a:ext cx="100584" cy="100584"/>
          </a:xfrm>
          <a:prstGeom prst="ellipse">
            <a:avLst/>
          </a:prstGeom>
          <a:solidFill>
            <a:srgbClr val="DDE2E8"/>
          </a:solidFill>
          <a:ln>
            <a:noFill/>
          </a:ln>
        </p:spPr>
      </p:sp>
      <p:sp>
        <p:nvSpPr>
          <p:cNvPr id="22" name="shape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21408" y="3579876"/>
            <a:ext cx="100584" cy="100584"/>
          </a:xfrm>
          <a:prstGeom prst="ellipse">
            <a:avLst/>
          </a:prstGeom>
          <a:solidFill>
            <a:srgbClr val="DDE2E8"/>
          </a:solidFill>
          <a:ln>
            <a:noFill/>
          </a:ln>
        </p:spPr>
      </p:sp>
      <p:sp>
        <p:nvSpPr>
          <p:cNvPr id="23" name="shape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304288" y="3579876"/>
            <a:ext cx="100584" cy="100584"/>
          </a:xfrm>
          <a:prstGeom prst="ellipse">
            <a:avLst/>
          </a:prstGeom>
          <a:solidFill>
            <a:srgbClr val="DDE2E8"/>
          </a:solidFill>
          <a:ln>
            <a:noFill/>
          </a:ln>
        </p:spPr>
      </p:sp>
      <p:sp>
        <p:nvSpPr>
          <p:cNvPr id="24" name="shape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487168" y="3579876"/>
            <a:ext cx="100584" cy="100584"/>
          </a:xfrm>
          <a:prstGeom prst="ellipse">
            <a:avLst/>
          </a:prstGeom>
          <a:solidFill>
            <a:srgbClr val="DDE2E8"/>
          </a:solidFill>
          <a:ln>
            <a:noFill/>
          </a:ln>
        </p:spPr>
      </p:sp>
      <p:sp>
        <p:nvSpPr>
          <p:cNvPr id="25" name="shape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45890" y="1719072"/>
            <a:ext cx="3899002" cy="566928"/>
          </a:xfrm>
          <a:prstGeom prst="chevron">
            <a:avLst/>
          </a:prstGeom>
          <a:solidFill>
            <a:srgbClr val="0F7C86"/>
          </a:solidFill>
          <a:ln>
            <a:noFill/>
          </a:ln>
        </p:spPr>
      </p:sp>
      <p:sp>
        <p:nvSpPr>
          <p:cNvPr id="26" name="row25-surface"/>
          <p:cNvSpPr/>
          <p:nvPr/>
        </p:nvSpPr>
        <p:spPr>
          <a:xfrm>
            <a:off x="4575658" y="1773936"/>
            <a:ext cx="3057754" cy="457200"/>
          </a:xfrm>
          <a:prstGeom prst="rect">
            <a:avLst/>
          </a:prstGeom>
          <a:solidFill>
            <a:srgbClr val="0F7C86">
              <a:alpha val="0"/>
            </a:srgbClr>
          </a:solidFill>
          <a:ln>
            <a:noFill/>
          </a:ln>
        </p:spPr>
      </p:sp>
      <p:sp>
        <p:nvSpPr>
          <p:cNvPr id="27" name="text26"/>
          <p:cNvSpPr txBox="1"/>
          <p:nvPr/>
        </p:nvSpPr>
        <p:spPr>
          <a:xfrm>
            <a:off x="4575658" y="1922435"/>
            <a:ext cx="454091" cy="1600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buNone/>
            </a:pPr>
            <a:r>
              <a:rPr lang="en" sz="1050" b="1" i="0" spc="105" dirty="0">
                <a:solidFill>
                  <a:srgbClr val="FFFFFF"/>
                </a:solidFill>
                <a:latin typeface="Futura"/>
                <a:ea typeface="Futura"/>
                <a:cs typeface="Futura"/>
              </a:rPr>
              <a:t>NEXT</a:t>
            </a:r>
            <a:endParaRPr lang="en" sz="1050" dirty="0"/>
          </a:p>
        </p:txBody>
      </p:sp>
      <p:sp>
        <p:nvSpPr>
          <p:cNvPr id="28" name="text27"/>
          <p:cNvSpPr txBox="1"/>
          <p:nvPr/>
        </p:nvSpPr>
        <p:spPr>
          <a:xfrm>
            <a:off x="5182179" y="1867571"/>
            <a:ext cx="2451232" cy="2697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buNone/>
            </a:pPr>
            <a:r>
              <a:rPr lang="en" sz="1800" b="1" i="0" dirty="0">
                <a:solidFill>
                  <a:srgbClr val="FFFFFF"/>
                </a:solidFill>
                <a:latin typeface="Futura"/>
                <a:ea typeface="Futura"/>
                <a:cs typeface="Futura"/>
              </a:rPr>
              <a:t>AI-assisted</a:t>
            </a:r>
            <a:endParaRPr lang="en" sz="1800" dirty="0"/>
          </a:p>
        </p:txBody>
      </p:sp>
      <p:sp>
        <p:nvSpPr>
          <p:cNvPr id="29" name="free28-surface"/>
          <p:cNvSpPr/>
          <p:nvPr/>
        </p:nvSpPr>
        <p:spPr>
          <a:xfrm>
            <a:off x="4323009" y="2414016"/>
            <a:ext cx="3545769" cy="1426464"/>
          </a:xfrm>
          <a:prstGeom prst="roundRect">
            <a:avLst>
              <a:gd name="adj" fmla="val 8903"/>
            </a:avLst>
          </a:prstGeom>
          <a:solidFill>
            <a:srgbClr val="E7F4F5"/>
          </a:solidFill>
          <a:ln>
            <a:noFill/>
          </a:ln>
        </p:spPr>
      </p:sp>
      <p:sp>
        <p:nvSpPr>
          <p:cNvPr id="30" name="icon2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60753" y="2596896"/>
            <a:ext cx="381030" cy="381030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12000" y="8000"/>
                </a:moveTo>
                <a:lnTo>
                  <a:pt x="12000" y="4000"/>
                </a:lnTo>
                <a:lnTo>
                  <a:pt x="8000" y="4000"/>
                </a:lnTo>
              </a:path>
              <a:path w="24000" h="24000" fill="none">
                <a:moveTo>
                  <a:pt x="6000" y="8000"/>
                </a:moveTo>
                <a:lnTo>
                  <a:pt x="18000" y="8000"/>
                </a:lnTo>
                <a:cubicBezTo>
                  <a:pt x="19105" y="8000"/>
                  <a:pt x="20000" y="8895"/>
                  <a:pt x="20000" y="10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10000"/>
                </a:lnTo>
                <a:cubicBezTo>
                  <a:pt x="4000" y="8895"/>
                  <a:pt x="4895" y="8000"/>
                  <a:pt x="6000" y="8000"/>
                </a:cubicBezTo>
                <a:close/>
              </a:path>
              <a:path w="24000" h="24000" fill="none">
                <a:moveTo>
                  <a:pt x="2000" y="14000"/>
                </a:moveTo>
                <a:lnTo>
                  <a:pt x="4000" y="14000"/>
                </a:lnTo>
              </a:path>
              <a:path w="24000" h="24000" fill="none">
                <a:moveTo>
                  <a:pt x="20000" y="14000"/>
                </a:moveTo>
                <a:lnTo>
                  <a:pt x="22000" y="14000"/>
                </a:lnTo>
              </a:path>
              <a:path w="24000" h="24000" fill="none">
                <a:moveTo>
                  <a:pt x="15000" y="13000"/>
                </a:moveTo>
                <a:lnTo>
                  <a:pt x="15000" y="15000"/>
                </a:lnTo>
              </a:path>
              <a:path w="24000" h="24000" fill="none">
                <a:moveTo>
                  <a:pt x="9000" y="13000"/>
                </a:moveTo>
                <a:lnTo>
                  <a:pt x="9000" y="15000"/>
                </a:lnTo>
              </a:path>
            </a:pathLst>
          </a:custGeom>
          <a:noFill/>
          <a:ln w="27783" cap="rnd">
            <a:solidFill>
              <a:srgbClr val="0F7C86"/>
            </a:solidFill>
            <a:round/>
          </a:ln>
        </p:spPr>
      </p:sp>
      <p:sp>
        <p:nvSpPr>
          <p:cNvPr id="31" name="shape3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55697" y="2670048"/>
            <a:ext cx="64008" cy="64008"/>
          </a:xfrm>
          <a:prstGeom prst="ellipse">
            <a:avLst/>
          </a:prstGeom>
          <a:solidFill>
            <a:srgbClr val="0F7C86"/>
          </a:solidFill>
          <a:ln>
            <a:noFill/>
          </a:ln>
        </p:spPr>
      </p:sp>
      <p:sp>
        <p:nvSpPr>
          <p:cNvPr id="32" name="text31"/>
          <p:cNvSpPr txBox="1"/>
          <p:nvPr/>
        </p:nvSpPr>
        <p:spPr>
          <a:xfrm>
            <a:off x="5402001" y="2569464"/>
            <a:ext cx="2311329" cy="2651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buNone/>
            </a:pPr>
            <a:r>
              <a:rPr lang="en" sz="1350" b="0" i="0" dirty="0">
                <a:solidFill>
                  <a:srgbClr val="1F2933"/>
                </a:solidFill>
                <a:latin typeface="Gill Sans"/>
                <a:ea typeface="Gill Sans"/>
                <a:cs typeface="Gill Sans"/>
              </a:rPr>
              <a:t>Copilots for every team</a:t>
            </a:r>
            <a:endParaRPr lang="en" sz="1350" dirty="0"/>
          </a:p>
        </p:txBody>
      </p:sp>
      <p:sp>
        <p:nvSpPr>
          <p:cNvPr id="33" name="shape3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55697" y="2953512"/>
            <a:ext cx="64008" cy="64008"/>
          </a:xfrm>
          <a:prstGeom prst="ellipse">
            <a:avLst/>
          </a:prstGeom>
          <a:solidFill>
            <a:srgbClr val="0F7C86"/>
          </a:solidFill>
          <a:ln>
            <a:noFill/>
          </a:ln>
        </p:spPr>
      </p:sp>
      <p:sp>
        <p:nvSpPr>
          <p:cNvPr id="34" name="text33"/>
          <p:cNvSpPr txBox="1"/>
          <p:nvPr/>
        </p:nvSpPr>
        <p:spPr>
          <a:xfrm>
            <a:off x="5402001" y="2852928"/>
            <a:ext cx="2311329" cy="2651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buNone/>
            </a:pPr>
            <a:r>
              <a:rPr lang="en" sz="1350" b="0" i="0" dirty="0">
                <a:solidFill>
                  <a:srgbClr val="1F2933"/>
                </a:solidFill>
                <a:latin typeface="Gill Sans"/>
                <a:ea typeface="Gill Sans"/>
                <a:cs typeface="Gill Sans"/>
              </a:rPr>
              <a:t>Connected knowledge</a:t>
            </a:r>
            <a:endParaRPr lang="en" sz="1350" dirty="0"/>
          </a:p>
        </p:txBody>
      </p:sp>
      <p:sp>
        <p:nvSpPr>
          <p:cNvPr id="35" name="shape3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55697" y="3236976"/>
            <a:ext cx="64008" cy="64008"/>
          </a:xfrm>
          <a:prstGeom prst="ellipse">
            <a:avLst/>
          </a:prstGeom>
          <a:solidFill>
            <a:srgbClr val="0F7C86"/>
          </a:solidFill>
          <a:ln>
            <a:noFill/>
          </a:ln>
        </p:spPr>
      </p:sp>
      <p:sp>
        <p:nvSpPr>
          <p:cNvPr id="36" name="text35"/>
          <p:cNvSpPr txBox="1"/>
          <p:nvPr/>
        </p:nvSpPr>
        <p:spPr>
          <a:xfrm>
            <a:off x="5402001" y="3136392"/>
            <a:ext cx="2311329" cy="2651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buNone/>
            </a:pPr>
            <a:r>
              <a:rPr lang="en" sz="1350" b="0" i="0" dirty="0">
                <a:solidFill>
                  <a:srgbClr val="1F2933"/>
                </a:solidFill>
                <a:latin typeface="Gill Sans"/>
                <a:ea typeface="Gill Sans"/>
                <a:cs typeface="Gill Sans"/>
              </a:rPr>
              <a:t>Workflow automation</a:t>
            </a:r>
            <a:endParaRPr lang="en" sz="1350" dirty="0"/>
          </a:p>
        </p:txBody>
      </p:sp>
      <p:sp>
        <p:nvSpPr>
          <p:cNvPr id="37" name="text36"/>
          <p:cNvSpPr txBox="1"/>
          <p:nvPr/>
        </p:nvSpPr>
        <p:spPr>
          <a:xfrm>
            <a:off x="4560753" y="3529584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spc="60" dirty="0">
                <a:solidFill>
                  <a:srgbClr val="56606C"/>
                </a:solidFill>
                <a:latin typeface="Gill Sans"/>
                <a:ea typeface="Gill Sans"/>
                <a:cs typeface="Gill Sans"/>
              </a:rPr>
              <a:t>AI MATURITY</a:t>
            </a:r>
            <a:endParaRPr lang="en" sz="1000" dirty="0"/>
          </a:p>
        </p:txBody>
      </p:sp>
      <p:sp>
        <p:nvSpPr>
          <p:cNvPr id="38" name="shape3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21457" y="3579876"/>
            <a:ext cx="100584" cy="100584"/>
          </a:xfrm>
          <a:prstGeom prst="ellipse">
            <a:avLst/>
          </a:prstGeom>
          <a:solidFill>
            <a:srgbClr val="0F7C86"/>
          </a:solidFill>
          <a:ln>
            <a:noFill/>
          </a:ln>
        </p:spPr>
      </p:sp>
      <p:sp>
        <p:nvSpPr>
          <p:cNvPr id="39" name="shape3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4337" y="3579876"/>
            <a:ext cx="100584" cy="100584"/>
          </a:xfrm>
          <a:prstGeom prst="ellipse">
            <a:avLst/>
          </a:prstGeom>
          <a:solidFill>
            <a:srgbClr val="0F7C86"/>
          </a:solidFill>
          <a:ln>
            <a:noFill/>
          </a:ln>
        </p:spPr>
      </p:sp>
      <p:sp>
        <p:nvSpPr>
          <p:cNvPr id="40" name="shape3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87217" y="3579876"/>
            <a:ext cx="100584" cy="100584"/>
          </a:xfrm>
          <a:prstGeom prst="ellipse">
            <a:avLst/>
          </a:prstGeom>
          <a:solidFill>
            <a:srgbClr val="0F7C86"/>
          </a:solidFill>
          <a:ln>
            <a:noFill/>
          </a:ln>
        </p:spPr>
      </p:sp>
      <p:sp>
        <p:nvSpPr>
          <p:cNvPr id="41" name="shape4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70097" y="3579876"/>
            <a:ext cx="100584" cy="100584"/>
          </a:xfrm>
          <a:prstGeom prst="ellipse">
            <a:avLst/>
          </a:prstGeom>
          <a:solidFill>
            <a:srgbClr val="DDE2E8"/>
          </a:solidFill>
          <a:ln>
            <a:noFill/>
          </a:ln>
        </p:spPr>
      </p:sp>
      <p:sp>
        <p:nvSpPr>
          <p:cNvPr id="42" name="shape4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52977" y="3579876"/>
            <a:ext cx="100584" cy="100584"/>
          </a:xfrm>
          <a:prstGeom prst="ellipse">
            <a:avLst/>
          </a:prstGeom>
          <a:solidFill>
            <a:srgbClr val="DDE2E8"/>
          </a:solidFill>
          <a:ln>
            <a:noFill/>
          </a:ln>
        </p:spPr>
      </p:sp>
      <p:sp>
        <p:nvSpPr>
          <p:cNvPr id="43" name="shape4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34671" y="1719072"/>
            <a:ext cx="3899002" cy="566928"/>
          </a:xfrm>
          <a:prstGeom prst="chevron">
            <a:avLst/>
          </a:prstGeom>
          <a:solidFill>
            <a:srgbClr val="1E3A8A"/>
          </a:solidFill>
          <a:ln>
            <a:noFill/>
          </a:ln>
        </p:spPr>
      </p:sp>
      <p:sp>
        <p:nvSpPr>
          <p:cNvPr id="44" name="row43-surface"/>
          <p:cNvSpPr/>
          <p:nvPr/>
        </p:nvSpPr>
        <p:spPr>
          <a:xfrm>
            <a:off x="8264439" y="1773936"/>
            <a:ext cx="3057754" cy="457200"/>
          </a:xfrm>
          <a:prstGeom prst="rect">
            <a:avLst/>
          </a:prstGeom>
          <a:solidFill>
            <a:srgbClr val="1E3A8A">
              <a:alpha val="0"/>
            </a:srgbClr>
          </a:solidFill>
          <a:ln>
            <a:noFill/>
          </a:ln>
        </p:spPr>
      </p:sp>
      <p:sp>
        <p:nvSpPr>
          <p:cNvPr id="45" name="text44"/>
          <p:cNvSpPr txBox="1"/>
          <p:nvPr/>
        </p:nvSpPr>
        <p:spPr>
          <a:xfrm>
            <a:off x="8264439" y="1922435"/>
            <a:ext cx="639989" cy="1600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buNone/>
            </a:pPr>
            <a:r>
              <a:rPr lang="en" sz="1050" b="1" i="0" spc="105" dirty="0">
                <a:solidFill>
                  <a:srgbClr val="FFFFFF"/>
                </a:solidFill>
                <a:latin typeface="Futura"/>
                <a:ea typeface="Futura"/>
                <a:cs typeface="Futura"/>
              </a:rPr>
              <a:t>FUTURE</a:t>
            </a:r>
            <a:endParaRPr lang="en" sz="1050" dirty="0"/>
          </a:p>
        </p:txBody>
      </p:sp>
      <p:sp>
        <p:nvSpPr>
          <p:cNvPr id="46" name="text45"/>
          <p:cNvSpPr txBox="1"/>
          <p:nvPr/>
        </p:nvSpPr>
        <p:spPr>
          <a:xfrm>
            <a:off x="9056766" y="1867571"/>
            <a:ext cx="2265335" cy="2697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buNone/>
            </a:pPr>
            <a:r>
              <a:rPr lang="en" sz="1800" b="1" i="0" dirty="0">
                <a:solidFill>
                  <a:srgbClr val="FFFFFF"/>
                </a:solidFill>
                <a:latin typeface="Futura"/>
                <a:ea typeface="Futura"/>
                <a:cs typeface="Futura"/>
              </a:rPr>
              <a:t>AI-native</a:t>
            </a:r>
            <a:endParaRPr lang="en" sz="1800" dirty="0"/>
          </a:p>
        </p:txBody>
      </p:sp>
      <p:sp>
        <p:nvSpPr>
          <p:cNvPr id="47" name="free46-surface"/>
          <p:cNvSpPr/>
          <p:nvPr/>
        </p:nvSpPr>
        <p:spPr>
          <a:xfrm>
            <a:off x="8188726" y="2414016"/>
            <a:ext cx="3545769" cy="1426464"/>
          </a:xfrm>
          <a:prstGeom prst="roundRect">
            <a:avLst>
              <a:gd name="adj" fmla="val 8903"/>
            </a:avLst>
          </a:prstGeom>
          <a:solidFill>
            <a:srgbClr val="EAEFFA"/>
          </a:solidFill>
          <a:ln>
            <a:noFill/>
          </a:ln>
        </p:spPr>
      </p:sp>
      <p:sp>
        <p:nvSpPr>
          <p:cNvPr id="48" name="icon4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26470" y="2596896"/>
            <a:ext cx="381030" cy="381030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12000" y="5000"/>
                </a:moveTo>
                <a:cubicBezTo>
                  <a:pt x="12003" y="3911"/>
                  <a:pt x="11416" y="2906"/>
                  <a:pt x="10466" y="2374"/>
                </a:cubicBezTo>
                <a:cubicBezTo>
                  <a:pt x="9516" y="1842"/>
                  <a:pt x="8353" y="1866"/>
                  <a:pt x="7426" y="2437"/>
                </a:cubicBezTo>
                <a:cubicBezTo>
                  <a:pt x="6499" y="3009"/>
                  <a:pt x="5954" y="4037"/>
                  <a:pt x="6003" y="5125"/>
                </a:cubicBezTo>
                <a:cubicBezTo>
                  <a:pt x="4812" y="5431"/>
                  <a:pt x="3828" y="6268"/>
                  <a:pt x="3335" y="7395"/>
                </a:cubicBezTo>
                <a:cubicBezTo>
                  <a:pt x="2842" y="8521"/>
                  <a:pt x="2894" y="9812"/>
                  <a:pt x="3477" y="10895"/>
                </a:cubicBezTo>
                <a:cubicBezTo>
                  <a:pt x="2450" y="11729"/>
                  <a:pt x="1902" y="13018"/>
                  <a:pt x="2013" y="14336"/>
                </a:cubicBezTo>
                <a:cubicBezTo>
                  <a:pt x="2125" y="15654"/>
                  <a:pt x="2881" y="16833"/>
                  <a:pt x="4033" y="17483"/>
                </a:cubicBezTo>
                <a:cubicBezTo>
                  <a:pt x="3842" y="18961"/>
                  <a:pt x="4488" y="20422"/>
                  <a:pt x="5710" y="21275"/>
                </a:cubicBezTo>
                <a:cubicBezTo>
                  <a:pt x="6931" y="22128"/>
                  <a:pt x="8526" y="22232"/>
                  <a:pt x="9847" y="21544"/>
                </a:cubicBezTo>
                <a:cubicBezTo>
                  <a:pt x="11169" y="20856"/>
                  <a:pt x="11998" y="19490"/>
                  <a:pt x="12000" y="18000"/>
                </a:cubicBezTo>
                <a:close/>
              </a:path>
              <a:path w="24000" h="24000" fill="none">
                <a:moveTo>
                  <a:pt x="9000" y="13000"/>
                </a:moveTo>
                <a:cubicBezTo>
                  <a:pt x="10717" y="12396"/>
                  <a:pt x="11901" y="10817"/>
                  <a:pt x="12000" y="9000"/>
                </a:cubicBezTo>
              </a:path>
              <a:path w="24000" h="24000" fill="none">
                <a:moveTo>
                  <a:pt x="6003" y="5125"/>
                </a:moveTo>
                <a:cubicBezTo>
                  <a:pt x="6023" y="5609"/>
                  <a:pt x="6159" y="6080"/>
                  <a:pt x="6401" y="6500"/>
                </a:cubicBezTo>
              </a:path>
              <a:path w="24000" h="24000" fill="none">
                <a:moveTo>
                  <a:pt x="3477" y="10896"/>
                </a:moveTo>
                <a:cubicBezTo>
                  <a:pt x="3660" y="10747"/>
                  <a:pt x="3856" y="10614"/>
                  <a:pt x="4062" y="10500"/>
                </a:cubicBezTo>
              </a:path>
              <a:path w="24000" h="24000" fill="none">
                <a:moveTo>
                  <a:pt x="6000" y="18000"/>
                </a:moveTo>
                <a:cubicBezTo>
                  <a:pt x="5311" y="18000"/>
                  <a:pt x="4633" y="17823"/>
                  <a:pt x="4033" y="17484"/>
                </a:cubicBezTo>
              </a:path>
              <a:path w="24000" h="24000" fill="none">
                <a:moveTo>
                  <a:pt x="12000" y="13000"/>
                </a:moveTo>
                <a:lnTo>
                  <a:pt x="16000" y="13000"/>
                </a:lnTo>
              </a:path>
              <a:path w="24000" h="24000" fill="none">
                <a:moveTo>
                  <a:pt x="12000" y="18000"/>
                </a:moveTo>
                <a:lnTo>
                  <a:pt x="18000" y="18000"/>
                </a:lnTo>
                <a:cubicBezTo>
                  <a:pt x="19105" y="18000"/>
                  <a:pt x="20000" y="18895"/>
                  <a:pt x="20000" y="20000"/>
                </a:cubicBezTo>
                <a:lnTo>
                  <a:pt x="20000" y="21000"/>
                </a:lnTo>
              </a:path>
              <a:path w="24000" h="24000" fill="none">
                <a:moveTo>
                  <a:pt x="12000" y="8000"/>
                </a:moveTo>
                <a:lnTo>
                  <a:pt x="20000" y="8000"/>
                </a:lnTo>
              </a:path>
              <a:path w="24000" h="24000" fill="none">
                <a:moveTo>
                  <a:pt x="16000" y="8000"/>
                </a:moveTo>
                <a:lnTo>
                  <a:pt x="16000" y="5000"/>
                </a:lnTo>
                <a:cubicBezTo>
                  <a:pt x="16000" y="3895"/>
                  <a:pt x="16895" y="3000"/>
                  <a:pt x="18000" y="3000"/>
                </a:cubicBezTo>
              </a:path>
              <a:path w="24000" h="24000" fill="none">
                <a:moveTo>
                  <a:pt x="15500" y="13000"/>
                </a:moveTo>
                <a:cubicBezTo>
                  <a:pt x="15500" y="13276"/>
                  <a:pt x="15724" y="13500"/>
                  <a:pt x="16000" y="13500"/>
                </a:cubicBezTo>
                <a:cubicBezTo>
                  <a:pt x="16276" y="13500"/>
                  <a:pt x="16500" y="13276"/>
                  <a:pt x="16500" y="13000"/>
                </a:cubicBezTo>
                <a:cubicBezTo>
                  <a:pt x="16500" y="12724"/>
                  <a:pt x="16276" y="12500"/>
                  <a:pt x="16000" y="12500"/>
                </a:cubicBezTo>
                <a:cubicBezTo>
                  <a:pt x="15724" y="12500"/>
                  <a:pt x="15500" y="12724"/>
                  <a:pt x="15500" y="13000"/>
                </a:cubicBezTo>
                <a:close/>
              </a:path>
              <a:path w="24000" h="24000" fill="none">
                <a:moveTo>
                  <a:pt x="17500" y="3000"/>
                </a:moveTo>
                <a:cubicBezTo>
                  <a:pt x="17500" y="3276"/>
                  <a:pt x="17724" y="3500"/>
                  <a:pt x="18000" y="3500"/>
                </a:cubicBezTo>
                <a:cubicBezTo>
                  <a:pt x="18276" y="3500"/>
                  <a:pt x="18500" y="3276"/>
                  <a:pt x="18500" y="3000"/>
                </a:cubicBezTo>
                <a:cubicBezTo>
                  <a:pt x="18500" y="2724"/>
                  <a:pt x="18276" y="2500"/>
                  <a:pt x="18000" y="2500"/>
                </a:cubicBezTo>
                <a:cubicBezTo>
                  <a:pt x="17724" y="2500"/>
                  <a:pt x="17500" y="2724"/>
                  <a:pt x="17500" y="3000"/>
                </a:cubicBezTo>
                <a:close/>
              </a:path>
              <a:path w="24000" h="24000" fill="none">
                <a:moveTo>
                  <a:pt x="19500" y="21000"/>
                </a:moveTo>
                <a:cubicBezTo>
                  <a:pt x="19500" y="21276"/>
                  <a:pt x="19724" y="21500"/>
                  <a:pt x="20000" y="21500"/>
                </a:cubicBezTo>
                <a:cubicBezTo>
                  <a:pt x="20276" y="21500"/>
                  <a:pt x="20500" y="21276"/>
                  <a:pt x="20500" y="21000"/>
                </a:cubicBezTo>
                <a:cubicBezTo>
                  <a:pt x="20500" y="20724"/>
                  <a:pt x="20276" y="20500"/>
                  <a:pt x="20000" y="20500"/>
                </a:cubicBezTo>
                <a:cubicBezTo>
                  <a:pt x="19724" y="20500"/>
                  <a:pt x="19500" y="20724"/>
                  <a:pt x="19500" y="21000"/>
                </a:cubicBezTo>
                <a:close/>
              </a:path>
              <a:path w="24000" h="24000" fill="none">
                <a:moveTo>
                  <a:pt x="19500" y="8000"/>
                </a:moveTo>
                <a:cubicBezTo>
                  <a:pt x="19500" y="8276"/>
                  <a:pt x="19724" y="8500"/>
                  <a:pt x="20000" y="8500"/>
                </a:cubicBezTo>
                <a:cubicBezTo>
                  <a:pt x="20276" y="8500"/>
                  <a:pt x="20500" y="8276"/>
                  <a:pt x="20500" y="8000"/>
                </a:cubicBezTo>
                <a:cubicBezTo>
                  <a:pt x="20500" y="7724"/>
                  <a:pt x="20276" y="7500"/>
                  <a:pt x="20000" y="7500"/>
                </a:cubicBezTo>
                <a:cubicBezTo>
                  <a:pt x="19724" y="7500"/>
                  <a:pt x="19500" y="7724"/>
                  <a:pt x="19500" y="8000"/>
                </a:cubicBezTo>
                <a:close/>
              </a:path>
            </a:pathLst>
          </a:custGeom>
          <a:noFill/>
          <a:ln w="27783" cap="rnd">
            <a:solidFill>
              <a:srgbClr val="1E3A8A"/>
            </a:solidFill>
            <a:round/>
          </a:ln>
        </p:spPr>
      </p:sp>
      <p:sp>
        <p:nvSpPr>
          <p:cNvPr id="49" name="shape4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21414" y="2670048"/>
            <a:ext cx="64008" cy="64008"/>
          </a:xfrm>
          <a:prstGeom prst="ellipse">
            <a:avLst/>
          </a:prstGeom>
          <a:solidFill>
            <a:srgbClr val="1E3A8A"/>
          </a:solidFill>
          <a:ln>
            <a:noFill/>
          </a:ln>
        </p:spPr>
      </p:sp>
      <p:sp>
        <p:nvSpPr>
          <p:cNvPr id="50" name="text49"/>
          <p:cNvSpPr txBox="1"/>
          <p:nvPr/>
        </p:nvSpPr>
        <p:spPr>
          <a:xfrm>
            <a:off x="9267718" y="2569464"/>
            <a:ext cx="2311329" cy="2651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buNone/>
            </a:pPr>
            <a:r>
              <a:rPr lang="en" sz="1350" b="0" i="0" dirty="0">
                <a:solidFill>
                  <a:srgbClr val="1F2933"/>
                </a:solidFill>
                <a:latin typeface="Gill Sans"/>
                <a:ea typeface="Gill Sans"/>
                <a:cs typeface="Gill Sans"/>
              </a:rPr>
              <a:t>Autonomous agents</a:t>
            </a:r>
            <a:endParaRPr lang="en" sz="1350" dirty="0"/>
          </a:p>
        </p:txBody>
      </p:sp>
      <p:sp>
        <p:nvSpPr>
          <p:cNvPr id="51" name="shape5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21414" y="2953512"/>
            <a:ext cx="64008" cy="64008"/>
          </a:xfrm>
          <a:prstGeom prst="ellipse">
            <a:avLst/>
          </a:prstGeom>
          <a:solidFill>
            <a:srgbClr val="1E3A8A"/>
          </a:solidFill>
          <a:ln>
            <a:noFill/>
          </a:ln>
        </p:spPr>
      </p:sp>
      <p:sp>
        <p:nvSpPr>
          <p:cNvPr id="52" name="text51"/>
          <p:cNvSpPr txBox="1"/>
          <p:nvPr/>
        </p:nvSpPr>
        <p:spPr>
          <a:xfrm>
            <a:off x="9267718" y="2852928"/>
            <a:ext cx="2311329" cy="2651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buNone/>
            </a:pPr>
            <a:r>
              <a:rPr lang="en" sz="1350" b="0" i="0" dirty="0">
                <a:solidFill>
                  <a:srgbClr val="1F2933"/>
                </a:solidFill>
                <a:latin typeface="Gill Sans"/>
                <a:ea typeface="Gill Sans"/>
                <a:cs typeface="Gill Sans"/>
              </a:rPr>
              <a:t>Intelligent orchestration</a:t>
            </a:r>
            <a:endParaRPr lang="en" sz="1350" dirty="0"/>
          </a:p>
        </p:txBody>
      </p:sp>
      <p:sp>
        <p:nvSpPr>
          <p:cNvPr id="53" name="shape5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21414" y="3236976"/>
            <a:ext cx="64008" cy="64008"/>
          </a:xfrm>
          <a:prstGeom prst="ellipse">
            <a:avLst/>
          </a:prstGeom>
          <a:solidFill>
            <a:srgbClr val="1E3A8A"/>
          </a:solidFill>
          <a:ln>
            <a:noFill/>
          </a:ln>
        </p:spPr>
      </p:sp>
      <p:sp>
        <p:nvSpPr>
          <p:cNvPr id="54" name="text53"/>
          <p:cNvSpPr txBox="1"/>
          <p:nvPr/>
        </p:nvSpPr>
        <p:spPr>
          <a:xfrm>
            <a:off x="9267718" y="3136392"/>
            <a:ext cx="2311329" cy="2651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buNone/>
            </a:pPr>
            <a:r>
              <a:rPr lang="en" sz="1350" b="0" i="0" dirty="0">
                <a:solidFill>
                  <a:srgbClr val="1F2933"/>
                </a:solidFill>
                <a:latin typeface="Gill Sans"/>
                <a:ea typeface="Gill Sans"/>
                <a:cs typeface="Gill Sans"/>
              </a:rPr>
              <a:t>Continuous optimization</a:t>
            </a:r>
            <a:endParaRPr lang="en" sz="1350" dirty="0"/>
          </a:p>
        </p:txBody>
      </p:sp>
      <p:sp>
        <p:nvSpPr>
          <p:cNvPr id="55" name="text54"/>
          <p:cNvSpPr txBox="1"/>
          <p:nvPr/>
        </p:nvSpPr>
        <p:spPr>
          <a:xfrm>
            <a:off x="8426470" y="3529584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spc="60" dirty="0">
                <a:solidFill>
                  <a:srgbClr val="56606C"/>
                </a:solidFill>
                <a:latin typeface="Gill Sans"/>
                <a:ea typeface="Gill Sans"/>
                <a:cs typeface="Gill Sans"/>
              </a:rPr>
              <a:t>AI MATURITY</a:t>
            </a:r>
            <a:endParaRPr lang="en" sz="1000" dirty="0"/>
          </a:p>
        </p:txBody>
      </p:sp>
      <p:sp>
        <p:nvSpPr>
          <p:cNvPr id="56" name="shape5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487174" y="3579876"/>
            <a:ext cx="100584" cy="100584"/>
          </a:xfrm>
          <a:prstGeom prst="ellipse">
            <a:avLst/>
          </a:prstGeom>
          <a:solidFill>
            <a:srgbClr val="1E3A8A"/>
          </a:solidFill>
          <a:ln>
            <a:noFill/>
          </a:ln>
        </p:spPr>
      </p:sp>
      <p:sp>
        <p:nvSpPr>
          <p:cNvPr id="57" name="shape5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670054" y="3579876"/>
            <a:ext cx="100584" cy="100584"/>
          </a:xfrm>
          <a:prstGeom prst="ellipse">
            <a:avLst/>
          </a:prstGeom>
          <a:solidFill>
            <a:srgbClr val="1E3A8A"/>
          </a:solidFill>
          <a:ln>
            <a:noFill/>
          </a:ln>
        </p:spPr>
      </p:sp>
      <p:sp>
        <p:nvSpPr>
          <p:cNvPr id="58" name="shape5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853026" y="3579876"/>
            <a:ext cx="100584" cy="100584"/>
          </a:xfrm>
          <a:prstGeom prst="ellipse">
            <a:avLst/>
          </a:prstGeom>
          <a:solidFill>
            <a:srgbClr val="1E3A8A"/>
          </a:solidFill>
          <a:ln>
            <a:noFill/>
          </a:ln>
        </p:spPr>
      </p:sp>
      <p:sp>
        <p:nvSpPr>
          <p:cNvPr id="59" name="shape5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035814" y="3579876"/>
            <a:ext cx="100584" cy="100584"/>
          </a:xfrm>
          <a:prstGeom prst="ellipse">
            <a:avLst/>
          </a:prstGeom>
          <a:solidFill>
            <a:srgbClr val="1E3A8A"/>
          </a:solidFill>
          <a:ln>
            <a:noFill/>
          </a:ln>
        </p:spPr>
      </p:sp>
      <p:sp>
        <p:nvSpPr>
          <p:cNvPr id="60" name="shape5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218694" y="3579876"/>
            <a:ext cx="100584" cy="100584"/>
          </a:xfrm>
          <a:prstGeom prst="ellipse">
            <a:avLst/>
          </a:prstGeom>
          <a:solidFill>
            <a:srgbClr val="1E3A8A"/>
          </a:solidFill>
          <a:ln>
            <a:noFill/>
          </a:ln>
        </p:spPr>
      </p:sp>
      <p:sp>
        <p:nvSpPr>
          <p:cNvPr id="61" name="text60"/>
          <p:cNvSpPr txBox="1"/>
          <p:nvPr/>
        </p:nvSpPr>
        <p:spPr>
          <a:xfrm>
            <a:off x="457200" y="4041648"/>
            <a:ext cx="1737451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buNone/>
            </a:pPr>
            <a:r>
              <a:rPr lang="en" sz="1050" b="1" i="0" spc="168" dirty="0">
                <a:solidFill>
                  <a:srgbClr val="1F2933"/>
                </a:solidFill>
                <a:latin typeface="Futura"/>
                <a:ea typeface="Futura"/>
                <a:cs typeface="Futura"/>
              </a:rPr>
              <a:t>ROADMAP</a:t>
            </a:r>
            <a:endParaRPr lang="en" sz="1050" dirty="0"/>
          </a:p>
        </p:txBody>
      </p:sp>
      <p:sp>
        <p:nvSpPr>
          <p:cNvPr id="62" name="text61"/>
          <p:cNvSpPr txBox="1"/>
          <p:nvPr/>
        </p:nvSpPr>
        <p:spPr>
          <a:xfrm>
            <a:off x="2286091" y="3986784"/>
            <a:ext cx="822960" cy="40242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464"/>
              </a:lnSpc>
              <a:spcBef>
                <a:spcPts val="0"/>
              </a:spcBef>
              <a:buNone/>
            </a:pPr>
            <a:r>
              <a:rPr lang="en" sz="2200" b="1" i="0" dirty="0">
                <a:solidFill>
                  <a:srgbClr val="0F7C86"/>
                </a:solidFill>
                <a:latin typeface="Futura"/>
                <a:ea typeface="Futura"/>
                <a:cs typeface="Futura"/>
              </a:rPr>
              <a:t>2026</a:t>
            </a:r>
            <a:endParaRPr lang="en" sz="2200" dirty="0"/>
          </a:p>
        </p:txBody>
      </p:sp>
      <p:sp>
        <p:nvSpPr>
          <p:cNvPr id="63" name="text62"/>
          <p:cNvSpPr txBox="1"/>
          <p:nvPr/>
        </p:nvSpPr>
        <p:spPr>
          <a:xfrm>
            <a:off x="3127248" y="4059936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buNone/>
            </a:pPr>
            <a:r>
              <a:rPr lang="en" sz="1350" b="0" i="0" dirty="0">
                <a:solidFill>
                  <a:srgbClr val="56606C"/>
                </a:solidFill>
                <a:latin typeface="Gill Sans"/>
                <a:ea typeface="Gill Sans"/>
                <a:cs typeface="Gill Sans"/>
              </a:rPr>
              <a:t>Foundation</a:t>
            </a:r>
            <a:endParaRPr lang="en" sz="1350" dirty="0"/>
          </a:p>
        </p:txBody>
      </p:sp>
      <p:sp>
        <p:nvSpPr>
          <p:cNvPr id="64" name="shape6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91" y="4480560"/>
            <a:ext cx="3094695" cy="54864"/>
          </a:xfrm>
          <a:prstGeom prst="roundRect">
            <a:avLst>
              <a:gd name="adj" fmla="val 46296"/>
            </a:avLst>
          </a:prstGeom>
          <a:solidFill>
            <a:srgbClr val="0F7C86"/>
          </a:solidFill>
          <a:ln>
            <a:noFill/>
          </a:ln>
        </p:spPr>
      </p:sp>
      <p:sp>
        <p:nvSpPr>
          <p:cNvPr id="65" name="text64"/>
          <p:cNvSpPr txBox="1"/>
          <p:nvPr/>
        </p:nvSpPr>
        <p:spPr>
          <a:xfrm>
            <a:off x="5435468" y="3986784"/>
            <a:ext cx="822960" cy="40242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464"/>
              </a:lnSpc>
              <a:spcBef>
                <a:spcPts val="0"/>
              </a:spcBef>
              <a:buNone/>
            </a:pPr>
            <a:r>
              <a:rPr lang="en" sz="2200" b="1" i="0" dirty="0">
                <a:solidFill>
                  <a:srgbClr val="1F5F9E"/>
                </a:solidFill>
                <a:latin typeface="Futura"/>
                <a:ea typeface="Futura"/>
                <a:cs typeface="Futura"/>
              </a:rPr>
              <a:t>2027</a:t>
            </a:r>
            <a:endParaRPr lang="en" sz="2200" dirty="0"/>
          </a:p>
        </p:txBody>
      </p:sp>
      <p:sp>
        <p:nvSpPr>
          <p:cNvPr id="66" name="text65"/>
          <p:cNvSpPr txBox="1"/>
          <p:nvPr/>
        </p:nvSpPr>
        <p:spPr>
          <a:xfrm>
            <a:off x="6276716" y="4059936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buNone/>
            </a:pPr>
            <a:r>
              <a:rPr lang="en" sz="1350" b="0" i="0" dirty="0">
                <a:solidFill>
                  <a:srgbClr val="56606C"/>
                </a:solidFill>
                <a:latin typeface="Gill Sans"/>
                <a:ea typeface="Gill Sans"/>
                <a:cs typeface="Gill Sans"/>
              </a:rPr>
              <a:t>Scale</a:t>
            </a:r>
            <a:endParaRPr lang="en" sz="1350" dirty="0"/>
          </a:p>
        </p:txBody>
      </p:sp>
      <p:sp>
        <p:nvSpPr>
          <p:cNvPr id="67" name="shape6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62991" y="4480560"/>
            <a:ext cx="3094695" cy="54864"/>
          </a:xfrm>
          <a:prstGeom prst="roundRect">
            <a:avLst>
              <a:gd name="adj" fmla="val 46296"/>
            </a:avLst>
          </a:prstGeom>
          <a:solidFill>
            <a:srgbClr val="1F5F9E"/>
          </a:solidFill>
          <a:ln>
            <a:noFill/>
          </a:ln>
        </p:spPr>
      </p:sp>
      <p:sp>
        <p:nvSpPr>
          <p:cNvPr id="68" name="shape6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30713" y="4553712"/>
            <a:ext cx="9510" cy="1828891"/>
          </a:xfrm>
          <a:prstGeom prst="rect">
            <a:avLst/>
          </a:prstGeom>
          <a:solidFill>
            <a:srgbClr val="DDE2E8"/>
          </a:solidFill>
          <a:ln>
            <a:noFill/>
          </a:ln>
        </p:spPr>
      </p:sp>
      <p:sp>
        <p:nvSpPr>
          <p:cNvPr id="69" name="text68"/>
          <p:cNvSpPr txBox="1"/>
          <p:nvPr/>
        </p:nvSpPr>
        <p:spPr>
          <a:xfrm>
            <a:off x="8585027" y="3986784"/>
            <a:ext cx="822960" cy="40242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464"/>
              </a:lnSpc>
              <a:spcBef>
                <a:spcPts val="0"/>
              </a:spcBef>
              <a:buNone/>
            </a:pPr>
            <a:r>
              <a:rPr lang="en" sz="2200" b="1" i="0" dirty="0">
                <a:solidFill>
                  <a:srgbClr val="1E3A8A"/>
                </a:solidFill>
                <a:latin typeface="Futura"/>
                <a:ea typeface="Futura"/>
                <a:cs typeface="Futura"/>
              </a:rPr>
              <a:t>2028</a:t>
            </a:r>
            <a:endParaRPr lang="en" sz="2200" dirty="0"/>
          </a:p>
        </p:txBody>
      </p:sp>
      <p:sp>
        <p:nvSpPr>
          <p:cNvPr id="70" name="text69"/>
          <p:cNvSpPr txBox="1"/>
          <p:nvPr/>
        </p:nvSpPr>
        <p:spPr>
          <a:xfrm>
            <a:off x="9426275" y="4059936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buNone/>
            </a:pPr>
            <a:r>
              <a:rPr lang="en" sz="1350" b="0" i="0" dirty="0">
                <a:solidFill>
                  <a:srgbClr val="56606C"/>
                </a:solidFill>
                <a:latin typeface="Gill Sans"/>
                <a:ea typeface="Gill Sans"/>
                <a:cs typeface="Gill Sans"/>
              </a:rPr>
              <a:t>Autonomy</a:t>
            </a:r>
            <a:endParaRPr lang="en" sz="1350" dirty="0"/>
          </a:p>
        </p:txBody>
      </p:sp>
      <p:sp>
        <p:nvSpPr>
          <p:cNvPr id="71" name="shape7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12368" y="4480560"/>
            <a:ext cx="3094695" cy="54864"/>
          </a:xfrm>
          <a:prstGeom prst="roundRect">
            <a:avLst>
              <a:gd name="adj" fmla="val 46296"/>
            </a:avLst>
          </a:prstGeom>
          <a:solidFill>
            <a:srgbClr val="1E3A8A"/>
          </a:solidFill>
          <a:ln>
            <a:noFill/>
          </a:ln>
        </p:spPr>
      </p:sp>
      <p:sp>
        <p:nvSpPr>
          <p:cNvPr id="72" name="shape7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80272" y="4553712"/>
            <a:ext cx="9510" cy="1828891"/>
          </a:xfrm>
          <a:prstGeom prst="rect">
            <a:avLst/>
          </a:prstGeom>
          <a:solidFill>
            <a:srgbClr val="DDE2E8"/>
          </a:solidFill>
          <a:ln>
            <a:noFill/>
          </a:ln>
        </p:spPr>
      </p:sp>
      <p:sp>
        <p:nvSpPr>
          <p:cNvPr id="73" name="text72"/>
          <p:cNvSpPr txBox="1"/>
          <p:nvPr/>
        </p:nvSpPr>
        <p:spPr>
          <a:xfrm>
            <a:off x="457200" y="4663440"/>
            <a:ext cx="17830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buNone/>
            </a:pPr>
            <a:r>
              <a:rPr lang="en" sz="1250" b="0" i="0" dirty="0">
                <a:solidFill>
                  <a:srgbClr val="1F2933"/>
                </a:solidFill>
                <a:latin typeface="Gill Sans"/>
                <a:ea typeface="Gill Sans"/>
                <a:cs typeface="Gill Sans"/>
              </a:rPr>
              <a:t>Data &amp; platform</a:t>
            </a:r>
            <a:endParaRPr lang="en" sz="1250" dirty="0"/>
          </a:p>
        </p:txBody>
      </p:sp>
      <p:sp>
        <p:nvSpPr>
          <p:cNvPr id="74" name="row73-surface"/>
          <p:cNvSpPr/>
          <p:nvPr/>
        </p:nvSpPr>
        <p:spPr>
          <a:xfrm>
            <a:off x="2313432" y="4681728"/>
            <a:ext cx="3881994" cy="256032"/>
          </a:xfrm>
          <a:prstGeom prst="roundRect">
            <a:avLst>
              <a:gd name="adj" fmla="val 50000"/>
            </a:avLst>
          </a:prstGeom>
          <a:solidFill>
            <a:srgbClr val="0F7C86"/>
          </a:solidFill>
          <a:ln>
            <a:noFill/>
          </a:ln>
        </p:spPr>
      </p:sp>
      <p:sp>
        <p:nvSpPr>
          <p:cNvPr id="75" name="text74"/>
          <p:cNvSpPr txBox="1"/>
          <p:nvPr/>
        </p:nvSpPr>
        <p:spPr>
          <a:xfrm>
            <a:off x="2465771" y="4726442"/>
            <a:ext cx="3577224" cy="1666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313"/>
              </a:lnSpc>
              <a:spcBef>
                <a:spcPts val="0"/>
              </a:spcBef>
              <a:buNone/>
            </a:pPr>
            <a:r>
              <a:rPr lang="en" sz="1050" b="0" i="0" dirty="0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Unified data layer  ·  AI platform  ·  governance</a:t>
            </a:r>
            <a:endParaRPr lang="en" sz="1050" dirty="0"/>
          </a:p>
        </p:txBody>
      </p:sp>
      <p:sp>
        <p:nvSpPr>
          <p:cNvPr id="76" name="text75"/>
          <p:cNvSpPr txBox="1"/>
          <p:nvPr/>
        </p:nvSpPr>
        <p:spPr>
          <a:xfrm>
            <a:off x="457200" y="5010912"/>
            <a:ext cx="17830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buNone/>
            </a:pPr>
            <a:r>
              <a:rPr lang="en" sz="1250" b="0" i="0" dirty="0">
                <a:solidFill>
                  <a:srgbClr val="1F2933"/>
                </a:solidFill>
                <a:latin typeface="Gill Sans"/>
                <a:ea typeface="Gill Sans"/>
                <a:cs typeface="Gill Sans"/>
              </a:rPr>
              <a:t>Copilots</a:t>
            </a:r>
            <a:endParaRPr lang="en" sz="1250" dirty="0"/>
          </a:p>
        </p:txBody>
      </p:sp>
      <p:sp>
        <p:nvSpPr>
          <p:cNvPr id="77" name="row76-surface"/>
          <p:cNvSpPr/>
          <p:nvPr/>
        </p:nvSpPr>
        <p:spPr>
          <a:xfrm>
            <a:off x="3888212" y="5029200"/>
            <a:ext cx="4669384" cy="256032"/>
          </a:xfrm>
          <a:prstGeom prst="roundRect">
            <a:avLst>
              <a:gd name="adj" fmla="val 50000"/>
            </a:avLst>
          </a:prstGeom>
          <a:solidFill>
            <a:srgbClr val="1F5F9E"/>
          </a:solidFill>
          <a:ln>
            <a:noFill/>
          </a:ln>
        </p:spPr>
      </p:sp>
      <p:sp>
        <p:nvSpPr>
          <p:cNvPr id="78" name="text77"/>
          <p:cNvSpPr txBox="1"/>
          <p:nvPr/>
        </p:nvSpPr>
        <p:spPr>
          <a:xfrm>
            <a:off x="4040642" y="5073914"/>
            <a:ext cx="4364614" cy="1666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313"/>
              </a:lnSpc>
              <a:spcBef>
                <a:spcPts val="0"/>
              </a:spcBef>
              <a:buNone/>
            </a:pPr>
            <a:r>
              <a:rPr lang="en" sz="1050" b="0" i="0" dirty="0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Copilots in every function  ·  connected knowledge</a:t>
            </a:r>
            <a:endParaRPr lang="en" sz="1050" dirty="0"/>
          </a:p>
        </p:txBody>
      </p:sp>
      <p:sp>
        <p:nvSpPr>
          <p:cNvPr id="79" name="text78"/>
          <p:cNvSpPr txBox="1"/>
          <p:nvPr/>
        </p:nvSpPr>
        <p:spPr>
          <a:xfrm>
            <a:off x="457200" y="5358384"/>
            <a:ext cx="17830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buNone/>
            </a:pPr>
            <a:r>
              <a:rPr lang="en" sz="1250" b="0" i="0" dirty="0">
                <a:solidFill>
                  <a:srgbClr val="1F2933"/>
                </a:solidFill>
                <a:latin typeface="Gill Sans"/>
                <a:ea typeface="Gill Sans"/>
                <a:cs typeface="Gill Sans"/>
              </a:rPr>
              <a:t>Agents</a:t>
            </a:r>
            <a:endParaRPr lang="en" sz="1250" dirty="0"/>
          </a:p>
        </p:txBody>
      </p:sp>
      <p:sp>
        <p:nvSpPr>
          <p:cNvPr id="80" name="row79-surface"/>
          <p:cNvSpPr/>
          <p:nvPr/>
        </p:nvSpPr>
        <p:spPr>
          <a:xfrm>
            <a:off x="7037680" y="5376763"/>
            <a:ext cx="4669384" cy="256032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</p:spPr>
      </p:sp>
      <p:sp>
        <p:nvSpPr>
          <p:cNvPr id="81" name="text80"/>
          <p:cNvSpPr txBox="1"/>
          <p:nvPr/>
        </p:nvSpPr>
        <p:spPr>
          <a:xfrm>
            <a:off x="7190110" y="5421386"/>
            <a:ext cx="4364614" cy="1666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313"/>
              </a:lnSpc>
              <a:spcBef>
                <a:spcPts val="0"/>
              </a:spcBef>
              <a:buNone/>
            </a:pPr>
            <a:r>
              <a:rPr lang="en" sz="1050" b="0" i="0" dirty="0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Autonomous agents  ·  intelligent orchestration</a:t>
            </a:r>
            <a:endParaRPr lang="en" sz="1050" dirty="0"/>
          </a:p>
        </p:txBody>
      </p:sp>
      <p:sp>
        <p:nvSpPr>
          <p:cNvPr id="82" name="text81"/>
          <p:cNvSpPr txBox="1"/>
          <p:nvPr/>
        </p:nvSpPr>
        <p:spPr>
          <a:xfrm>
            <a:off x="457200" y="5705856"/>
            <a:ext cx="17830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buNone/>
            </a:pPr>
            <a:r>
              <a:rPr lang="en" sz="1250" b="0" i="0" dirty="0">
                <a:solidFill>
                  <a:srgbClr val="1F2933"/>
                </a:solidFill>
                <a:latin typeface="Gill Sans"/>
                <a:ea typeface="Gill Sans"/>
                <a:cs typeface="Gill Sans"/>
              </a:rPr>
              <a:t>People &amp; operating model</a:t>
            </a:r>
            <a:endParaRPr lang="en" sz="1250" dirty="0"/>
          </a:p>
        </p:txBody>
      </p:sp>
      <p:sp>
        <p:nvSpPr>
          <p:cNvPr id="83" name="row82-surface"/>
          <p:cNvSpPr/>
          <p:nvPr/>
        </p:nvSpPr>
        <p:spPr>
          <a:xfrm>
            <a:off x="2313432" y="5724144"/>
            <a:ext cx="9393631" cy="256032"/>
          </a:xfrm>
          <a:prstGeom prst="roundRect">
            <a:avLst>
              <a:gd name="adj" fmla="val 50000"/>
            </a:avLst>
          </a:prstGeom>
          <a:solidFill>
            <a:srgbClr val="E6EBF2"/>
          </a:solidFill>
          <a:ln>
            <a:noFill/>
          </a:ln>
        </p:spPr>
      </p:sp>
      <p:sp>
        <p:nvSpPr>
          <p:cNvPr id="84" name="text83"/>
          <p:cNvSpPr txBox="1"/>
          <p:nvPr/>
        </p:nvSpPr>
        <p:spPr>
          <a:xfrm>
            <a:off x="2465771" y="5768767"/>
            <a:ext cx="9088862" cy="1666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313"/>
              </a:lnSpc>
              <a:spcBef>
                <a:spcPts val="0"/>
              </a:spcBef>
              <a:buNone/>
            </a:pPr>
            <a:r>
              <a:rPr lang="en" sz="1050" b="0" i="0" dirty="0">
                <a:solidFill>
                  <a:srgbClr val="1F2933"/>
                </a:solidFill>
                <a:latin typeface="Gill Sans"/>
                <a:ea typeface="Gill Sans"/>
                <a:cs typeface="Gill Sans"/>
              </a:rPr>
              <a:t>Upskilling   ·   new AI-native roles   ·   continuous optimization</a:t>
            </a:r>
            <a:endParaRPr lang="en" sz="1050" dirty="0"/>
          </a:p>
        </p:txBody>
      </p:sp>
      <p:sp>
        <p:nvSpPr>
          <p:cNvPr id="85" name="text84"/>
          <p:cNvSpPr txBox="1"/>
          <p:nvPr/>
        </p:nvSpPr>
        <p:spPr>
          <a:xfrm>
            <a:off x="457200" y="6053328"/>
            <a:ext cx="17830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buNone/>
            </a:pPr>
            <a:r>
              <a:rPr lang="en" sz="1250" b="0" i="0" dirty="0">
                <a:solidFill>
                  <a:srgbClr val="1F2933"/>
                </a:solidFill>
                <a:latin typeface="Gill Sans"/>
                <a:ea typeface="Gill Sans"/>
                <a:cs typeface="Gill Sans"/>
              </a:rPr>
              <a:t>Milestones</a:t>
            </a:r>
            <a:endParaRPr lang="en" sz="1250" dirty="0"/>
          </a:p>
        </p:txBody>
      </p:sp>
      <p:sp>
        <p:nvSpPr>
          <p:cNvPr id="86" name="shape8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56025" y="4553712"/>
            <a:ext cx="9510" cy="1536192"/>
          </a:xfrm>
          <a:prstGeom prst="rect">
            <a:avLst/>
          </a:prstGeom>
          <a:solidFill>
            <a:srgbClr val="C98A0B">
              <a:alpha val="60000"/>
            </a:srgbClr>
          </a:solidFill>
          <a:ln>
            <a:noFill/>
          </a:ln>
        </p:spPr>
      </p:sp>
      <p:sp>
        <p:nvSpPr>
          <p:cNvPr id="87" name="shape8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78484" y="6117336"/>
            <a:ext cx="164592" cy="164592"/>
          </a:xfrm>
          <a:prstGeom prst="diamond">
            <a:avLst/>
          </a:prstGeom>
          <a:solidFill>
            <a:srgbClr val="C98A0B"/>
          </a:solidFill>
          <a:ln>
            <a:noFill/>
          </a:ln>
        </p:spPr>
      </p:sp>
      <p:sp>
        <p:nvSpPr>
          <p:cNvPr id="88" name="text87"/>
          <p:cNvSpPr txBox="1"/>
          <p:nvPr/>
        </p:nvSpPr>
        <p:spPr>
          <a:xfrm>
            <a:off x="3988796" y="6071616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1313"/>
              </a:lnSpc>
              <a:spcBef>
                <a:spcPts val="0"/>
              </a:spcBef>
              <a:buNone/>
            </a:pPr>
            <a:r>
              <a:rPr lang="en" sz="1050" b="1" i="0" dirty="0">
                <a:solidFill>
                  <a:srgbClr val="1F2933"/>
                </a:solidFill>
                <a:latin typeface="Gill Sans"/>
                <a:ea typeface="Gill Sans"/>
                <a:cs typeface="Gill Sans"/>
              </a:rPr>
              <a:t>AI platform live</a:t>
            </a:r>
            <a:endParaRPr lang="en" sz="1050" dirty="0"/>
          </a:p>
        </p:txBody>
      </p:sp>
      <p:sp>
        <p:nvSpPr>
          <p:cNvPr id="89" name="shape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05493" y="4553712"/>
            <a:ext cx="9510" cy="1536192"/>
          </a:xfrm>
          <a:prstGeom prst="rect">
            <a:avLst/>
          </a:prstGeom>
          <a:solidFill>
            <a:srgbClr val="C98A0B">
              <a:alpha val="60000"/>
            </a:srgbClr>
          </a:solidFill>
          <a:ln>
            <a:noFill/>
          </a:ln>
        </p:spPr>
      </p:sp>
      <p:sp>
        <p:nvSpPr>
          <p:cNvPr id="90" name="shape8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28043" y="6117336"/>
            <a:ext cx="164592" cy="164592"/>
          </a:xfrm>
          <a:prstGeom prst="diamond">
            <a:avLst/>
          </a:prstGeom>
          <a:solidFill>
            <a:srgbClr val="C98A0B"/>
          </a:solidFill>
          <a:ln>
            <a:noFill/>
          </a:ln>
        </p:spPr>
      </p:sp>
      <p:sp>
        <p:nvSpPr>
          <p:cNvPr id="91" name="text90"/>
          <p:cNvSpPr txBox="1"/>
          <p:nvPr/>
        </p:nvSpPr>
        <p:spPr>
          <a:xfrm>
            <a:off x="7138264" y="6071616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1313"/>
              </a:lnSpc>
              <a:spcBef>
                <a:spcPts val="0"/>
              </a:spcBef>
              <a:buNone/>
            </a:pPr>
            <a:r>
              <a:rPr lang="en" sz="1050" b="1" i="0" dirty="0">
                <a:solidFill>
                  <a:srgbClr val="1F2933"/>
                </a:solidFill>
                <a:latin typeface="Gill Sans"/>
                <a:ea typeface="Gill Sans"/>
                <a:cs typeface="Gill Sans"/>
              </a:rPr>
              <a:t>Copilots in every team</a:t>
            </a:r>
            <a:endParaRPr lang="en" sz="1050" dirty="0"/>
          </a:p>
        </p:txBody>
      </p:sp>
      <p:sp>
        <p:nvSpPr>
          <p:cNvPr id="92" name="shape9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67662" y="4553712"/>
            <a:ext cx="9510" cy="1536192"/>
          </a:xfrm>
          <a:prstGeom prst="rect">
            <a:avLst/>
          </a:prstGeom>
          <a:solidFill>
            <a:srgbClr val="C98A0B">
              <a:alpha val="60000"/>
            </a:srgbClr>
          </a:solidFill>
          <a:ln>
            <a:noFill/>
          </a:ln>
        </p:spPr>
      </p:sp>
      <p:sp>
        <p:nvSpPr>
          <p:cNvPr id="93" name="shape9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90121" y="6117336"/>
            <a:ext cx="164592" cy="164592"/>
          </a:xfrm>
          <a:prstGeom prst="diamond">
            <a:avLst/>
          </a:prstGeom>
          <a:solidFill>
            <a:srgbClr val="C98A0B"/>
          </a:solidFill>
          <a:ln>
            <a:noFill/>
          </a:ln>
        </p:spPr>
      </p:sp>
      <p:sp>
        <p:nvSpPr>
          <p:cNvPr id="94" name="text93"/>
          <p:cNvSpPr txBox="1"/>
          <p:nvPr/>
        </p:nvSpPr>
        <p:spPr>
          <a:xfrm>
            <a:off x="9500433" y="6071616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1313"/>
              </a:lnSpc>
              <a:spcBef>
                <a:spcPts val="0"/>
              </a:spcBef>
              <a:buNone/>
            </a:pPr>
            <a:r>
              <a:rPr lang="en" sz="1050" b="1" i="0" dirty="0">
                <a:solidFill>
                  <a:srgbClr val="1F2933"/>
                </a:solidFill>
                <a:latin typeface="Gill Sans"/>
                <a:ea typeface="Gill Sans"/>
                <a:cs typeface="Gill Sans"/>
              </a:rPr>
              <a:t>First autonomous workflows</a:t>
            </a:r>
            <a:endParaRPr lang="en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ySlideAgent capability showcase">
  <a:themeElements>
    <a:clrScheme name="MySlideAgent capability showcase">
      <a:dk1>
        <a:srgbClr val="1B1B1F"/>
      </a:dk1>
      <a:lt1>
        <a:srgbClr val="F6F3EC"/>
      </a:lt1>
      <a:dk2>
        <a:srgbClr val="66625B"/>
      </a:dk2>
      <a:lt2>
        <a:srgbClr val="FFFFFF"/>
      </a:lt2>
      <a:accent1>
        <a:srgbClr val="C2410C"/>
      </a:accent1>
      <a:accent2>
        <a:srgbClr val="38BDF8"/>
      </a:accent2>
      <a:accent3>
        <a:srgbClr val="D6CFC2"/>
      </a:accent3>
      <a:accent4>
        <a:srgbClr val="F3F5F9"/>
      </a:accent4>
      <a:accent5>
        <a:srgbClr val="0A1022"/>
      </a:accent5>
      <a:accent6>
        <a:srgbClr val="FFFFFF"/>
      </a:accent6>
      <a:hlink>
        <a:srgbClr val="C2410C"/>
      </a:hlink>
      <a:folHlink>
        <a:srgbClr val="66625B"/>
      </a:folHlink>
    </a:clrScheme>
    <a:fontScheme name="MySlideAgent capability showcas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MySlideAgent capability showcase">
      <a:fillStyleLst>
        <a:solidFill>
          <a:schemeClr val="phClr"/>
        </a:solidFill>
        <a:solidFill>
          <a:schemeClr val="phClr">
            <a:tint val="60000"/>
          </a:schemeClr>
        </a:solidFill>
        <a:solidFill>
          <a:schemeClr val="phClr">
            <a:shade val="80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  <a:custClrLst>
    <a:custClr name="s5white">
      <a:srgbClr val="FFFFFF"/>
    </a:custClr>
    <a:custClr name="s2haze">
      <a:srgbClr val="97A3BF"/>
    </a:custClr>
    <a:custClr name="s5ink">
      <a:srgbClr val="1F2933"/>
    </a:custClr>
    <a:custClr name="s1navy">
      <a:srgbClr val="0F1B33"/>
    </a:custClr>
    <a:custClr name="s2frost">
      <a:srgbClr val="E8EDF7"/>
    </a:custClr>
    <a:custClr name="s2violet">
      <a:srgbClr val="A78BFA"/>
    </a:custClr>
    <a:custClr name="s2teal">
      <a:srgbClr val="2DD4BF"/>
    </a:custClr>
    <a:custClr name="s1slate">
      <a:srgbClr val="5B6478"/>
    </a:custClr>
    <a:custClr name="s2node">
      <a:srgbClr val="111A33"/>
    </a:custClr>
    <a:custClr name="s5next">
      <a:srgbClr val="0F7C86"/>
    </a:custClr>
    <a:custClr name="s5future">
      <a:srgbClr val="1E3A8A"/>
    </a:custClr>
    <a:custClr name="s4uiMuted">
      <a:srgbClr val="6E6C80"/>
    </a:custClr>
    <a:custClr name="s4violet">
      <a:srgbClr val="6D28D9"/>
    </a:custClr>
    <a:custClr name="s4uiText">
      <a:srgbClr val="1F1D2B"/>
    </a:custClr>
  </a:custClrLst>
</a:theme>
</file>

<file path=ppt/theme/theme2.xml><?xml version="1.0" encoding="utf-8"?>
<a:theme xmlns:a="http://schemas.openxmlformats.org/drawingml/2006/main" name="Notes">
  <a:themeElements>
    <a:clrScheme name="Notes">
      <a:dk1>
        <a:srgbClr val="1B1B1F"/>
      </a:dk1>
      <a:lt1>
        <a:srgbClr val="F6F3EC"/>
      </a:lt1>
      <a:dk2>
        <a:srgbClr val="66625B"/>
      </a:dk2>
      <a:lt2>
        <a:srgbClr val="FFFFFF"/>
      </a:lt2>
      <a:accent1>
        <a:srgbClr val="C2410C"/>
      </a:accent1>
      <a:accent2>
        <a:srgbClr val="38BDF8"/>
      </a:accent2>
      <a:accent3>
        <a:srgbClr val="D6CFC2"/>
      </a:accent3>
      <a:accent4>
        <a:srgbClr val="F3F5F9"/>
      </a:accent4>
      <a:accent5>
        <a:srgbClr val="0A1022"/>
      </a:accent5>
      <a:accent6>
        <a:srgbClr val="FFFFFF"/>
      </a:accent6>
      <a:hlink>
        <a:srgbClr val="C2410C"/>
      </a:hlink>
      <a:folHlink>
        <a:srgbClr val="66625B"/>
      </a:folHlink>
    </a:clrScheme>
    <a:fontScheme name="Notes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Notes">
      <a:fillStyleLst>
        <a:solidFill>
          <a:schemeClr val="phClr"/>
        </a:solidFill>
        <a:solidFill>
          <a:schemeClr val="phClr">
            <a:tint val="60000"/>
          </a:schemeClr>
        </a:solidFill>
        <a:solidFill>
          <a:schemeClr val="phClr">
            <a:shade val="80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  <a:custClrLst>
    <a:custClr name="s5white">
      <a:srgbClr val="FFFFFF"/>
    </a:custClr>
    <a:custClr name="s2haze">
      <a:srgbClr val="97A3BF"/>
    </a:custClr>
    <a:custClr name="s5ink">
      <a:srgbClr val="1F2933"/>
    </a:custClr>
    <a:custClr name="s1navy">
      <a:srgbClr val="0F1B33"/>
    </a:custClr>
    <a:custClr name="s2frost">
      <a:srgbClr val="E8EDF7"/>
    </a:custClr>
    <a:custClr name="s2violet">
      <a:srgbClr val="A78BFA"/>
    </a:custClr>
    <a:custClr name="s2teal">
      <a:srgbClr val="2DD4BF"/>
    </a:custClr>
    <a:custClr name="s1slate">
      <a:srgbClr val="5B6478"/>
    </a:custClr>
    <a:custClr name="s2node">
      <a:srgbClr val="111A33"/>
    </a:custClr>
    <a:custClr name="s5next">
      <a:srgbClr val="0F7C86"/>
    </a:custClr>
    <a:custClr name="s5future">
      <a:srgbClr val="1E3A8A"/>
    </a:custClr>
    <a:custClr name="s4uiMuted">
      <a:srgbClr val="6E6C80"/>
    </a:custClr>
    <a:custClr name="s4violet">
      <a:srgbClr val="6D28D9"/>
    </a:custClr>
    <a:custClr name="s4uiText">
      <a:srgbClr val="1F1D2B"/>
    </a:custClr>
  </a:custClr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Slide Agent</Application>
  <Slides>5</Slides>
  <Notes>5</Notes>
  <HiddenSlides>0</HiddenSlides>
  <AppVersion>2.0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MySlideAgent capability showcase</dc:title>
  <dc:language>en</dc:language>
  <dcterms:created xsi:type="dcterms:W3CDTF">2026-10-02T06:12:36Z</dcterms:created>
  <dcterms:modified xsi:type="dcterms:W3CDTF">2026-10-02T06:12:36Z</dcterms:modified>
</cp:coreProperties>
</file>