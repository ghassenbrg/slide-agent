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Avenir Next"/>
      <p:regular r:id="rId15"/>
      <p:bold r:id="rId12"/>
      <p:italic r:id="rId14"/>
      <p:boldItalic r:id="rId13"/>
    </p:embeddedFont>
    <p:embeddedFont>
      <p:font typeface="Avenir Next Heavy"/>
      <p:regular r:id="rId17"/>
      <p:italic r:id="rId16"/>
    </p:embeddedFont>
    <p:embeddedFont>
      <p:font typeface="Menlo"/>
      <p:regular r:id="rId21"/>
      <p:bold r:id="rId18"/>
      <p:italic r:id="rId20"/>
      <p:boldItalic r:id="rId19"/>
    </p:embeddedFont>
  </p:embeddedFontLst>
  <p:defaultText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Executive / project-management dashboard: KPI cards, progress rings, workstream bars, a milestone timeline, the key risk and the decision needed.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Workstreams converge on a single capacity dependency.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72% delivery with 64% budget consumption.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Capacity risk has a dated mitigation plan.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Approve a $0.6M capacity reserve by December 6.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645920"/>
            <a:ext cx="11277600" cy="47548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idx="11"/>
          </p:nvPr>
        </p:nvSpPr>
        <p:spPr>
          <a:xfrm>
            <a:off x="457200" y="6492240"/>
            <a:ext cx="676656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12"/>
          </p:nvPr>
        </p:nvSpPr>
        <p:spPr>
          <a:xfrm>
            <a:off x="11003280" y="6492240"/>
            <a:ext cx="731520" cy="274320"/>
          </a:xfrm>
        </p:spPr>
        <p:txBody>
          <a:bodyPr/>
          <a:lstStyle/>
          <a:p>
            <a:pPr algn="r"/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-dashbo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463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8000" y="3000"/>
                </a:moveTo>
                <a:lnTo>
                  <a:pt x="12000" y="11000"/>
                </a:lnTo>
                <a:lnTo>
                  <a:pt x="17000" y="6000"/>
                </a:lnTo>
                <a:lnTo>
                  <a:pt x="22000" y="21000"/>
                </a:lnTo>
                <a:lnTo>
                  <a:pt x="2000" y="21000"/>
                </a:lnTo>
                <a:lnTo>
                  <a:pt x="8000" y="3000"/>
                </a:lnTo>
                <a:close/>
              </a:path>
            </a:pathLst>
          </a:custGeom>
          <a:noFill/>
          <a:ln w="19050" cap="rnd">
            <a:solidFill>
              <a:schemeClr val="accent1"/>
            </a:solidFill>
            <a:round/>
          </a:ln>
        </p:spPr>
      </p:sp>
      <p:sp>
        <p:nvSpPr>
          <p:cNvPr id="3" name="text2"/>
          <p:cNvSpPr txBox="1"/>
          <p:nvPr/>
        </p:nvSpPr>
        <p:spPr>
          <a:xfrm>
            <a:off x="768096" y="4572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buNone/>
            </a:pPr>
            <a:r>
              <a:rPr lang="en" sz="1200" b="1" i="0" spc="30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ATLAS</a:t>
            </a:r>
            <a:endParaRPr lang="en" sz="1200" dirty="0"/>
          </a:p>
        </p:txBody>
      </p:sp>
      <p:sp>
        <p:nvSpPr>
          <p:cNvPr id="4" name="text3"/>
          <p:cNvSpPr txBox="1"/>
          <p:nvPr/>
        </p:nvSpPr>
        <p:spPr>
          <a:xfrm>
            <a:off x="6245352" y="457200"/>
            <a:ext cx="54864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Q4 2026     |     Steering Committee     |     28 Nov</a:t>
            </a:r>
            <a:endParaRPr lang="en" sz="1100" dirty="0"/>
          </a:p>
        </p:txBody>
      </p:sp>
      <p:sp>
        <p:nvSpPr>
          <p:cNvPr id="5" name="text4"/>
          <p:cNvSpPr>
            <a:spLocks noGrp="1"/>
          </p:cNvSpPr>
          <p:nvPr>
            <p:ph type="title"/>
          </p:nvPr>
        </p:nvSpPr>
        <p:spPr>
          <a:xfrm>
            <a:off x="457200" y="822960"/>
            <a:ext cx="9144091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Atlas is on track. One decision remains.</a:t>
            </a:r>
            <a:endParaRPr lang="en" sz="3000" dirty="0"/>
          </a:p>
        </p:txBody>
      </p:sp>
      <p:sp>
        <p:nvSpPr>
          <p:cNvPr id="6" name="text5"/>
          <p:cNvSpPr txBox="1"/>
          <p:nvPr/>
        </p:nvSpPr>
        <p:spPr>
          <a:xfrm>
            <a:off x="457200" y="1371600"/>
            <a:ext cx="91440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Building the next-generation AI platform for a more productive enterprise</a:t>
            </a:r>
            <a:endParaRPr lang="en" sz="1300" dirty="0"/>
          </a:p>
        </p:txBody>
      </p:sp>
      <p:sp>
        <p:nvSpPr>
          <p:cNvPr id="7" name="free6-surface"/>
          <p:cNvSpPr/>
          <p:nvPr/>
        </p:nvSpPr>
        <p:spPr>
          <a:xfrm>
            <a:off x="457200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8" name="icon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219456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" y="12000"/>
                </a:move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lose/>
              </a:path>
              <a:path w="24000" h="24000" fill="none"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42863" cap="rnd">
            <a:solidFill>
              <a:srgbClr val="157A3B"/>
            </a:solidFill>
            <a:round/>
          </a:ln>
        </p:spPr>
      </p:sp>
      <p:sp>
        <p:nvSpPr>
          <p:cNvPr id="9" name="text8"/>
          <p:cNvSpPr txBox="1"/>
          <p:nvPr/>
        </p:nvSpPr>
        <p:spPr>
          <a:xfrm>
            <a:off x="1298448" y="20482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spc="8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2000" dirty="0"/>
          </a:p>
        </p:txBody>
      </p:sp>
      <p:sp>
        <p:nvSpPr>
          <p:cNvPr id="10" name="text9"/>
          <p:cNvSpPr txBox="1"/>
          <p:nvPr/>
        </p:nvSpPr>
        <p:spPr>
          <a:xfrm>
            <a:off x="1298448" y="24048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Overall project health</a:t>
            </a:r>
            <a:endParaRPr lang="en" sz="1200" dirty="0"/>
          </a:p>
        </p:txBody>
      </p:sp>
      <p:sp>
        <p:nvSpPr>
          <p:cNvPr id="11" name="text10"/>
          <p:cNvSpPr txBox="1"/>
          <p:nvPr/>
        </p:nvSpPr>
        <p:spPr>
          <a:xfrm>
            <a:off x="1298448" y="263347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Unchanged since Q3</a:t>
            </a:r>
            <a:endParaRPr lang="en" sz="1050" dirty="0"/>
          </a:p>
        </p:txBody>
      </p:sp>
      <p:sp>
        <p:nvSpPr>
          <p:cNvPr id="12" name="free11-surface"/>
          <p:cNvSpPr/>
          <p:nvPr/>
        </p:nvSpPr>
        <p:spPr>
          <a:xfrm>
            <a:off x="3322015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3" name="text12"/>
          <p:cNvSpPr txBox="1"/>
          <p:nvPr/>
        </p:nvSpPr>
        <p:spPr>
          <a:xfrm>
            <a:off x="3559759" y="201168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Completion</a:t>
            </a:r>
            <a:endParaRPr lang="en" sz="1200" dirty="0"/>
          </a:p>
        </p:txBody>
      </p:sp>
      <p:sp>
        <p:nvSpPr>
          <p:cNvPr id="14" name="text13"/>
          <p:cNvSpPr txBox="1"/>
          <p:nvPr/>
        </p:nvSpPr>
        <p:spPr>
          <a:xfrm>
            <a:off x="3559759" y="223113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72%</a:t>
            </a:r>
            <a:endParaRPr lang="en" sz="3600" dirty="0"/>
          </a:p>
        </p:txBody>
      </p:sp>
      <p:sp>
        <p:nvSpPr>
          <p:cNvPr id="15" name="text14"/>
          <p:cNvSpPr txBox="1"/>
          <p:nvPr/>
        </p:nvSpPr>
        <p:spPr>
          <a:xfrm>
            <a:off x="3559759" y="2724912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of scope delivered</a:t>
            </a:r>
            <a:endParaRPr lang="en" sz="1100" dirty="0"/>
          </a:p>
        </p:txBody>
      </p:sp>
      <p:sp>
        <p:nvSpPr>
          <p:cNvPr id="16" name="shape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2799" y="2048256"/>
            <a:ext cx="749808" cy="749808"/>
          </a:xfrm>
          <a:prstGeom prst="ellipse">
            <a:avLst/>
          </a:prstGeom>
          <a:noFill/>
          <a:ln w="88900">
            <a:solidFill>
              <a:schemeClr val="accent2"/>
            </a:solidFill>
          </a:ln>
        </p:spPr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2799" y="2048256"/>
            <a:ext cx="749808" cy="7498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764" y="0"/>
                  <a:pt x="982" y="205"/>
                  <a:pt x="999" y="469"/>
                </a:cubicBezTo>
                <a:cubicBezTo>
                  <a:pt x="1016" y="732"/>
                  <a:pt x="825" y="963"/>
                  <a:pt x="563" y="996"/>
                </a:cubicBezTo>
                <a:cubicBezTo>
                  <a:pt x="301" y="1029"/>
                  <a:pt x="58" y="853"/>
                  <a:pt x="9" y="594"/>
                </a:cubicBezTo>
              </a:path>
            </a:pathLst>
          </a:custGeom>
          <a:noFill/>
          <a:ln w="88900">
            <a:solidFill>
              <a:schemeClr val="accent1"/>
            </a:solidFill>
          </a:ln>
        </p:spPr>
      </p:sp>
      <p:sp>
        <p:nvSpPr>
          <p:cNvPr id="18" name="free17-surface"/>
          <p:cNvSpPr/>
          <p:nvPr/>
        </p:nvSpPr>
        <p:spPr>
          <a:xfrm>
            <a:off x="6187745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19" name="text18"/>
          <p:cNvSpPr txBox="1"/>
          <p:nvPr/>
        </p:nvSpPr>
        <p:spPr>
          <a:xfrm>
            <a:off x="6425489" y="201168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Budget used</a:t>
            </a:r>
            <a:endParaRPr lang="en" sz="1200" dirty="0"/>
          </a:p>
        </p:txBody>
      </p:sp>
      <p:sp>
        <p:nvSpPr>
          <p:cNvPr id="20" name="text19"/>
          <p:cNvSpPr txBox="1"/>
          <p:nvPr/>
        </p:nvSpPr>
        <p:spPr>
          <a:xfrm>
            <a:off x="6425489" y="223113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buNone/>
            </a:pPr>
            <a:r>
              <a:rPr lang="en" sz="36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64%</a:t>
            </a:r>
            <a:endParaRPr lang="en" sz="3600" dirty="0"/>
          </a:p>
        </p:txBody>
      </p:sp>
      <p:sp>
        <p:nvSpPr>
          <p:cNvPr id="21" name="text20"/>
          <p:cNvSpPr txBox="1"/>
          <p:nvPr/>
        </p:nvSpPr>
        <p:spPr>
          <a:xfrm>
            <a:off x="6425489" y="2724912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$4.1M of $6.4M</a:t>
            </a:r>
            <a:endParaRPr lang="en" sz="11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88529" y="2048256"/>
            <a:ext cx="749808" cy="749808"/>
          </a:xfrm>
          <a:prstGeom prst="ellipse">
            <a:avLst/>
          </a:prstGeom>
          <a:noFill/>
          <a:ln w="88900">
            <a:solidFill>
              <a:schemeClr val="accent2"/>
            </a:solidFill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88529" y="2048256"/>
            <a:ext cx="749808" cy="7498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732" y="0"/>
                  <a:pt x="934" y="160"/>
                  <a:pt x="987" y="386"/>
                </a:cubicBezTo>
                <a:cubicBezTo>
                  <a:pt x="1040" y="612"/>
                  <a:pt x="930" y="845"/>
                  <a:pt x="722" y="948"/>
                </a:cubicBezTo>
                <a:cubicBezTo>
                  <a:pt x="514" y="1051"/>
                  <a:pt x="263" y="998"/>
                  <a:pt x="115" y="819"/>
                </a:cubicBezTo>
              </a:path>
            </a:pathLst>
          </a:custGeom>
          <a:noFill/>
          <a:ln w="88900">
            <a:solidFill>
              <a:schemeClr val="accent5"/>
            </a:solidFill>
          </a:ln>
        </p:spPr>
      </p:sp>
      <p:sp>
        <p:nvSpPr>
          <p:cNvPr id="24" name="column23-surface"/>
          <p:cNvSpPr/>
          <p:nvPr/>
        </p:nvSpPr>
        <p:spPr>
          <a:xfrm>
            <a:off x="9052651" y="1828800"/>
            <a:ext cx="2681935" cy="1188720"/>
          </a:xfrm>
          <a:prstGeom prst="roundRect">
            <a:avLst>
              <a:gd name="adj" fmla="val 10684"/>
            </a:avLst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25" name="text24"/>
          <p:cNvSpPr txBox="1"/>
          <p:nvPr/>
        </p:nvSpPr>
        <p:spPr>
          <a:xfrm>
            <a:off x="9281251" y="1975470"/>
            <a:ext cx="2224735" cy="152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buNone/>
            </a:pPr>
            <a:r>
              <a:rPr lang="en" sz="1000" b="1" i="0" spc="200" dirty="0">
                <a:solidFill>
                  <a:schemeClr val="accent4"/>
                </a:solidFill>
                <a:latin typeface="Avenir Next"/>
                <a:ea typeface="Avenir Next"/>
                <a:cs typeface="Avenir Next"/>
              </a:rPr>
              <a:t>BOTTOM LINE</a:t>
            </a:r>
            <a:endParaRPr lang="en" sz="1000" dirty="0"/>
          </a:p>
        </p:txBody>
      </p:sp>
      <p:sp>
        <p:nvSpPr>
          <p:cNvPr id="26" name="text25"/>
          <p:cNvSpPr txBox="1"/>
          <p:nvPr/>
        </p:nvSpPr>
        <p:spPr>
          <a:xfrm>
            <a:off x="9281251" y="2204070"/>
            <a:ext cx="2224735" cy="666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bg2"/>
                </a:solidFill>
                <a:latin typeface="Avenir Next"/>
                <a:ea typeface="Avenir Next"/>
                <a:cs typeface="Avenir Next"/>
              </a:rPr>
              <a:t>MVP ships on time. GPU capacity is the one risk to a Q2 launch.</a:t>
            </a:r>
            <a:endParaRPr lang="en" sz="1400" dirty="0"/>
          </a:p>
        </p:txBody>
      </p:sp>
      <p:sp>
        <p:nvSpPr>
          <p:cNvPr id="27" name="free26-surface"/>
          <p:cNvSpPr/>
          <p:nvPr/>
        </p:nvSpPr>
        <p:spPr>
          <a:xfrm>
            <a:off x="457200" y="3200400"/>
            <a:ext cx="5577931" cy="1737269"/>
          </a:xfrm>
          <a:prstGeom prst="roundRect">
            <a:avLst>
              <a:gd name="adj" fmla="val 7310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28" name="text27"/>
          <p:cNvSpPr txBox="1"/>
          <p:nvPr/>
        </p:nvSpPr>
        <p:spPr>
          <a:xfrm>
            <a:off x="713232" y="33467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buNone/>
            </a:pPr>
            <a:r>
              <a:rPr lang="en" sz="15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Workstream progress</a:t>
            </a:r>
            <a:endParaRPr lang="en" sz="1500" dirty="0"/>
          </a:p>
        </p:txBody>
      </p:sp>
      <p:sp>
        <p:nvSpPr>
          <p:cNvPr id="29" name="text28"/>
          <p:cNvSpPr txBox="1"/>
          <p:nvPr/>
        </p:nvSpPr>
        <p:spPr>
          <a:xfrm>
            <a:off x="3474720" y="3374136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% complete  ·  status</a:t>
            </a:r>
            <a:endParaRPr lang="en" sz="1000" dirty="0"/>
          </a:p>
        </p:txBody>
      </p:sp>
      <p:sp>
        <p:nvSpPr>
          <p:cNvPr id="30" name="column29-surface"/>
          <p:cNvSpPr/>
          <p:nvPr/>
        </p:nvSpPr>
        <p:spPr>
          <a:xfrm>
            <a:off x="713232" y="3730752"/>
            <a:ext cx="310896" cy="310896"/>
          </a:xfrm>
          <a:prstGeom prst="roundRect">
            <a:avLst>
              <a:gd name="adj" fmla="val 28595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31" name="icon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3803630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21730"/>
                </a:moveTo>
                <a:cubicBezTo>
                  <a:pt x="11619" y="22087"/>
                  <a:pt x="12381" y="22087"/>
                  <a:pt x="13000" y="21730"/>
                </a:cubicBezTo>
                <a:lnTo>
                  <a:pt x="20000" y="17730"/>
                </a:lnTo>
                <a:cubicBezTo>
                  <a:pt x="20618" y="17373"/>
                  <a:pt x="20999" y="16714"/>
                  <a:pt x="21000" y="16000"/>
                </a:cubicBez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4"/>
                  <a:pt x="3382" y="17373"/>
                  <a:pt x="4000" y="17730"/>
                </a:cubicBezTo>
                <a:close/>
              </a:path>
              <a:path w="24000" h="24000" fill="none">
                <a:moveTo>
                  <a:pt x="12000" y="22000"/>
                </a:moveTo>
                <a:lnTo>
                  <a:pt x="12000" y="12000"/>
                </a:lnTo>
              </a:path>
              <a:path w="24000" h="24000" fill="none"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</a:path>
              <a:path w="24000" h="24000" fill="none">
                <a:moveTo>
                  <a:pt x="7500" y="4270"/>
                </a:moveTo>
                <a:lnTo>
                  <a:pt x="16500" y="9420"/>
                </a:lnTo>
              </a:path>
            </a:pathLst>
          </a:custGeom>
          <a:noFill/>
          <a:ln w="13762" cap="rnd">
            <a:solidFill>
              <a:schemeClr val="accent1"/>
            </a:solidFill>
            <a:round/>
          </a:ln>
        </p:spPr>
      </p:sp>
      <p:sp>
        <p:nvSpPr>
          <p:cNvPr id="32" name="text31"/>
          <p:cNvSpPr txBox="1"/>
          <p:nvPr/>
        </p:nvSpPr>
        <p:spPr>
          <a:xfrm>
            <a:off x="1133856" y="374894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Product</a:t>
            </a:r>
            <a:endParaRPr lang="en" sz="1250" dirty="0"/>
          </a:p>
        </p:txBody>
      </p:sp>
      <p:sp>
        <p:nvSpPr>
          <p:cNvPr id="33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840389"/>
            <a:ext cx="2103120" cy="914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4" name="shape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840389"/>
            <a:ext cx="1724558" cy="91440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5" name="text34"/>
          <p:cNvSpPr txBox="1"/>
          <p:nvPr/>
        </p:nvSpPr>
        <p:spPr>
          <a:xfrm>
            <a:off x="4645152" y="374894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82%</a:t>
            </a:r>
            <a:endParaRPr lang="en" sz="1250" dirty="0"/>
          </a:p>
        </p:txBody>
      </p:sp>
      <p:sp>
        <p:nvSpPr>
          <p:cNvPr id="36" name="column35-surface"/>
          <p:cNvSpPr/>
          <p:nvPr/>
        </p:nvSpPr>
        <p:spPr>
          <a:xfrm>
            <a:off x="5230459" y="3776472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37" name="text36"/>
          <p:cNvSpPr txBox="1"/>
          <p:nvPr/>
        </p:nvSpPr>
        <p:spPr>
          <a:xfrm>
            <a:off x="5230459" y="3806830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1000" dirty="0"/>
          </a:p>
        </p:txBody>
      </p:sp>
      <p:sp>
        <p:nvSpPr>
          <p:cNvPr id="38" name="column37-surface"/>
          <p:cNvSpPr/>
          <p:nvPr/>
        </p:nvSpPr>
        <p:spPr>
          <a:xfrm>
            <a:off x="713232" y="4123853"/>
            <a:ext cx="310896" cy="310896"/>
          </a:xfrm>
          <a:prstGeom prst="roundRect">
            <a:avLst>
              <a:gd name="adj" fmla="val 28595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39" name="icon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4196822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</a:path>
              <a:path w="24000" h="24000" fill="none"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noFill/>
          <a:ln w="13762" cap="rnd">
            <a:solidFill>
              <a:schemeClr val="accent5"/>
            </a:solidFill>
            <a:round/>
          </a:ln>
        </p:spPr>
      </p:sp>
      <p:sp>
        <p:nvSpPr>
          <p:cNvPr id="40" name="text39"/>
          <p:cNvSpPr txBox="1"/>
          <p:nvPr/>
        </p:nvSpPr>
        <p:spPr>
          <a:xfrm>
            <a:off x="1133856" y="4142141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Engineering</a:t>
            </a:r>
            <a:endParaRPr lang="en" sz="1250" dirty="0"/>
          </a:p>
        </p:txBody>
      </p:sp>
      <p:sp>
        <p:nvSpPr>
          <p:cNvPr id="41" name="shape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233581"/>
            <a:ext cx="2103120" cy="914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2" name="shape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233581"/>
            <a:ext cx="1556309" cy="91440"/>
          </a:xfrm>
          <a:prstGeom prst="roundRect">
            <a:avLst>
              <a:gd name="adj" fmla="val 41667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3" name="text42"/>
          <p:cNvSpPr txBox="1"/>
          <p:nvPr/>
        </p:nvSpPr>
        <p:spPr>
          <a:xfrm>
            <a:off x="4645152" y="414214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74%</a:t>
            </a:r>
            <a:endParaRPr lang="en" sz="1250" dirty="0"/>
          </a:p>
        </p:txBody>
      </p:sp>
      <p:sp>
        <p:nvSpPr>
          <p:cNvPr id="44" name="column43-surface"/>
          <p:cNvSpPr/>
          <p:nvPr/>
        </p:nvSpPr>
        <p:spPr>
          <a:xfrm>
            <a:off x="5230459" y="4169573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E6F5EC"/>
          </a:solidFill>
          <a:ln>
            <a:noFill/>
          </a:ln>
        </p:spPr>
      </p:sp>
      <p:sp>
        <p:nvSpPr>
          <p:cNvPr id="45" name="text44"/>
          <p:cNvSpPr txBox="1"/>
          <p:nvPr/>
        </p:nvSpPr>
        <p:spPr>
          <a:xfrm>
            <a:off x="5230459" y="4199931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On track</a:t>
            </a:r>
            <a:endParaRPr lang="en" sz="1000" dirty="0"/>
          </a:p>
        </p:txBody>
      </p:sp>
      <p:sp>
        <p:nvSpPr>
          <p:cNvPr id="46" name="column45-surface"/>
          <p:cNvSpPr/>
          <p:nvPr/>
        </p:nvSpPr>
        <p:spPr>
          <a:xfrm>
            <a:off x="713232" y="4517045"/>
            <a:ext cx="310896" cy="310896"/>
          </a:xfrm>
          <a:prstGeom prst="roundRect">
            <a:avLst>
              <a:gd name="adj" fmla="val 28595"/>
            </a:avLst>
          </a:prstGeom>
          <a:solidFill>
            <a:srgbClr val="FDF1DE"/>
          </a:solidFill>
          <a:ln>
            <a:noFill/>
          </a:ln>
        </p:spPr>
      </p:sp>
      <p:sp>
        <p:nvSpPr>
          <p:cNvPr id="47" name="icon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110" y="4590014"/>
            <a:ext cx="165141" cy="165141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</a:path>
              <a:path w="24000" h="24000" fill="none"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</a:path>
              <a:path w="24000" h="24000" fill="none"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3762" cap="rnd">
            <a:solidFill>
              <a:srgbClr val="B86A00"/>
            </a:solidFill>
            <a:round/>
          </a:ln>
        </p:spPr>
      </p:sp>
      <p:sp>
        <p:nvSpPr>
          <p:cNvPr id="48" name="text47"/>
          <p:cNvSpPr txBox="1"/>
          <p:nvPr/>
        </p:nvSpPr>
        <p:spPr>
          <a:xfrm>
            <a:off x="1133856" y="4535333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Go-to-Market</a:t>
            </a:r>
            <a:endParaRPr lang="en" sz="1250" dirty="0"/>
          </a:p>
        </p:txBody>
      </p:sp>
      <p:sp>
        <p:nvSpPr>
          <p:cNvPr id="49" name="shape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626773"/>
            <a:ext cx="2103120" cy="914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0" name="shape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4626773"/>
            <a:ext cx="1219810" cy="91440"/>
          </a:xfrm>
          <a:prstGeom prst="roundRect">
            <a:avLst>
              <a:gd name="adj" fmla="val 41667"/>
            </a:avLst>
          </a:prstGeom>
          <a:solidFill>
            <a:srgbClr val="E08A0B"/>
          </a:solidFill>
          <a:ln>
            <a:noFill/>
          </a:ln>
        </p:spPr>
      </p:sp>
      <p:sp>
        <p:nvSpPr>
          <p:cNvPr id="51" name="text50"/>
          <p:cNvSpPr txBox="1"/>
          <p:nvPr/>
        </p:nvSpPr>
        <p:spPr>
          <a:xfrm>
            <a:off x="4645152" y="453533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1625"/>
              </a:lnSpc>
              <a:spcBef>
                <a:spcPts val="0"/>
              </a:spcBef>
              <a:buNone/>
            </a:pPr>
            <a:r>
              <a:rPr lang="en" sz="125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58%</a:t>
            </a:r>
            <a:endParaRPr lang="en" sz="1250" dirty="0"/>
          </a:p>
        </p:txBody>
      </p:sp>
      <p:sp>
        <p:nvSpPr>
          <p:cNvPr id="52" name="column51-surface"/>
          <p:cNvSpPr/>
          <p:nvPr/>
        </p:nvSpPr>
        <p:spPr>
          <a:xfrm>
            <a:off x="5230459" y="4562765"/>
            <a:ext cx="603504" cy="219456"/>
          </a:xfrm>
          <a:prstGeom prst="roundRect">
            <a:avLst>
              <a:gd name="adj" fmla="val 50000"/>
            </a:avLst>
          </a:prstGeom>
          <a:solidFill>
            <a:srgbClr val="FDF1DE"/>
          </a:solidFill>
          <a:ln>
            <a:noFill/>
          </a:ln>
        </p:spPr>
      </p:sp>
      <p:sp>
        <p:nvSpPr>
          <p:cNvPr id="53" name="text52"/>
          <p:cNvSpPr txBox="1"/>
          <p:nvPr/>
        </p:nvSpPr>
        <p:spPr>
          <a:xfrm>
            <a:off x="5230459" y="4593123"/>
            <a:ext cx="603504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9A4D06"/>
                </a:solidFill>
                <a:latin typeface="Avenir Next"/>
                <a:ea typeface="Avenir Next"/>
                <a:cs typeface="Avenir Next"/>
              </a:rPr>
              <a:t>Watch</a:t>
            </a:r>
            <a:endParaRPr lang="en" sz="1000" dirty="0"/>
          </a:p>
        </p:txBody>
      </p:sp>
      <p:sp>
        <p:nvSpPr>
          <p:cNvPr id="54" name="free53-surface"/>
          <p:cNvSpPr/>
          <p:nvPr/>
        </p:nvSpPr>
        <p:spPr>
          <a:xfrm>
            <a:off x="6217920" y="3200400"/>
            <a:ext cx="5516667" cy="1737269"/>
          </a:xfrm>
          <a:prstGeom prst="roundRect">
            <a:avLst>
              <a:gd name="adj" fmla="val 7310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algn="t" rotWithShape="0">
              <a:srgbClr val="000000">
                <a:alpha val="16000"/>
              </a:srgbClr>
            </a:outerShdw>
          </a:effectLst>
        </p:spPr>
      </p:sp>
      <p:sp>
        <p:nvSpPr>
          <p:cNvPr id="55" name="text54"/>
          <p:cNvSpPr txBox="1"/>
          <p:nvPr/>
        </p:nvSpPr>
        <p:spPr>
          <a:xfrm>
            <a:off x="6473952" y="33467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buNone/>
            </a:pPr>
            <a:r>
              <a:rPr lang="en" sz="15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Key milestones</a:t>
            </a:r>
            <a:endParaRPr lang="en" sz="15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4046220"/>
            <a:ext cx="4800691" cy="457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57" name="shape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4046220"/>
            <a:ext cx="2002536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8" name="text57"/>
          <p:cNvSpPr txBox="1"/>
          <p:nvPr/>
        </p:nvSpPr>
        <p:spPr>
          <a:xfrm>
            <a:off x="635508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Sep 30</a:t>
            </a:r>
            <a:endParaRPr lang="en" sz="1050" dirty="0"/>
          </a:p>
        </p:txBody>
      </p:sp>
      <p:sp>
        <p:nvSpPr>
          <p:cNvPr id="59" name="column58-surface"/>
          <p:cNvSpPr/>
          <p:nvPr/>
        </p:nvSpPr>
        <p:spPr>
          <a:xfrm>
            <a:off x="6949440" y="393182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0" name="icon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0339" y="3992819"/>
            <a:ext cx="152430" cy="15243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9054" cap="rnd">
            <a:solidFill>
              <a:schemeClr val="bg2"/>
            </a:solidFill>
            <a:round/>
          </a:ln>
        </p:spPr>
      </p:sp>
      <p:sp>
        <p:nvSpPr>
          <p:cNvPr id="61" name="text60"/>
          <p:cNvSpPr txBox="1"/>
          <p:nvPr/>
        </p:nvSpPr>
        <p:spPr>
          <a:xfrm>
            <a:off x="630936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Foundation</a:t>
            </a:r>
            <a:endParaRPr lang="en" sz="1300" dirty="0"/>
          </a:p>
        </p:txBody>
      </p:sp>
      <p:sp>
        <p:nvSpPr>
          <p:cNvPr id="62" name="text61"/>
          <p:cNvSpPr txBox="1"/>
          <p:nvPr/>
        </p:nvSpPr>
        <p:spPr>
          <a:xfrm>
            <a:off x="630936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rgbClr val="157A3B"/>
                </a:solidFill>
                <a:latin typeface="Avenir Next"/>
                <a:ea typeface="Avenir Next"/>
                <a:cs typeface="Avenir Next"/>
              </a:rPr>
              <a:t>Complete</a:t>
            </a:r>
            <a:endParaRPr lang="en" sz="1050" dirty="0"/>
          </a:p>
        </p:txBody>
      </p:sp>
      <p:sp>
        <p:nvSpPr>
          <p:cNvPr id="63" name="text62"/>
          <p:cNvSpPr txBox="1"/>
          <p:nvPr/>
        </p:nvSpPr>
        <p:spPr>
          <a:xfrm>
            <a:off x="827532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Dec 15</a:t>
            </a:r>
            <a:endParaRPr lang="en" sz="1050" dirty="0"/>
          </a:p>
        </p:txBody>
      </p:sp>
      <p:sp>
        <p:nvSpPr>
          <p:cNvPr id="64" name="shape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3840389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5" name="shape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9680" y="3931829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shape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0" y="4023269"/>
            <a:ext cx="91440" cy="914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67" name="text66"/>
          <p:cNvSpPr txBox="1"/>
          <p:nvPr/>
        </p:nvSpPr>
        <p:spPr>
          <a:xfrm>
            <a:off x="822960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MVP release</a:t>
            </a:r>
            <a:endParaRPr lang="en" sz="1300" dirty="0"/>
          </a:p>
        </p:txBody>
      </p:sp>
      <p:sp>
        <p:nvSpPr>
          <p:cNvPr id="68" name="text67"/>
          <p:cNvSpPr txBox="1"/>
          <p:nvPr/>
        </p:nvSpPr>
        <p:spPr>
          <a:xfrm>
            <a:off x="822960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In progress</a:t>
            </a:r>
            <a:endParaRPr lang="en" sz="1050" dirty="0"/>
          </a:p>
        </p:txBody>
      </p:sp>
      <p:sp>
        <p:nvSpPr>
          <p:cNvPr id="69" name="text68"/>
          <p:cNvSpPr txBox="1"/>
          <p:nvPr/>
        </p:nvSpPr>
        <p:spPr>
          <a:xfrm>
            <a:off x="1019556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Feb 15</a:t>
            </a:r>
            <a:endParaRPr lang="en" sz="1050" dirty="0"/>
          </a:p>
        </p:txBody>
      </p:sp>
      <p:sp>
        <p:nvSpPr>
          <p:cNvPr id="70" name="shape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08208" y="3950208"/>
            <a:ext cx="237744" cy="237744"/>
          </a:xfrm>
          <a:prstGeom prst="ellipse">
            <a:avLst/>
          </a:prstGeom>
          <a:solidFill>
            <a:schemeClr val="bg2"/>
          </a:solidFill>
          <a:ln w="22225">
            <a:solidFill>
              <a:srgbClr val="B8C0CC"/>
            </a:solidFill>
          </a:ln>
        </p:spPr>
      </p:sp>
      <p:sp>
        <p:nvSpPr>
          <p:cNvPr id="71" name="text70"/>
          <p:cNvSpPr txBox="1"/>
          <p:nvPr/>
        </p:nvSpPr>
        <p:spPr>
          <a:xfrm>
            <a:off x="10149840" y="431587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Public beta</a:t>
            </a:r>
            <a:endParaRPr lang="en" sz="1300" dirty="0"/>
          </a:p>
        </p:txBody>
      </p:sp>
      <p:sp>
        <p:nvSpPr>
          <p:cNvPr id="72" name="text71"/>
          <p:cNvSpPr txBox="1"/>
          <p:nvPr/>
        </p:nvSpPr>
        <p:spPr>
          <a:xfrm>
            <a:off x="10149840" y="45627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Planned</a:t>
            </a:r>
            <a:endParaRPr lang="en" sz="1050" dirty="0"/>
          </a:p>
        </p:txBody>
      </p:sp>
      <p:sp>
        <p:nvSpPr>
          <p:cNvPr id="73" name="column72-surface"/>
          <p:cNvSpPr/>
          <p:nvPr/>
        </p:nvSpPr>
        <p:spPr>
          <a:xfrm>
            <a:off x="8284464" y="3968405"/>
            <a:ext cx="530352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74" name="text73"/>
          <p:cNvSpPr txBox="1"/>
          <p:nvPr/>
        </p:nvSpPr>
        <p:spPr>
          <a:xfrm>
            <a:off x="8284464" y="3989619"/>
            <a:ext cx="53035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spc="50" dirty="0">
                <a:solidFill>
                  <a:schemeClr val="bg2"/>
                </a:solidFill>
                <a:latin typeface="Avenir Next"/>
                <a:ea typeface="Avenir Next"/>
                <a:cs typeface="Avenir Next"/>
              </a:rPr>
              <a:t>TODAY</a:t>
            </a:r>
            <a:endParaRPr lang="en" sz="1000" dirty="0"/>
          </a:p>
        </p:txBody>
      </p:sp>
      <p:sp>
        <p:nvSpPr>
          <p:cNvPr id="75" name="free74-surface"/>
          <p:cNvSpPr/>
          <p:nvPr/>
        </p:nvSpPr>
        <p:spPr>
          <a:xfrm>
            <a:off x="457200" y="5120640"/>
            <a:ext cx="5577931" cy="1280160"/>
          </a:xfrm>
          <a:prstGeom prst="roundRect">
            <a:avLst>
              <a:gd name="adj" fmla="val 9921"/>
            </a:avLst>
          </a:prstGeom>
          <a:solidFill>
            <a:srgbClr val="FDEEEE"/>
          </a:solidFill>
          <a:ln>
            <a:noFill/>
          </a:ln>
        </p:spPr>
      </p:sp>
      <p:sp>
        <p:nvSpPr>
          <p:cNvPr id="76" name="column75-surface"/>
          <p:cNvSpPr/>
          <p:nvPr/>
        </p:nvSpPr>
        <p:spPr>
          <a:xfrm>
            <a:off x="713232" y="5358384"/>
            <a:ext cx="420624" cy="420624"/>
          </a:xfrm>
          <a:prstGeom prst="roundRect">
            <a:avLst>
              <a:gd name="adj" fmla="val 211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77" name="icon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843" y="5448087"/>
            <a:ext cx="241310" cy="2413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</a:path>
              <a:path w="24000" h="24000" fill="none">
                <a:moveTo>
                  <a:pt x="12000" y="9000"/>
                </a:moveTo>
                <a:lnTo>
                  <a:pt x="12000" y="13000"/>
                </a:lnTo>
              </a:path>
              <a:path w="24000" h="24000" fill="none"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0109" cap="rnd">
            <a:solidFill>
              <a:srgbClr val="DC2626"/>
            </a:solidFill>
            <a:round/>
          </a:ln>
        </p:spPr>
      </p:sp>
      <p:sp>
        <p:nvSpPr>
          <p:cNvPr id="78" name="text77"/>
          <p:cNvSpPr txBox="1"/>
          <p:nvPr/>
        </p:nvSpPr>
        <p:spPr>
          <a:xfrm>
            <a:off x="1316736" y="533095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58" dirty="0">
                <a:solidFill>
                  <a:srgbClr val="B91C1C"/>
                </a:solidFill>
                <a:latin typeface="Avenir Next"/>
                <a:ea typeface="Avenir Next"/>
                <a:cs typeface="Avenir Next"/>
              </a:rPr>
              <a:t>KEY RISK</a:t>
            </a:r>
            <a:endParaRPr lang="en" sz="1050" dirty="0"/>
          </a:p>
        </p:txBody>
      </p:sp>
      <p:sp>
        <p:nvSpPr>
          <p:cNvPr id="79" name="column78-surface"/>
          <p:cNvSpPr/>
          <p:nvPr/>
        </p:nvSpPr>
        <p:spPr>
          <a:xfrm>
            <a:off x="2286000" y="534009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BE2BE"/>
          </a:solidFill>
          <a:ln>
            <a:noFill/>
          </a:ln>
        </p:spPr>
      </p:sp>
      <p:sp>
        <p:nvSpPr>
          <p:cNvPr id="80" name="text79"/>
          <p:cNvSpPr txBox="1"/>
          <p:nvPr/>
        </p:nvSpPr>
        <p:spPr>
          <a:xfrm>
            <a:off x="2286000" y="5370454"/>
            <a:ext cx="713232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rgbClr val="9A4D06"/>
                </a:solidFill>
                <a:latin typeface="Avenir Next"/>
                <a:ea typeface="Avenir Next"/>
                <a:cs typeface="Avenir Next"/>
              </a:rPr>
              <a:t>Medium</a:t>
            </a:r>
            <a:endParaRPr lang="en" sz="1000" dirty="0"/>
          </a:p>
        </p:txBody>
      </p:sp>
      <p:sp>
        <p:nvSpPr>
          <p:cNvPr id="81" name="text80"/>
          <p:cNvSpPr txBox="1"/>
          <p:nvPr/>
        </p:nvSpPr>
        <p:spPr>
          <a:xfrm>
            <a:off x="1316736" y="5596128"/>
            <a:ext cx="452637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buNone/>
            </a:pPr>
            <a:r>
              <a:rPr lang="en" sz="135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GPU capacity from our third-party provider is not yet confirmed for Q1</a:t>
            </a:r>
            <a:endParaRPr lang="en" sz="1350" dirty="0"/>
          </a:p>
        </p:txBody>
      </p:sp>
      <p:sp>
        <p:nvSpPr>
          <p:cNvPr id="82" name="text81"/>
          <p:cNvSpPr txBox="1"/>
          <p:nvPr/>
        </p:nvSpPr>
        <p:spPr>
          <a:xfrm>
            <a:off x="1316736" y="6062472"/>
            <a:ext cx="452637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If unresolved, the public beta slips four to six weeks</a:t>
            </a:r>
            <a:endParaRPr lang="en" sz="1100" dirty="0"/>
          </a:p>
        </p:txBody>
      </p:sp>
      <p:sp>
        <p:nvSpPr>
          <p:cNvPr id="83" name="free82-surface"/>
          <p:cNvSpPr/>
          <p:nvPr/>
        </p:nvSpPr>
        <p:spPr>
          <a:xfrm>
            <a:off x="6217920" y="5120640"/>
            <a:ext cx="5516667" cy="1280160"/>
          </a:xfrm>
          <a:prstGeom prst="roundRect">
            <a:avLst>
              <a:gd name="adj" fmla="val 992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84" name="column83-surface"/>
          <p:cNvSpPr/>
          <p:nvPr/>
        </p:nvSpPr>
        <p:spPr>
          <a:xfrm>
            <a:off x="6473952" y="5358384"/>
            <a:ext cx="420624" cy="420624"/>
          </a:xfrm>
          <a:prstGeom prst="roundRect">
            <a:avLst>
              <a:gd name="adj" fmla="val 21135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85" name="icon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3563" y="5448087"/>
            <a:ext cx="241310" cy="24131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4000" y="13000"/>
                </a:moveTo>
                <a:lnTo>
                  <a:pt x="5619" y="21380"/>
                </a:lnTo>
                <a:cubicBezTo>
                  <a:pt x="4791" y="22209"/>
                  <a:pt x="3447" y="22209"/>
                  <a:pt x="2619" y="21381"/>
                </a:cubicBezTo>
                <a:cubicBezTo>
                  <a:pt x="1790" y="20552"/>
                  <a:pt x="1790" y="19209"/>
                  <a:pt x="2618" y="18380"/>
                </a:cubicBezTo>
                <a:lnTo>
                  <a:pt x="11002" y="9999"/>
                </a:lnTo>
              </a:path>
              <a:path w="24000" h="24000" fill="none">
                <a:moveTo>
                  <a:pt x="16000" y="16000"/>
                </a:moveTo>
                <a:lnTo>
                  <a:pt x="22000" y="10000"/>
                </a:lnTo>
              </a:path>
              <a:path w="24000" h="24000" fill="none">
                <a:moveTo>
                  <a:pt x="21500" y="10500"/>
                </a:moveTo>
                <a:lnTo>
                  <a:pt x="13500" y="2500"/>
                </a:lnTo>
              </a:path>
              <a:path w="24000" h="24000" fill="none">
                <a:moveTo>
                  <a:pt x="8000" y="8000"/>
                </a:moveTo>
                <a:lnTo>
                  <a:pt x="14000" y="2000"/>
                </a:lnTo>
              </a:path>
              <a:path w="24000" h="24000" fill="none">
                <a:moveTo>
                  <a:pt x="8500" y="7500"/>
                </a:moveTo>
                <a:lnTo>
                  <a:pt x="16500" y="15500"/>
                </a:lnTo>
              </a:path>
            </a:pathLst>
          </a:custGeom>
          <a:noFill/>
          <a:ln w="20109" cap="rnd">
            <a:solidFill>
              <a:schemeClr val="accent1"/>
            </a:solidFill>
            <a:round/>
          </a:ln>
        </p:spPr>
      </p:sp>
      <p:sp>
        <p:nvSpPr>
          <p:cNvPr id="86" name="text85"/>
          <p:cNvSpPr txBox="1"/>
          <p:nvPr/>
        </p:nvSpPr>
        <p:spPr>
          <a:xfrm>
            <a:off x="7077456" y="53309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58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NEXT DECISION</a:t>
            </a:r>
            <a:endParaRPr lang="en" sz="1050" dirty="0"/>
          </a:p>
        </p:txBody>
      </p:sp>
      <p:sp>
        <p:nvSpPr>
          <p:cNvPr id="87" name="column86-surface"/>
          <p:cNvSpPr/>
          <p:nvPr/>
        </p:nvSpPr>
        <p:spPr>
          <a:xfrm>
            <a:off x="8577072" y="5340096"/>
            <a:ext cx="822960" cy="21945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88" name="text87"/>
          <p:cNvSpPr txBox="1"/>
          <p:nvPr/>
        </p:nvSpPr>
        <p:spPr>
          <a:xfrm>
            <a:off x="8577072" y="5370454"/>
            <a:ext cx="822960" cy="158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By Dec 6</a:t>
            </a:r>
            <a:endParaRPr lang="en" sz="1000" dirty="0"/>
          </a:p>
        </p:txBody>
      </p:sp>
      <p:sp>
        <p:nvSpPr>
          <p:cNvPr id="89" name="text88"/>
          <p:cNvSpPr txBox="1"/>
          <p:nvPr/>
        </p:nvSpPr>
        <p:spPr>
          <a:xfrm>
            <a:off x="7077456" y="5596128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buNone/>
            </a:pPr>
            <a:r>
              <a:rPr lang="en" sz="135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Approve a $0.6M reserve for dedicated GPU capacity</a:t>
            </a:r>
            <a:endParaRPr lang="en" sz="1350" dirty="0"/>
          </a:p>
        </p:txBody>
      </p:sp>
      <p:sp>
        <p:nvSpPr>
          <p:cNvPr id="90" name="text89"/>
          <p:cNvSpPr txBox="1"/>
          <p:nvPr/>
        </p:nvSpPr>
        <p:spPr>
          <a:xfrm>
            <a:off x="7077456" y="6062472"/>
            <a:ext cx="4434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buNone/>
            </a:pPr>
            <a:r>
              <a:rPr lang="en" sz="11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Secures the Feb 15 beta and de-risks the Q2 launch</a:t>
            </a:r>
            <a:endParaRPr lang="e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stre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EXECUTIVE DASHBOARD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Three workstreams. One critical dependency.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Product is ready; engineering and go-to-market converge on the beta gate.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Project Atlas — Q4 Executive Review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02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331720"/>
            <a:ext cx="3630168" cy="2432304"/>
          </a:xfrm>
          <a:prstGeom prst="roundRect">
            <a:avLst>
              <a:gd name="adj" fmla="val 522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685800" y="2542032"/>
            <a:ext cx="31729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Product</a:t>
            </a:r>
            <a:endParaRPr lang="en" sz="2000" dirty="0"/>
          </a:p>
        </p:txBody>
      </p:sp>
      <p:sp>
        <p:nvSpPr>
          <p:cNvPr id="10" name="text9"/>
          <p:cNvSpPr txBox="1"/>
          <p:nvPr/>
        </p:nvSpPr>
        <p:spPr>
          <a:xfrm>
            <a:off x="685800" y="308152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buNone/>
            </a:pPr>
            <a:r>
              <a:rPr lang="en" sz="42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82%</a:t>
            </a:r>
            <a:endParaRPr lang="en" sz="4200" dirty="0"/>
          </a:p>
        </p:txBody>
      </p:sp>
      <p:sp>
        <p:nvSpPr>
          <p:cNvPr id="11" name="shape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22192"/>
            <a:ext cx="3172968" cy="128016"/>
          </a:xfrm>
          <a:prstGeom prst="roundRect">
            <a:avLst>
              <a:gd name="adj" fmla="val 2976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2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22192"/>
            <a:ext cx="2601834" cy="128016"/>
          </a:xfrm>
          <a:prstGeom prst="roundRect">
            <a:avLst>
              <a:gd name="adj" fmla="val 2976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text12"/>
          <p:cNvSpPr txBox="1"/>
          <p:nvPr/>
        </p:nvSpPr>
        <p:spPr>
          <a:xfrm>
            <a:off x="685800" y="4142232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Validated scope and UX</a:t>
            </a:r>
            <a:endParaRPr lang="en" sz="1200" dirty="0"/>
          </a:p>
        </p:txBody>
      </p:sp>
      <p:sp>
        <p:nvSpPr>
          <p:cNvPr id="14" name="text13"/>
          <p:cNvSpPr txBox="1"/>
          <p:nvPr/>
        </p:nvSpPr>
        <p:spPr>
          <a:xfrm>
            <a:off x="685800" y="4480560"/>
            <a:ext cx="31729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Owner: Maya Chen</a:t>
            </a:r>
            <a:endParaRPr lang="en" sz="1050" dirty="0"/>
          </a:p>
        </p:txBody>
      </p:sp>
      <p:sp>
        <p:nvSpPr>
          <p:cNvPr id="15" name="free14-surface"/>
          <p:cNvSpPr/>
          <p:nvPr/>
        </p:nvSpPr>
        <p:spPr>
          <a:xfrm>
            <a:off x="4279392" y="2331720"/>
            <a:ext cx="3630168" cy="2432304"/>
          </a:xfrm>
          <a:prstGeom prst="roundRect">
            <a:avLst>
              <a:gd name="adj" fmla="val 522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6" name="text15"/>
          <p:cNvSpPr txBox="1"/>
          <p:nvPr/>
        </p:nvSpPr>
        <p:spPr>
          <a:xfrm>
            <a:off x="4507992" y="2542032"/>
            <a:ext cx="31729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Engineering</a:t>
            </a:r>
            <a:endParaRPr lang="en" sz="2000" dirty="0"/>
          </a:p>
        </p:txBody>
      </p:sp>
      <p:sp>
        <p:nvSpPr>
          <p:cNvPr id="17" name="text16"/>
          <p:cNvSpPr txBox="1"/>
          <p:nvPr/>
        </p:nvSpPr>
        <p:spPr>
          <a:xfrm>
            <a:off x="4507992" y="308152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buNone/>
            </a:pPr>
            <a:r>
              <a:rPr lang="en" sz="42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74%</a:t>
            </a:r>
            <a:endParaRPr lang="en" sz="4200" dirty="0"/>
          </a:p>
        </p:txBody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3822192"/>
            <a:ext cx="3172968" cy="128016"/>
          </a:xfrm>
          <a:prstGeom prst="roundRect">
            <a:avLst>
              <a:gd name="adj" fmla="val 2976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" name="shape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3822192"/>
            <a:ext cx="2347996" cy="128016"/>
          </a:xfrm>
          <a:prstGeom prst="roundRect">
            <a:avLst>
              <a:gd name="adj" fmla="val 2976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0" name="text19"/>
          <p:cNvSpPr txBox="1"/>
          <p:nvPr/>
        </p:nvSpPr>
        <p:spPr>
          <a:xfrm>
            <a:off x="4507992" y="4142232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API, inference and hardening</a:t>
            </a:r>
            <a:endParaRPr lang="en" sz="1200" dirty="0"/>
          </a:p>
        </p:txBody>
      </p:sp>
      <p:sp>
        <p:nvSpPr>
          <p:cNvPr id="21" name="text20"/>
          <p:cNvSpPr txBox="1"/>
          <p:nvPr/>
        </p:nvSpPr>
        <p:spPr>
          <a:xfrm>
            <a:off x="4507992" y="4480560"/>
            <a:ext cx="31729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Owner: Leo Martins</a:t>
            </a:r>
            <a:endParaRPr lang="en" sz="1050" dirty="0"/>
          </a:p>
        </p:txBody>
      </p:sp>
      <p:sp>
        <p:nvSpPr>
          <p:cNvPr id="22" name="free21-surface"/>
          <p:cNvSpPr/>
          <p:nvPr/>
        </p:nvSpPr>
        <p:spPr>
          <a:xfrm>
            <a:off x="8101584" y="2331720"/>
            <a:ext cx="3630168" cy="2432304"/>
          </a:xfrm>
          <a:prstGeom prst="roundRect">
            <a:avLst>
              <a:gd name="adj" fmla="val 5221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3" name="text22"/>
          <p:cNvSpPr txBox="1"/>
          <p:nvPr/>
        </p:nvSpPr>
        <p:spPr>
          <a:xfrm>
            <a:off x="8330275" y="2542032"/>
            <a:ext cx="31729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Go-to-Market</a:t>
            </a:r>
            <a:endParaRPr lang="en" sz="2000" dirty="0"/>
          </a:p>
        </p:txBody>
      </p:sp>
      <p:sp>
        <p:nvSpPr>
          <p:cNvPr id="24" name="text23"/>
          <p:cNvSpPr txBox="1"/>
          <p:nvPr/>
        </p:nvSpPr>
        <p:spPr>
          <a:xfrm>
            <a:off x="8330275" y="3081528"/>
            <a:ext cx="3172968" cy="667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buNone/>
            </a:pPr>
            <a:r>
              <a:rPr lang="en" sz="42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58%</a:t>
            </a:r>
            <a:endParaRPr lang="en" sz="4200" dirty="0"/>
          </a:p>
        </p:txBody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30275" y="3822192"/>
            <a:ext cx="3172968" cy="128016"/>
          </a:xfrm>
          <a:prstGeom prst="roundRect">
            <a:avLst>
              <a:gd name="adj" fmla="val 2976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6" name="shape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30275" y="3822192"/>
            <a:ext cx="1840321" cy="128016"/>
          </a:xfrm>
          <a:prstGeom prst="roundRect">
            <a:avLst>
              <a:gd name="adj" fmla="val 29762"/>
            </a:avLst>
          </a:prstGeom>
          <a:solidFill>
            <a:srgbClr val="E08A0B"/>
          </a:solidFill>
          <a:ln>
            <a:noFill/>
          </a:ln>
        </p:spPr>
      </p:sp>
      <p:sp>
        <p:nvSpPr>
          <p:cNvPr id="27" name="text26"/>
          <p:cNvSpPr txBox="1"/>
          <p:nvPr/>
        </p:nvSpPr>
        <p:spPr>
          <a:xfrm>
            <a:off x="8330275" y="4142232"/>
            <a:ext cx="31729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Enablement and beta demand</a:t>
            </a:r>
            <a:endParaRPr lang="en" sz="1200" dirty="0"/>
          </a:p>
        </p:txBody>
      </p:sp>
      <p:sp>
        <p:nvSpPr>
          <p:cNvPr id="28" name="text27"/>
          <p:cNvSpPr txBox="1"/>
          <p:nvPr/>
        </p:nvSpPr>
        <p:spPr>
          <a:xfrm>
            <a:off x="8330275" y="4480560"/>
            <a:ext cx="31729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Owner: Priya Shah</a:t>
            </a:r>
            <a:endParaRPr lang="en" sz="1050" dirty="0"/>
          </a:p>
        </p:txBody>
      </p:sp>
      <p:sp>
        <p:nvSpPr>
          <p:cNvPr id="29" name="free28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0" name="text29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Shared dependency: GPU capacity must be secured before integrated beta testing.</a:t>
            </a:r>
            <a:endParaRPr lang="e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dg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EXECUTIVE DASHBOARD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Delivery is ahead of budget consumption.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A controlled reserve can protect the beta without changing the approved envelope.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Project Atlas — Q4 Executive Review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03 / 05</a:t>
            </a:r>
            <a:endParaRPr lang="en" sz="1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242316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$6.4M</a:t>
            </a:r>
            <a:endParaRPr lang="en" sz="4400" dirty="0"/>
          </a:p>
        </p:txBody>
      </p:sp>
      <p:sp>
        <p:nvSpPr>
          <p:cNvPr id="9" name="text8"/>
          <p:cNvSpPr txBox="1"/>
          <p:nvPr/>
        </p:nvSpPr>
        <p:spPr>
          <a:xfrm>
            <a:off x="457200" y="32644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Approved envelope</a:t>
            </a:r>
            <a:endParaRPr lang="en" sz="1800" dirty="0"/>
          </a:p>
        </p:txBody>
      </p:sp>
      <p:sp>
        <p:nvSpPr>
          <p:cNvPr id="10" name="text9"/>
          <p:cNvSpPr txBox="1"/>
          <p:nvPr/>
        </p:nvSpPr>
        <p:spPr>
          <a:xfrm>
            <a:off x="457200" y="3703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Total project funding</a:t>
            </a:r>
            <a:endParaRPr lang="en" sz="1300" dirty="0"/>
          </a:p>
        </p:txBody>
      </p:sp>
      <p:sp>
        <p:nvSpPr>
          <p:cNvPr id="11" name="text10"/>
          <p:cNvSpPr txBox="1"/>
          <p:nvPr/>
        </p:nvSpPr>
        <p:spPr>
          <a:xfrm>
            <a:off x="4343400" y="242316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$4.1M</a:t>
            </a:r>
            <a:endParaRPr lang="en" sz="4400" dirty="0"/>
          </a:p>
        </p:txBody>
      </p:sp>
      <p:sp>
        <p:nvSpPr>
          <p:cNvPr id="12" name="text11"/>
          <p:cNvSpPr txBox="1"/>
          <p:nvPr/>
        </p:nvSpPr>
        <p:spPr>
          <a:xfrm>
            <a:off x="4343400" y="32644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Used to date</a:t>
            </a:r>
            <a:endParaRPr lang="en" sz="1800" dirty="0"/>
          </a:p>
        </p:txBody>
      </p:sp>
      <p:sp>
        <p:nvSpPr>
          <p:cNvPr id="13" name="text12"/>
          <p:cNvSpPr txBox="1"/>
          <p:nvPr/>
        </p:nvSpPr>
        <p:spPr>
          <a:xfrm>
            <a:off x="4343400" y="3703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64% of approved budget</a:t>
            </a:r>
            <a:endParaRPr lang="en" sz="1300" dirty="0"/>
          </a:p>
        </p:txBody>
      </p:sp>
      <p:sp>
        <p:nvSpPr>
          <p:cNvPr id="14" name="text13"/>
          <p:cNvSpPr txBox="1"/>
          <p:nvPr/>
        </p:nvSpPr>
        <p:spPr>
          <a:xfrm>
            <a:off x="8229600" y="242316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$2.3M</a:t>
            </a:r>
            <a:endParaRPr lang="en" sz="4400" dirty="0"/>
          </a:p>
        </p:txBody>
      </p:sp>
      <p:sp>
        <p:nvSpPr>
          <p:cNvPr id="15" name="text14"/>
          <p:cNvSpPr txBox="1"/>
          <p:nvPr/>
        </p:nvSpPr>
        <p:spPr>
          <a:xfrm>
            <a:off x="8229600" y="32644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Remaining</a:t>
            </a:r>
            <a:endParaRPr lang="en" sz="1800" dirty="0"/>
          </a:p>
        </p:txBody>
      </p:sp>
      <p:sp>
        <p:nvSpPr>
          <p:cNvPr id="16" name="text15"/>
          <p:cNvSpPr txBox="1"/>
          <p:nvPr/>
        </p:nvSpPr>
        <p:spPr>
          <a:xfrm>
            <a:off x="8229600" y="3703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Includes a proposed $0.6M reserve</a:t>
            </a:r>
            <a:endParaRPr lang="en" sz="1300" dirty="0"/>
          </a:p>
        </p:txBody>
      </p:sp>
      <p:sp>
        <p:nvSpPr>
          <p:cNvPr id="17" name="text16"/>
          <p:cNvSpPr txBox="1"/>
          <p:nvPr/>
        </p:nvSpPr>
        <p:spPr>
          <a:xfrm>
            <a:off x="457200" y="459943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Scope delivered</a:t>
            </a:r>
            <a:endParaRPr lang="en" sz="1300" dirty="0"/>
          </a:p>
        </p:txBody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4690781"/>
            <a:ext cx="7589520" cy="128016"/>
          </a:xfrm>
          <a:prstGeom prst="roundRect">
            <a:avLst>
              <a:gd name="adj" fmla="val 2976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" name="shape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4690781"/>
            <a:ext cx="5464454" cy="128016"/>
          </a:xfrm>
          <a:prstGeom prst="roundRect">
            <a:avLst>
              <a:gd name="adj" fmla="val 2976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0" name="text19"/>
          <p:cNvSpPr txBox="1"/>
          <p:nvPr/>
        </p:nvSpPr>
        <p:spPr>
          <a:xfrm>
            <a:off x="10515600" y="4599432"/>
            <a:ext cx="12161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72%</a:t>
            </a:r>
            <a:endParaRPr lang="en" sz="1400" dirty="0"/>
          </a:p>
        </p:txBody>
      </p:sp>
      <p:sp>
        <p:nvSpPr>
          <p:cNvPr id="21" name="text20"/>
          <p:cNvSpPr txBox="1"/>
          <p:nvPr/>
        </p:nvSpPr>
        <p:spPr>
          <a:xfrm>
            <a:off x="457200" y="5093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Budget consumed</a:t>
            </a:r>
            <a:endParaRPr lang="en" sz="13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5184648"/>
            <a:ext cx="7589520" cy="128016"/>
          </a:xfrm>
          <a:prstGeom prst="roundRect">
            <a:avLst>
              <a:gd name="adj" fmla="val 29762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5184648"/>
            <a:ext cx="4857293" cy="128016"/>
          </a:xfrm>
          <a:prstGeom prst="roundRect">
            <a:avLst>
              <a:gd name="adj" fmla="val 2976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10515600" y="5093208"/>
            <a:ext cx="12161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64%</a:t>
            </a:r>
            <a:endParaRPr lang="e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is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EXECUTIVE DASHBOARD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 narrow risk window. A practical mitigation.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Treat capacity as a sourcing decision with a clear owner and deadline.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Project Atlas — Q4 Executive Review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04 / 05</a:t>
            </a:r>
            <a:endParaRPr lang="en" sz="1000" dirty="0"/>
          </a:p>
        </p:txBody>
      </p:sp>
      <p:sp>
        <p:nvSpPr>
          <p:cNvPr id="8" name="free7-surface"/>
          <p:cNvSpPr/>
          <p:nvPr/>
        </p:nvSpPr>
        <p:spPr>
          <a:xfrm>
            <a:off x="457200" y="2331720"/>
            <a:ext cx="5029200" cy="3474720"/>
          </a:xfrm>
          <a:prstGeom prst="roundRect">
            <a:avLst>
              <a:gd name="adj" fmla="val 3655"/>
            </a:avLst>
          </a:prstGeom>
          <a:solidFill>
            <a:srgbClr val="FDEEEE"/>
          </a:solidFill>
          <a:ln>
            <a:noFill/>
          </a:ln>
        </p:spPr>
      </p:sp>
      <p:sp>
        <p:nvSpPr>
          <p:cNvPr id="9" name="text8"/>
          <p:cNvSpPr txBox="1"/>
          <p:nvPr/>
        </p:nvSpPr>
        <p:spPr>
          <a:xfrm>
            <a:off x="731520" y="26060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MEDIUM RISK</a:t>
            </a:r>
            <a:endParaRPr lang="en" sz="1100" dirty="0"/>
          </a:p>
        </p:txBody>
      </p:sp>
      <p:sp>
        <p:nvSpPr>
          <p:cNvPr id="10" name="text9"/>
          <p:cNvSpPr txBox="1"/>
          <p:nvPr/>
        </p:nvSpPr>
        <p:spPr>
          <a:xfrm>
            <a:off x="731520" y="306324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24"/>
              </a:lnSpc>
              <a:spcBef>
                <a:spcPts val="0"/>
              </a:spcBef>
              <a:buNone/>
            </a:pPr>
            <a:r>
              <a:rPr lang="en" sz="27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GPU allocation remains unconfirmed.</a:t>
            </a:r>
            <a:endParaRPr lang="en" sz="2700" dirty="0"/>
          </a:p>
        </p:txBody>
      </p:sp>
      <p:sp>
        <p:nvSpPr>
          <p:cNvPr id="11" name="text10"/>
          <p:cNvSpPr txBox="1"/>
          <p:nvPr/>
        </p:nvSpPr>
        <p:spPr>
          <a:xfrm>
            <a:off x="731520" y="44348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Exposure: public beta slips four to six weeks if supply is not secured.</a:t>
            </a:r>
            <a:endParaRPr lang="en" sz="1600" dirty="0"/>
          </a:p>
        </p:txBody>
      </p:sp>
      <p:sp>
        <p:nvSpPr>
          <p:cNvPr id="12" name="text11"/>
          <p:cNvSpPr txBox="1"/>
          <p:nvPr/>
        </p:nvSpPr>
        <p:spPr>
          <a:xfrm>
            <a:off x="731520" y="53309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Owner: Engineering + Procurement</a:t>
            </a:r>
            <a:endParaRPr lang="en" sz="1200" dirty="0"/>
          </a:p>
        </p:txBody>
      </p:sp>
      <p:sp>
        <p:nvSpPr>
          <p:cNvPr id="13" name="text12"/>
          <p:cNvSpPr txBox="1"/>
          <p:nvPr/>
        </p:nvSpPr>
        <p:spPr>
          <a:xfrm>
            <a:off x="5943691" y="242316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DEC 2</a:t>
            </a:r>
            <a:endParaRPr lang="en" sz="1100" dirty="0"/>
          </a:p>
        </p:txBody>
      </p:sp>
      <p:sp>
        <p:nvSpPr>
          <p:cNvPr id="14" name="text13"/>
          <p:cNvSpPr txBox="1"/>
          <p:nvPr/>
        </p:nvSpPr>
        <p:spPr>
          <a:xfrm>
            <a:off x="7178040" y="24231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Validate capacity</a:t>
            </a:r>
            <a:endParaRPr lang="en" sz="2000" dirty="0"/>
          </a:p>
        </p:txBody>
      </p:sp>
      <p:sp>
        <p:nvSpPr>
          <p:cNvPr id="15" name="text14"/>
          <p:cNvSpPr txBox="1"/>
          <p:nvPr/>
        </p:nvSpPr>
        <p:spPr>
          <a:xfrm>
            <a:off x="7178040" y="2843784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Confirm regional supply and performance.</a:t>
            </a:r>
            <a:endParaRPr lang="en" sz="1400" dirty="0"/>
          </a:p>
        </p:txBody>
      </p:sp>
      <p:sp>
        <p:nvSpPr>
          <p:cNvPr id="16" name="text15"/>
          <p:cNvSpPr txBox="1"/>
          <p:nvPr/>
        </p:nvSpPr>
        <p:spPr>
          <a:xfrm>
            <a:off x="5943691" y="3520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DEC 6</a:t>
            </a:r>
            <a:endParaRPr lang="en" sz="1100" dirty="0"/>
          </a:p>
        </p:txBody>
      </p:sp>
      <p:sp>
        <p:nvSpPr>
          <p:cNvPr id="17" name="text16"/>
          <p:cNvSpPr txBox="1"/>
          <p:nvPr/>
        </p:nvSpPr>
        <p:spPr>
          <a:xfrm>
            <a:off x="7178040" y="35204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Approve reserve</a:t>
            </a:r>
            <a:endParaRPr lang="en" sz="2000" dirty="0"/>
          </a:p>
        </p:txBody>
      </p:sp>
      <p:sp>
        <p:nvSpPr>
          <p:cNvPr id="18" name="text17"/>
          <p:cNvSpPr txBox="1"/>
          <p:nvPr/>
        </p:nvSpPr>
        <p:spPr>
          <a:xfrm>
            <a:off x="7178040" y="3941064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Commit $0.6M for dedicated allocation.</a:t>
            </a:r>
            <a:endParaRPr lang="en" sz="1400" dirty="0"/>
          </a:p>
        </p:txBody>
      </p:sp>
      <p:sp>
        <p:nvSpPr>
          <p:cNvPr id="19" name="text18"/>
          <p:cNvSpPr txBox="1"/>
          <p:nvPr/>
        </p:nvSpPr>
        <p:spPr>
          <a:xfrm>
            <a:off x="5943691" y="46177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DEC 12</a:t>
            </a:r>
            <a:endParaRPr lang="en" sz="1100" dirty="0"/>
          </a:p>
        </p:txBody>
      </p:sp>
      <p:sp>
        <p:nvSpPr>
          <p:cNvPr id="20" name="text19"/>
          <p:cNvSpPr txBox="1"/>
          <p:nvPr/>
        </p:nvSpPr>
        <p:spPr>
          <a:xfrm>
            <a:off x="7178040" y="46177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Close contract</a:t>
            </a:r>
            <a:endParaRPr lang="en" sz="2000" dirty="0"/>
          </a:p>
        </p:txBody>
      </p:sp>
      <p:sp>
        <p:nvSpPr>
          <p:cNvPr id="21" name="text20"/>
          <p:cNvSpPr txBox="1"/>
          <p:nvPr/>
        </p:nvSpPr>
        <p:spPr>
          <a:xfrm>
            <a:off x="7178040" y="5038344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Secure supply before the beta test gate.</a:t>
            </a:r>
            <a:endParaRPr lang="e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EXECUTIVE DASHBOARD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Approve the reserve. Protect the launch.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Decision required by December 6, 2026. Proposed release remains Q2 2027.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Project Atlas — Q4 Executive Review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05 / 05</a:t>
            </a:r>
            <a:endParaRPr lang="en" sz="1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239572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$0.6M</a:t>
            </a:r>
            <a:endParaRPr lang="en" sz="4400" dirty="0"/>
          </a:p>
        </p:txBody>
      </p:sp>
      <p:sp>
        <p:nvSpPr>
          <p:cNvPr id="9" name="text8"/>
          <p:cNvSpPr txBox="1"/>
          <p:nvPr/>
        </p:nvSpPr>
        <p:spPr>
          <a:xfrm>
            <a:off x="457200" y="3237067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Capacity reserve</a:t>
            </a:r>
            <a:endParaRPr lang="en" sz="1800" dirty="0"/>
          </a:p>
        </p:txBody>
      </p:sp>
      <p:sp>
        <p:nvSpPr>
          <p:cNvPr id="10" name="text9"/>
          <p:cNvSpPr txBox="1"/>
          <p:nvPr/>
        </p:nvSpPr>
        <p:spPr>
          <a:xfrm>
            <a:off x="457200" y="367588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Avenir Next"/>
                <a:ea typeface="Avenir Next"/>
                <a:cs typeface="Avenir Next"/>
              </a:rPr>
              <a:t>Dedicated GPUs for beta and scale-up</a:t>
            </a:r>
            <a:endParaRPr lang="en" sz="1300" dirty="0"/>
          </a:p>
        </p:txBody>
      </p:sp>
      <p:sp>
        <p:nvSpPr>
          <p:cNvPr id="11" name="free10-surface"/>
          <p:cNvSpPr/>
          <p:nvPr/>
        </p:nvSpPr>
        <p:spPr>
          <a:xfrm>
            <a:off x="5852251" y="2286091"/>
            <a:ext cx="5879592" cy="2377440"/>
          </a:xfrm>
          <a:prstGeom prst="roundRect">
            <a:avLst>
              <a:gd name="adj" fmla="val 5342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2" name="text11"/>
          <p:cNvSpPr txBox="1"/>
          <p:nvPr/>
        </p:nvSpPr>
        <p:spPr>
          <a:xfrm>
            <a:off x="6172291" y="2587752"/>
            <a:ext cx="5239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78"/>
              </a:lnSpc>
              <a:spcBef>
                <a:spcPts val="0"/>
              </a:spcBef>
              <a:buNone/>
            </a:pPr>
            <a:r>
              <a:rPr lang="en" sz="2100" b="1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Approval conditions</a:t>
            </a:r>
            <a:endParaRPr lang="en" sz="2100" dirty="0"/>
          </a:p>
        </p:txBody>
      </p:sp>
      <p:sp>
        <p:nvSpPr>
          <p:cNvPr id="13" name="text12"/>
          <p:cNvSpPr txBox="1"/>
          <p:nvPr/>
        </p:nvSpPr>
        <p:spPr>
          <a:xfrm>
            <a:off x="6172291" y="3173059"/>
            <a:ext cx="5239512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Capacity confirmed in writing</a:t>
            </a:r>
            <a:endParaRPr lang="en" sz="1600" dirty="0"/>
          </a:p>
          <a:p>
            <a:pPr algn="l">
              <a:lnSpc>
                <a:spcPts val="2160"/>
              </a:lnSpc>
              <a:spcBef>
                <a:spcPts val="56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Contract stays within approved budget</a:t>
            </a:r>
            <a:endParaRPr lang="en" sz="1600" dirty="0"/>
          </a:p>
          <a:p>
            <a:pPr algn="l">
              <a:lnSpc>
                <a:spcPts val="2160"/>
              </a:lnSpc>
              <a:spcBef>
                <a:spcPts val="56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Avenir Next"/>
                <a:ea typeface="Avenir Next"/>
                <a:cs typeface="Avenir Next"/>
              </a:rPr>
              <a:t>Performance validated before release</a:t>
            </a:r>
            <a:endParaRPr lang="en" sz="1600" dirty="0"/>
          </a:p>
        </p:txBody>
      </p:sp>
      <p:sp>
        <p:nvSpPr>
          <p:cNvPr id="14" name="free13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15" name="text14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Avenir Next"/>
                <a:ea typeface="Avenir Next"/>
                <a:cs typeface="Avenir Next"/>
              </a:rPr>
              <a:t>Next gate: December 15 MVP release, followed by the February 15 public beta.</a:t>
            </a:r>
            <a:endParaRPr lang="e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 — Q4 Executive Review">
  <a:themeElements>
    <a:clrScheme name="Project Atlas — Q4 Executive Review">
      <a:dk1>
        <a:srgbClr val="0F1B33"/>
      </a:dk1>
      <a:lt1>
        <a:srgbClr val="F3F5F9"/>
      </a:lt1>
      <a:dk2>
        <a:srgbClr val="5B6478"/>
      </a:dk2>
      <a:lt2>
        <a:srgbClr val="FFFFFF"/>
      </a:lt2>
      <a:accent1>
        <a:srgbClr val="2563EB"/>
      </a:accent1>
      <a:accent2>
        <a:srgbClr val="E7EBF2"/>
      </a:accent2>
      <a:accent3>
        <a:srgbClr val="E9F0FE"/>
      </a:accent3>
      <a:accent4>
        <a:srgbClr val="9CC3FF"/>
      </a:accent4>
      <a:accent5>
        <a:srgbClr val="7C3AED"/>
      </a:accent5>
      <a:accent6>
        <a:srgbClr val="F1EAFE"/>
      </a:accent6>
      <a:hlink>
        <a:srgbClr val="2563EB"/>
      </a:hlink>
      <a:folHlink>
        <a:srgbClr val="5B6478"/>
      </a:folHlink>
    </a:clrScheme>
    <a:fontScheme name="Project Atlas — Q4 Executive Review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Project Atlas — Q4 Executive Review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1amber">
      <a:srgbClr val="E08A0B"/>
    </a:custClr>
    <a:custClr name="s1amberIcon">
      <a:srgbClr val="B86A00"/>
    </a:custClr>
    <a:custClr name="s1amberSoft">
      <a:srgbClr val="FDF1DE"/>
    </a:custClr>
    <a:custClr name="s1amberPill">
      <a:srgbClr val="FBE2BE"/>
    </a:custClr>
    <a:custClr name="s1amberText">
      <a:srgbClr val="9A4D06"/>
    </a:custClr>
    <a:custClr name="s1green">
      <a:srgbClr val="16A34A"/>
    </a:custClr>
    <a:custClr name="s1greenSoft">
      <a:srgbClr val="E6F5EC"/>
    </a:custClr>
    <a:custClr name="s1greenText">
      <a:srgbClr val="157A3B"/>
    </a:custClr>
    <a:custClr name="s1red">
      <a:srgbClr val="DC2626"/>
    </a:custClr>
    <a:custClr name="s1redSoft">
      <a:srgbClr val="FDEEEE"/>
    </a:custClr>
    <a:custClr name="s1redText">
      <a:srgbClr val="B91C1C"/>
    </a:custClr>
    <a:custClr name="s1planned">
      <a:srgbClr val="B8C0CC"/>
    </a:custClr>
  </a:custClrLst>
</a:theme>
</file>

<file path=ppt/theme/theme2.xml><?xml version="1.0" encoding="utf-8"?>
<a:theme xmlns:a="http://schemas.openxmlformats.org/drawingml/2006/main" name="Project Atlas — Q4 Executive Review">
  <a:themeElements>
    <a:clrScheme name="Project Atlas — Q4 Executive Review">
      <a:dk1>
        <a:srgbClr val="0F1B33"/>
      </a:dk1>
      <a:lt1>
        <a:srgbClr val="F3F5F9"/>
      </a:lt1>
      <a:dk2>
        <a:srgbClr val="5B6478"/>
      </a:dk2>
      <a:lt2>
        <a:srgbClr val="FFFFFF"/>
      </a:lt2>
      <a:accent1>
        <a:srgbClr val="2563EB"/>
      </a:accent1>
      <a:accent2>
        <a:srgbClr val="E7EBF2"/>
      </a:accent2>
      <a:accent3>
        <a:srgbClr val="E9F0FE"/>
      </a:accent3>
      <a:accent4>
        <a:srgbClr val="9CC3FF"/>
      </a:accent4>
      <a:accent5>
        <a:srgbClr val="7C3AED"/>
      </a:accent5>
      <a:accent6>
        <a:srgbClr val="F1EAFE"/>
      </a:accent6>
      <a:hlink>
        <a:srgbClr val="2563EB"/>
      </a:hlink>
      <a:folHlink>
        <a:srgbClr val="5B6478"/>
      </a:folHlink>
    </a:clrScheme>
    <a:fontScheme name="Project Atlas — Q4 Executive Review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Project Atlas — Q4 Executive Review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  <a:custClrLst>
    <a:custClr name="s1amber">
      <a:srgbClr val="E08A0B"/>
    </a:custClr>
    <a:custClr name="s1amberIcon">
      <a:srgbClr val="B86A00"/>
    </a:custClr>
    <a:custClr name="s1amberSoft">
      <a:srgbClr val="FDF1DE"/>
    </a:custClr>
    <a:custClr name="s1amberPill">
      <a:srgbClr val="FBE2BE"/>
    </a:custClr>
    <a:custClr name="s1amberText">
      <a:srgbClr val="9A4D06"/>
    </a:custClr>
    <a:custClr name="s1green">
      <a:srgbClr val="16A34A"/>
    </a:custClr>
    <a:custClr name="s1greenSoft">
      <a:srgbClr val="E6F5EC"/>
    </a:custClr>
    <a:custClr name="s1greenText">
      <a:srgbClr val="157A3B"/>
    </a:custClr>
    <a:custClr name="s1red">
      <a:srgbClr val="DC2626"/>
    </a:custClr>
    <a:custClr name="s1redSoft">
      <a:srgbClr val="FDEEEE"/>
    </a:custClr>
    <a:custClr name="s1redText">
      <a:srgbClr val="B91C1C"/>
    </a:custClr>
    <a:custClr name="s1planned">
      <a:srgbClr val="B8C0CC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 Agent</Application>
  <Slides>5</Slides>
  <Notes>5</Notes>
  <HiddenSlides>0</HiddenSlides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Atlas — Q4 Executive Review</dc:title>
  <dc:language>en</dc:language>
  <dcterms:created xsi:type="dcterms:W3CDTF">2026-10-03T00:28:30Z</dcterms:created>
  <dcterms:modified xsi:type="dcterms:W3CDTF">2026-10-03T00:28:30Z</dcterms:modified>
</cp:coreProperties>
</file>