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Helvetica Neue"/>
      <p:regular r:id="rId15"/>
      <p:bold r:id="rId12"/>
      <p:italic r:id="rId14"/>
      <p:boldItalic r:id="rId13"/>
    </p:embeddedFont>
    <p:embeddedFont>
      <p:font typeface="Menlo"/>
      <p:regular r:id="rId19"/>
      <p:bold r:id="rId16"/>
      <p:italic r:id="rId18"/>
      <p:boldItalic r:id="rId17"/>
    </p:embeddedFont>
  </p:embeddedFontLst>
  <p:defaultText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($K)</c:v>
                </c:pt>
              </c:strCache>
            </c:strRef>
          </c:tx>
          <c:spPr>
            <a:solidFill>
              <a:srgbClr val="ACDFB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>
                    <a:solidFill>
                      <a:schemeClr val="dk1"/>
                    </a:solidFill>
                    <a:latin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Creators</c:v>
                </c:pt>
                <c:pt idx="2">
                  <c:v>PR &amp; events</c:v>
                </c:pt>
                <c:pt idx="3">
                  <c:v>App store ads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</c:v>
                </c:pt>
                <c:pt idx="1">
                  <c:v>95</c:v>
                </c:pt>
                <c:pt idx="2">
                  <c:v>70</c:v>
                </c:pt>
                <c:pt idx="3">
                  <c:v>55</c:v>
                </c:pt>
                <c:pt idx="4">
                  <c:v>40</c:v>
                </c:pt>
              </c:numCache>
            </c:numRef>
          </c:val>
        </c:ser>
        <c:gapWidth val="55"/>
        <c:axId val="1001"/>
        <c:axId val="1002"/>
      </c:barChart>
      <c:catAx>
        <c:axId val="100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300">
          <a:solidFill>
            <a:schemeClr val="dk1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1042416" y="685800"/>
            <a:ext cx="4773168" cy="26883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3"/>
          </p:nvPr>
        </p:nvSpPr>
        <p:spPr>
          <a:xfrm>
            <a:off x="685800" y="3657600"/>
            <a:ext cx="5486400" cy="429768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content.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645920"/>
            <a:ext cx="11277600" cy="47548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idx="11"/>
          </p:nvPr>
        </p:nvSpPr>
        <p:spPr>
          <a:xfrm>
            <a:off x="457200" y="6492240"/>
            <a:ext cx="676656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12"/>
          </p:nvPr>
        </p:nvSpPr>
        <p:spPr>
          <a:xfrm>
            <a:off x="11003280" y="6492240"/>
            <a:ext cx="731520" cy="274320"/>
          </a:xfrm>
        </p:spPr>
        <p:txBody>
          <a:bodyPr/>
          <a:lstStyle/>
          <a:p>
            <a:pPr algn="r"/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976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0000"/>
                </a:moveTo>
                <a:cubicBezTo>
                  <a:pt x="16523" y="20000"/>
                  <a:pt x="21000" y="15523"/>
                  <a:pt x="21000" y="10000"/>
                </a:cubicBezTo>
                <a:cubicBezTo>
                  <a:pt x="21001" y="7536"/>
                  <a:pt x="20651" y="5084"/>
                  <a:pt x="19960" y="2719"/>
                </a:cubicBezTo>
                <a:cubicBezTo>
                  <a:pt x="19854" y="2357"/>
                  <a:pt x="19553" y="2086"/>
                  <a:pt x="19182" y="2017"/>
                </a:cubicBezTo>
                <a:cubicBezTo>
                  <a:pt x="18812" y="1948"/>
                  <a:pt x="18434" y="2094"/>
                  <a:pt x="18205" y="2394"/>
                </a:cubicBezTo>
                <a:cubicBezTo>
                  <a:pt x="15833" y="5500"/>
                  <a:pt x="13000" y="5500"/>
                  <a:pt x="9800" y="6100"/>
                </a:cubicBezTo>
                <a:cubicBezTo>
                  <a:pt x="6211" y="6713"/>
                  <a:pt x="3692" y="9975"/>
                  <a:pt x="4005" y="13602"/>
                </a:cubicBezTo>
                <a:cubicBezTo>
                  <a:pt x="4318" y="17229"/>
                  <a:pt x="7359" y="20011"/>
                  <a:pt x="11000" y="20000"/>
                </a:cubicBezTo>
              </a:path>
              <a:path w="24000" h="24000" fill="none">
                <a:moveTo>
                  <a:pt x="2000" y="21000"/>
                </a:moveTo>
                <a:cubicBezTo>
                  <a:pt x="1999" y="19047"/>
                  <a:pt x="3136" y="17272"/>
                  <a:pt x="4911" y="16456"/>
                </a:cubicBezTo>
                <a:cubicBezTo>
                  <a:pt x="7613" y="15212"/>
                  <a:pt x="8351" y="15240"/>
                  <a:pt x="11000" y="13000"/>
                </a:cubicBezTo>
              </a:path>
            </a:pathLst>
          </a:custGeom>
          <a:noFill/>
          <a:ln w="19812" cap="rnd">
            <a:solidFill>
              <a:schemeClr val="accent1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68096" y="411480"/>
            <a:ext cx="18288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buNone/>
            </a:pPr>
            <a:r>
              <a:rPr lang="en" sz="1250" b="1" i="0" spc="35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FERN</a:t>
            </a:r>
            <a:endParaRPr lang="en" sz="1250" dirty="0"/>
          </a:p>
        </p:txBody>
      </p:sp>
      <p:sp>
        <p:nvSpPr>
          <p:cNvPr id="4" name="text3"/>
          <p:cNvSpPr txBox="1"/>
          <p:nvPr/>
        </p:nvSpPr>
        <p:spPr>
          <a:xfrm>
            <a:off x="5669371" y="411480"/>
            <a:ext cx="6062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LAUNCH PLAN   ·   Q1 2027   ·   LEADERSHIP REVIEW</a:t>
            </a:r>
            <a:endParaRPr lang="en" sz="1050" dirty="0"/>
          </a:p>
        </p:txBody>
      </p:sp>
      <p:sp>
        <p:nvSpPr>
          <p:cNvPr id="5" name="text4"/>
          <p:cNvSpPr>
            <a:spLocks noGrp="1"/>
          </p:cNvSpPr>
          <p:nvPr>
            <p:ph type="title"/>
          </p:nvPr>
        </p:nvSpPr>
        <p:spPr>
          <a:xfrm>
            <a:off x="457200" y="822960"/>
            <a:ext cx="914409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410"/>
              </a:lnSpc>
              <a:spcBef>
                <a:spcPts val="0"/>
              </a:spcBef>
              <a:buNone/>
            </a:pPr>
            <a:r>
              <a:rPr lang="en" sz="4200" b="1" i="0" spc="-84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Fern launches March 18.</a:t>
            </a:r>
            <a:endParaRPr lang="en" sz="4200" dirty="0"/>
          </a:p>
        </p:txBody>
      </p:sp>
      <p:sp>
        <p:nvSpPr>
          <p:cNvPr id="6" name="text5"/>
          <p:cNvSpPr txBox="1"/>
          <p:nvPr/>
        </p:nvSpPr>
        <p:spPr>
          <a:xfrm>
            <a:off x="457200" y="1572859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buNone/>
            </a:pPr>
            <a:r>
              <a:rPr lang="en" sz="15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Twelve weeks from private beta to public launch, with a $420K budget and three named risks.</a:t>
            </a:r>
            <a:endParaRPr lang="en" sz="1550" dirty="0"/>
          </a:p>
        </p:txBody>
      </p:sp>
      <p:sp>
        <p:nvSpPr>
          <p:cNvPr id="7" name="free6-surface"/>
          <p:cNvSpPr/>
          <p:nvPr/>
        </p:nvSpPr>
        <p:spPr>
          <a:xfrm>
            <a:off x="457200" y="2103120"/>
            <a:ext cx="2743200" cy="1901952"/>
          </a:xfrm>
          <a:prstGeom prst="roundRect">
            <a:avLst>
              <a:gd name="adj" fmla="val 8013"/>
            </a:avLst>
          </a:prstGeom>
          <a:solidFill>
            <a:schemeClr val="accent3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8" name="text7"/>
          <p:cNvSpPr txBox="1"/>
          <p:nvPr/>
        </p:nvSpPr>
        <p:spPr>
          <a:xfrm>
            <a:off x="731520" y="2331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C9F26B"/>
                </a:solidFill>
                <a:latin typeface="+mn-lt"/>
                <a:ea typeface="+mn-lt"/>
                <a:cs typeface="+mn-lt"/>
              </a:rPr>
              <a:t>30-DAY TARGET</a:t>
            </a:r>
            <a:endParaRPr lang="en" sz="1050" dirty="0"/>
          </a:p>
        </p:txBody>
      </p:sp>
      <p:sp>
        <p:nvSpPr>
          <p:cNvPr id="9" name="text8"/>
          <p:cNvSpPr txBox="1"/>
          <p:nvPr/>
        </p:nvSpPr>
        <p:spPr>
          <a:xfrm>
            <a:off x="731520" y="2605949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320"/>
              </a:lnSpc>
              <a:spcBef>
                <a:spcPts val="0"/>
              </a:spcBef>
              <a:buNone/>
            </a:pPr>
            <a:r>
              <a:rPr lang="en" sz="5600" b="1" i="0" spc="-112" dirty="0">
                <a:solidFill>
                  <a:schemeClr val="bg2"/>
                </a:solidFill>
                <a:latin typeface="+mj-lt"/>
                <a:ea typeface="+mj-lt"/>
                <a:cs typeface="+mj-lt"/>
              </a:rPr>
              <a:t>50K</a:t>
            </a:r>
            <a:endParaRPr lang="en" sz="5600" dirty="0"/>
          </a:p>
        </p:txBody>
      </p:sp>
      <p:sp>
        <p:nvSpPr>
          <p:cNvPr id="10" name="text9"/>
          <p:cNvSpPr txBox="1"/>
          <p:nvPr/>
        </p:nvSpPr>
        <p:spPr>
          <a:xfrm>
            <a:off x="731520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CFE5D8"/>
                </a:solidFill>
                <a:latin typeface="+mn-lt"/>
                <a:ea typeface="+mn-lt"/>
                <a:cs typeface="+mn-lt"/>
              </a:rPr>
              <a:t>installs after launch</a:t>
            </a:r>
            <a:endParaRPr lang="en" sz="1350" dirty="0"/>
          </a:p>
        </p:txBody>
      </p:sp>
      <p:sp>
        <p:nvSpPr>
          <p:cNvPr id="11" name="shape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675797"/>
            <a:ext cx="2194560" cy="91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text11"/>
          <p:cNvSpPr txBox="1"/>
          <p:nvPr/>
        </p:nvSpPr>
        <p:spPr>
          <a:xfrm>
            <a:off x="731520" y="373075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C9F26B"/>
                </a:solidFill>
                <a:latin typeface="+mn-lt"/>
                <a:ea typeface="+mn-lt"/>
                <a:cs typeface="+mn-lt"/>
              </a:rPr>
              <a:t>4.5 rating  ·  25% week-4 active</a:t>
            </a:r>
            <a:endParaRPr lang="en" sz="1050" dirty="0"/>
          </a:p>
        </p:txBody>
      </p:sp>
      <p:sp>
        <p:nvSpPr>
          <p:cNvPr id="13" name="free12-surface"/>
          <p:cNvSpPr/>
          <p:nvPr/>
        </p:nvSpPr>
        <p:spPr>
          <a:xfrm>
            <a:off x="3383280" y="2103120"/>
            <a:ext cx="8351215" cy="1901952"/>
          </a:xfrm>
          <a:prstGeom prst="roundRect">
            <a:avLst>
              <a:gd name="adj" fmla="val 8013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4" name="text13"/>
          <p:cNvSpPr txBox="1"/>
          <p:nvPr/>
        </p:nvSpPr>
        <p:spPr>
          <a:xfrm>
            <a:off x="3657600" y="22860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buNone/>
            </a:pPr>
            <a:r>
              <a:rPr lang="en" sz="15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Timeline</a:t>
            </a:r>
            <a:endParaRPr lang="en" sz="1550" dirty="0"/>
          </a:p>
        </p:txBody>
      </p:sp>
      <p:sp>
        <p:nvSpPr>
          <p:cNvPr id="15" name="text14"/>
          <p:cNvSpPr txBox="1"/>
          <p:nvPr/>
        </p:nvSpPr>
        <p:spPr>
          <a:xfrm>
            <a:off x="8229600" y="2304288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12 weeks  ·  Jan 4 – Mar 26</a:t>
            </a:r>
            <a:endParaRPr lang="en" sz="1100" dirty="0"/>
          </a:p>
        </p:txBody>
      </p:sp>
      <p:sp>
        <p:nvSpPr>
          <p:cNvPr id="16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9080" y="3127248"/>
            <a:ext cx="7086691" cy="45720"/>
          </a:xfrm>
          <a:prstGeom prst="roundRect">
            <a:avLst>
              <a:gd name="adj" fmla="val 50000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9080" y="3127248"/>
            <a:ext cx="269748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8496" y="3049524"/>
            <a:ext cx="201168" cy="201168"/>
          </a:xfrm>
          <a:prstGeom prst="ellipse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19" name="icon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8496" y="3049524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" y="12000"/>
                </a:move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lose/>
              </a:path>
              <a:path w="24000" h="24000" fill="none"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764" cap="rnd">
            <a:solidFill>
              <a:schemeClr val="accent1"/>
            </a:solidFill>
            <a:round/>
          </a:ln>
        </p:spPr>
      </p:sp>
      <p:sp>
        <p:nvSpPr>
          <p:cNvPr id="20" name="text19"/>
          <p:cNvSpPr txBox="1"/>
          <p:nvPr/>
        </p:nvSpPr>
        <p:spPr>
          <a:xfrm>
            <a:off x="3337560" y="2743109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Jan 12</a:t>
            </a:r>
            <a:endParaRPr lang="en" sz="1100" dirty="0"/>
          </a:p>
        </p:txBody>
      </p:sp>
      <p:sp>
        <p:nvSpPr>
          <p:cNvPr id="21" name="text20"/>
          <p:cNvSpPr txBox="1"/>
          <p:nvPr/>
        </p:nvSpPr>
        <p:spPr>
          <a:xfrm>
            <a:off x="3227832" y="3383280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Private beta</a:t>
            </a:r>
            <a:endParaRPr lang="en" sz="1300" dirty="0"/>
          </a:p>
        </p:txBody>
      </p:sp>
      <p:sp>
        <p:nvSpPr>
          <p:cNvPr id="22" name="text21"/>
          <p:cNvSpPr txBox="1"/>
          <p:nvPr/>
        </p:nvSpPr>
        <p:spPr>
          <a:xfrm>
            <a:off x="3337560" y="3639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Done</a:t>
            </a:r>
            <a:endParaRPr lang="en" sz="1050" dirty="0"/>
          </a:p>
        </p:txBody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0146" y="3049524"/>
            <a:ext cx="201168" cy="201168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accent1"/>
            </a:solidFill>
          </a:ln>
        </p:spPr>
      </p:sp>
      <p:sp>
        <p:nvSpPr>
          <p:cNvPr id="24" name="shape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5010" y="310438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24"/>
          <p:cNvSpPr txBox="1"/>
          <p:nvPr/>
        </p:nvSpPr>
        <p:spPr>
          <a:xfrm>
            <a:off x="5109210" y="2743109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Feb 2</a:t>
            </a:r>
            <a:endParaRPr lang="en" sz="1100" dirty="0"/>
          </a:p>
        </p:txBody>
      </p:sp>
      <p:sp>
        <p:nvSpPr>
          <p:cNvPr id="26" name="text25"/>
          <p:cNvSpPr txBox="1"/>
          <p:nvPr/>
        </p:nvSpPr>
        <p:spPr>
          <a:xfrm>
            <a:off x="4999482" y="3383280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Store submission</a:t>
            </a:r>
            <a:endParaRPr lang="en" sz="1300" dirty="0"/>
          </a:p>
        </p:txBody>
      </p:sp>
      <p:sp>
        <p:nvSpPr>
          <p:cNvPr id="27" name="text26"/>
          <p:cNvSpPr txBox="1"/>
          <p:nvPr/>
        </p:nvSpPr>
        <p:spPr>
          <a:xfrm>
            <a:off x="5109210" y="3639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Next</a:t>
            </a:r>
            <a:endParaRPr lang="en" sz="1050" dirty="0"/>
          </a:p>
        </p:txBody>
      </p:sp>
      <p:sp>
        <p:nvSpPr>
          <p:cNvPr id="28" name="shape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1796" y="3049524"/>
            <a:ext cx="201168" cy="201168"/>
          </a:xfrm>
          <a:prstGeom prst="ellipse">
            <a:avLst/>
          </a:prstGeom>
          <a:solidFill>
            <a:schemeClr val="bg2"/>
          </a:solidFill>
          <a:ln w="25400">
            <a:solidFill>
              <a:srgbClr val="B9B3A4"/>
            </a:solidFill>
          </a:ln>
        </p:spPr>
      </p:sp>
      <p:sp>
        <p:nvSpPr>
          <p:cNvPr id="29" name="text28"/>
          <p:cNvSpPr txBox="1"/>
          <p:nvPr/>
        </p:nvSpPr>
        <p:spPr>
          <a:xfrm>
            <a:off x="6880860" y="2743109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Feb 23</a:t>
            </a:r>
            <a:endParaRPr lang="en" sz="1100" dirty="0"/>
          </a:p>
        </p:txBody>
      </p:sp>
      <p:sp>
        <p:nvSpPr>
          <p:cNvPr id="30" name="text29"/>
          <p:cNvSpPr txBox="1"/>
          <p:nvPr/>
        </p:nvSpPr>
        <p:spPr>
          <a:xfrm>
            <a:off x="6771132" y="3383280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Press preview</a:t>
            </a:r>
            <a:endParaRPr lang="en" sz="1300" dirty="0"/>
          </a:p>
        </p:txBody>
      </p:sp>
      <p:sp>
        <p:nvSpPr>
          <p:cNvPr id="31" name="text30"/>
          <p:cNvSpPr txBox="1"/>
          <p:nvPr/>
        </p:nvSpPr>
        <p:spPr>
          <a:xfrm>
            <a:off x="6880860" y="3639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Planned</a:t>
            </a:r>
            <a:endParaRPr lang="en" sz="1050" dirty="0"/>
          </a:p>
        </p:txBody>
      </p:sp>
      <p:sp>
        <p:nvSpPr>
          <p:cNvPr id="32" name="shape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870" y="3012948"/>
            <a:ext cx="274320" cy="274320"/>
          </a:xfrm>
          <a:prstGeom prst="ellipse">
            <a:avLst/>
          </a:prstGeom>
          <a:solidFill>
            <a:srgbClr val="C9F26B"/>
          </a:solidFill>
          <a:ln w="31750">
            <a:solidFill>
              <a:schemeClr val="accent3"/>
            </a:solidFill>
          </a:ln>
        </p:spPr>
      </p:sp>
      <p:sp>
        <p:nvSpPr>
          <p:cNvPr id="33" name="text32"/>
          <p:cNvSpPr txBox="1"/>
          <p:nvPr/>
        </p:nvSpPr>
        <p:spPr>
          <a:xfrm>
            <a:off x="8652510" y="2743109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Mar 18</a:t>
            </a:r>
            <a:endParaRPr lang="en" sz="1100" dirty="0"/>
          </a:p>
        </p:txBody>
      </p:sp>
      <p:sp>
        <p:nvSpPr>
          <p:cNvPr id="34" name="text33"/>
          <p:cNvSpPr txBox="1"/>
          <p:nvPr/>
        </p:nvSpPr>
        <p:spPr>
          <a:xfrm>
            <a:off x="8542782" y="3383280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Launch</a:t>
            </a:r>
            <a:endParaRPr lang="en" sz="1400" dirty="0"/>
          </a:p>
        </p:txBody>
      </p:sp>
      <p:sp>
        <p:nvSpPr>
          <p:cNvPr id="35" name="text34"/>
          <p:cNvSpPr txBox="1"/>
          <p:nvPr/>
        </p:nvSpPr>
        <p:spPr>
          <a:xfrm>
            <a:off x="8652510" y="3639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Launch day</a:t>
            </a:r>
            <a:endParaRPr lang="en" sz="1050" dirty="0"/>
          </a:p>
        </p:txBody>
      </p:sp>
      <p:sp>
        <p:nvSpPr>
          <p:cNvPr id="36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5187" y="3049524"/>
            <a:ext cx="201168" cy="201168"/>
          </a:xfrm>
          <a:prstGeom prst="ellipse">
            <a:avLst/>
          </a:prstGeom>
          <a:solidFill>
            <a:schemeClr val="bg2"/>
          </a:solidFill>
          <a:ln w="25400">
            <a:solidFill>
              <a:srgbClr val="B9B3A4"/>
            </a:solidFill>
          </a:ln>
        </p:spPr>
      </p:sp>
      <p:sp>
        <p:nvSpPr>
          <p:cNvPr id="37" name="text36"/>
          <p:cNvSpPr txBox="1"/>
          <p:nvPr/>
        </p:nvSpPr>
        <p:spPr>
          <a:xfrm>
            <a:off x="10424251" y="2743109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Apr 15</a:t>
            </a:r>
            <a:endParaRPr lang="en" sz="1100" dirty="0"/>
          </a:p>
        </p:txBody>
      </p:sp>
      <p:sp>
        <p:nvSpPr>
          <p:cNvPr id="38" name="text37"/>
          <p:cNvSpPr txBox="1"/>
          <p:nvPr/>
        </p:nvSpPr>
        <p:spPr>
          <a:xfrm>
            <a:off x="10314432" y="3383280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30-day review</a:t>
            </a:r>
            <a:endParaRPr lang="en" sz="1300" dirty="0"/>
          </a:p>
        </p:txBody>
      </p:sp>
      <p:sp>
        <p:nvSpPr>
          <p:cNvPr id="39" name="text38"/>
          <p:cNvSpPr txBox="1"/>
          <p:nvPr/>
        </p:nvSpPr>
        <p:spPr>
          <a:xfrm>
            <a:off x="10424251" y="3639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Planned</a:t>
            </a:r>
            <a:endParaRPr lang="en" sz="1050" dirty="0"/>
          </a:p>
        </p:txBody>
      </p:sp>
      <p:sp>
        <p:nvSpPr>
          <p:cNvPr id="40" name="free39-surface"/>
          <p:cNvSpPr/>
          <p:nvPr/>
        </p:nvSpPr>
        <p:spPr>
          <a:xfrm>
            <a:off x="457200" y="4160520"/>
            <a:ext cx="5486491" cy="1847088"/>
          </a:xfrm>
          <a:prstGeom prst="roundRect">
            <a:avLst>
              <a:gd name="adj" fmla="val 8251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41" name="text40"/>
          <p:cNvSpPr txBox="1"/>
          <p:nvPr/>
        </p:nvSpPr>
        <p:spPr>
          <a:xfrm>
            <a:off x="731520" y="4325203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buNone/>
            </a:pPr>
            <a:r>
              <a:rPr lang="en" sz="15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Budget</a:t>
            </a:r>
            <a:endParaRPr lang="en" sz="1550" dirty="0"/>
          </a:p>
        </p:txBody>
      </p:sp>
      <p:sp>
        <p:nvSpPr>
          <p:cNvPr id="42" name="text41"/>
          <p:cNvSpPr txBox="1"/>
          <p:nvPr/>
        </p:nvSpPr>
        <p:spPr>
          <a:xfrm>
            <a:off x="3840480" y="4325203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829"/>
              </a:lnSpc>
              <a:spcBef>
                <a:spcPts val="0"/>
              </a:spcBef>
              <a:buNone/>
            </a:pPr>
            <a:r>
              <a:rPr lang="en" sz="1550" b="1" i="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$420K total</a:t>
            </a:r>
            <a:endParaRPr lang="en" sz="1550" dirty="0"/>
          </a:p>
        </p:txBody>
      </p:sp>
      <p:sp>
        <p:nvSpPr>
          <p:cNvPr id="43" name="text42"/>
          <p:cNvSpPr txBox="1"/>
          <p:nvPr/>
        </p:nvSpPr>
        <p:spPr>
          <a:xfrm>
            <a:off x="731520" y="472744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Paid social</a:t>
            </a:r>
            <a:endParaRPr lang="en" sz="1100" dirty="0"/>
          </a:p>
        </p:txBody>
      </p:sp>
      <p:sp>
        <p:nvSpPr>
          <p:cNvPr id="44" name="shape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4782312"/>
            <a:ext cx="2788920" cy="109728"/>
          </a:xfrm>
          <a:prstGeom prst="roundRect">
            <a:avLst>
              <a:gd name="adj" fmla="val 34722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45" name="shape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4782312"/>
            <a:ext cx="2788920" cy="109728"/>
          </a:xfrm>
          <a:prstGeom prst="roundRect">
            <a:avLst>
              <a:gd name="adj" fmla="val 3472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6" name="text45"/>
          <p:cNvSpPr txBox="1"/>
          <p:nvPr/>
        </p:nvSpPr>
        <p:spPr>
          <a:xfrm>
            <a:off x="5029291" y="47274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$160K</a:t>
            </a:r>
            <a:endParaRPr lang="en" sz="1100" dirty="0"/>
          </a:p>
        </p:txBody>
      </p:sp>
      <p:sp>
        <p:nvSpPr>
          <p:cNvPr id="47" name="text46"/>
          <p:cNvSpPr txBox="1"/>
          <p:nvPr/>
        </p:nvSpPr>
        <p:spPr>
          <a:xfrm>
            <a:off x="731520" y="497433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Creators</a:t>
            </a:r>
            <a:endParaRPr lang="en" sz="1100" dirty="0"/>
          </a:p>
        </p:txBody>
      </p:sp>
      <p:sp>
        <p:nvSpPr>
          <p:cNvPr id="48" name="shape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029200"/>
            <a:ext cx="2788920" cy="109728"/>
          </a:xfrm>
          <a:prstGeom prst="roundRect">
            <a:avLst>
              <a:gd name="adj" fmla="val 34722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49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029200"/>
            <a:ext cx="1655978" cy="109728"/>
          </a:xfrm>
          <a:prstGeom prst="roundRect">
            <a:avLst>
              <a:gd name="adj" fmla="val 3472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0" name="text49"/>
          <p:cNvSpPr txBox="1"/>
          <p:nvPr/>
        </p:nvSpPr>
        <p:spPr>
          <a:xfrm>
            <a:off x="5029291" y="497433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$95K</a:t>
            </a:r>
            <a:endParaRPr lang="en" sz="1100" dirty="0"/>
          </a:p>
        </p:txBody>
      </p:sp>
      <p:sp>
        <p:nvSpPr>
          <p:cNvPr id="51" name="text50"/>
          <p:cNvSpPr txBox="1"/>
          <p:nvPr/>
        </p:nvSpPr>
        <p:spPr>
          <a:xfrm>
            <a:off x="731520" y="522122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 &amp; events</a:t>
            </a:r>
            <a:endParaRPr lang="en" sz="1100" dirty="0"/>
          </a:p>
        </p:txBody>
      </p:sp>
      <p:sp>
        <p:nvSpPr>
          <p:cNvPr id="52" name="shape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276088"/>
            <a:ext cx="2788920" cy="109728"/>
          </a:xfrm>
          <a:prstGeom prst="roundRect">
            <a:avLst>
              <a:gd name="adj" fmla="val 34722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53" name="shape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276088"/>
            <a:ext cx="1220175" cy="109728"/>
          </a:xfrm>
          <a:prstGeom prst="roundRect">
            <a:avLst>
              <a:gd name="adj" fmla="val 3472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4" name="text53"/>
          <p:cNvSpPr txBox="1"/>
          <p:nvPr/>
        </p:nvSpPr>
        <p:spPr>
          <a:xfrm>
            <a:off x="5029291" y="522122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$70K</a:t>
            </a:r>
            <a:endParaRPr lang="en" sz="1100" dirty="0"/>
          </a:p>
        </p:txBody>
      </p:sp>
      <p:sp>
        <p:nvSpPr>
          <p:cNvPr id="55" name="text54"/>
          <p:cNvSpPr txBox="1"/>
          <p:nvPr/>
        </p:nvSpPr>
        <p:spPr>
          <a:xfrm>
            <a:off x="731520" y="546811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App store ads</a:t>
            </a:r>
            <a:endParaRPr lang="en" sz="11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522976"/>
            <a:ext cx="2788920" cy="109728"/>
          </a:xfrm>
          <a:prstGeom prst="roundRect">
            <a:avLst>
              <a:gd name="adj" fmla="val 34722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57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522976"/>
            <a:ext cx="958748" cy="109728"/>
          </a:xfrm>
          <a:prstGeom prst="roundRect">
            <a:avLst>
              <a:gd name="adj" fmla="val 3472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8" name="text57"/>
          <p:cNvSpPr txBox="1"/>
          <p:nvPr/>
        </p:nvSpPr>
        <p:spPr>
          <a:xfrm>
            <a:off x="5029291" y="546811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$55K</a:t>
            </a:r>
            <a:endParaRPr lang="en" sz="1100" dirty="0"/>
          </a:p>
        </p:txBody>
      </p:sp>
      <p:sp>
        <p:nvSpPr>
          <p:cNvPr id="59" name="text58"/>
          <p:cNvSpPr txBox="1"/>
          <p:nvPr/>
        </p:nvSpPr>
        <p:spPr>
          <a:xfrm>
            <a:off x="731520" y="571500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Contingency</a:t>
            </a:r>
            <a:endParaRPr lang="en" sz="1100" dirty="0"/>
          </a:p>
        </p:txBody>
      </p:sp>
      <p:sp>
        <p:nvSpPr>
          <p:cNvPr id="60" name="shape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769864"/>
            <a:ext cx="2788920" cy="109728"/>
          </a:xfrm>
          <a:prstGeom prst="roundRect">
            <a:avLst>
              <a:gd name="adj" fmla="val 34722"/>
            </a:avLst>
          </a:prstGeom>
          <a:solidFill>
            <a:srgbClr val="E7E3D8"/>
          </a:solidFill>
          <a:ln>
            <a:noFill/>
          </a:ln>
        </p:spPr>
      </p:sp>
      <p:sp>
        <p:nvSpPr>
          <p:cNvPr id="61" name="shape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5769864"/>
            <a:ext cx="697230" cy="109728"/>
          </a:xfrm>
          <a:prstGeom prst="roundRect">
            <a:avLst>
              <a:gd name="adj" fmla="val 34722"/>
            </a:avLst>
          </a:prstGeom>
          <a:solidFill>
            <a:srgbClr val="CFC7B4"/>
          </a:solidFill>
          <a:ln>
            <a:noFill/>
          </a:ln>
        </p:spPr>
      </p:sp>
      <p:sp>
        <p:nvSpPr>
          <p:cNvPr id="62" name="text61"/>
          <p:cNvSpPr txBox="1"/>
          <p:nvPr/>
        </p:nvSpPr>
        <p:spPr>
          <a:xfrm>
            <a:off x="5029291" y="571500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$40K</a:t>
            </a:r>
            <a:endParaRPr lang="en" sz="1100" dirty="0"/>
          </a:p>
        </p:txBody>
      </p:sp>
      <p:sp>
        <p:nvSpPr>
          <p:cNvPr id="63" name="free62-surface"/>
          <p:cNvSpPr/>
          <p:nvPr/>
        </p:nvSpPr>
        <p:spPr>
          <a:xfrm>
            <a:off x="6126480" y="4160520"/>
            <a:ext cx="5608107" cy="1847088"/>
          </a:xfrm>
          <a:prstGeom prst="roundRect">
            <a:avLst>
              <a:gd name="adj" fmla="val 8251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64" name="text63"/>
          <p:cNvSpPr txBox="1"/>
          <p:nvPr/>
        </p:nvSpPr>
        <p:spPr>
          <a:xfrm>
            <a:off x="6400800" y="4325203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buNone/>
            </a:pPr>
            <a:r>
              <a:rPr lang="en" sz="15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Risks</a:t>
            </a:r>
            <a:endParaRPr lang="en" sz="1550" dirty="0"/>
          </a:p>
        </p:txBody>
      </p:sp>
      <p:sp>
        <p:nvSpPr>
          <p:cNvPr id="65" name="text64"/>
          <p:cNvSpPr txBox="1"/>
          <p:nvPr/>
        </p:nvSpPr>
        <p:spPr>
          <a:xfrm>
            <a:off x="8778240" y="4343491"/>
            <a:ext cx="2679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3 open  ·  each has an owner</a:t>
            </a:r>
            <a:endParaRPr lang="en" sz="1100" dirty="0"/>
          </a:p>
        </p:txBody>
      </p:sp>
      <p:sp>
        <p:nvSpPr>
          <p:cNvPr id="66" name="row65-surface"/>
          <p:cNvSpPr/>
          <p:nvPr/>
        </p:nvSpPr>
        <p:spPr>
          <a:xfrm>
            <a:off x="6400800" y="4764024"/>
            <a:ext cx="713232" cy="228600"/>
          </a:xfrm>
          <a:prstGeom prst="roundRect">
            <a:avLst>
              <a:gd name="adj" fmla="val 50000"/>
            </a:avLst>
          </a:prstGeom>
          <a:solidFill>
            <a:srgbClr val="FBE4DD"/>
          </a:solidFill>
          <a:ln>
            <a:noFill/>
          </a:ln>
        </p:spPr>
      </p:sp>
      <p:sp>
        <p:nvSpPr>
          <p:cNvPr id="67" name="text66"/>
          <p:cNvSpPr txBox="1"/>
          <p:nvPr/>
        </p:nvSpPr>
        <p:spPr>
          <a:xfrm>
            <a:off x="6400800" y="4798954"/>
            <a:ext cx="71323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BC3C25"/>
                </a:solidFill>
                <a:latin typeface="+mn-lt"/>
                <a:ea typeface="+mn-lt"/>
                <a:cs typeface="+mn-lt"/>
              </a:rPr>
              <a:t>High</a:t>
            </a:r>
            <a:endParaRPr lang="en" sz="1000" dirty="0"/>
          </a:p>
        </p:txBody>
      </p:sp>
      <p:sp>
        <p:nvSpPr>
          <p:cNvPr id="68" name="text67"/>
          <p:cNvSpPr txBox="1"/>
          <p:nvPr/>
        </p:nvSpPr>
        <p:spPr>
          <a:xfrm>
            <a:off x="7242048" y="47365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App Store review slips past March 1</a:t>
            </a:r>
            <a:endParaRPr lang="en" sz="1250" dirty="0"/>
          </a:p>
        </p:txBody>
      </p:sp>
      <p:sp>
        <p:nvSpPr>
          <p:cNvPr id="69" name="text68"/>
          <p:cNvSpPr txBox="1"/>
          <p:nvPr/>
        </p:nvSpPr>
        <p:spPr>
          <a:xfrm>
            <a:off x="10241280" y="4736592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Dana · Product</a:t>
            </a:r>
            <a:endParaRPr lang="en" sz="1050" dirty="0"/>
          </a:p>
        </p:txBody>
      </p:sp>
      <p:sp>
        <p:nvSpPr>
          <p:cNvPr id="70" name="shape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5088636"/>
            <a:ext cx="5056723" cy="914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71" name="row70-surface"/>
          <p:cNvSpPr/>
          <p:nvPr/>
        </p:nvSpPr>
        <p:spPr>
          <a:xfrm>
            <a:off x="6400800" y="5166360"/>
            <a:ext cx="713232" cy="228600"/>
          </a:xfrm>
          <a:prstGeom prst="roundRect">
            <a:avLst>
              <a:gd name="adj" fmla="val 50000"/>
            </a:avLst>
          </a:prstGeom>
          <a:solidFill>
            <a:srgbClr val="FAEFD2"/>
          </a:solidFill>
          <a:ln>
            <a:noFill/>
          </a:ln>
        </p:spPr>
      </p:sp>
      <p:sp>
        <p:nvSpPr>
          <p:cNvPr id="72" name="text71"/>
          <p:cNvSpPr txBox="1"/>
          <p:nvPr/>
        </p:nvSpPr>
        <p:spPr>
          <a:xfrm>
            <a:off x="6400800" y="5201290"/>
            <a:ext cx="71323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8A5A00"/>
                </a:solidFill>
                <a:latin typeface="+mn-lt"/>
                <a:ea typeface="+mn-lt"/>
                <a:cs typeface="+mn-lt"/>
              </a:rPr>
              <a:t>Medium</a:t>
            </a:r>
            <a:endParaRPr lang="en" sz="1000" dirty="0"/>
          </a:p>
        </p:txBody>
      </p:sp>
      <p:sp>
        <p:nvSpPr>
          <p:cNvPr id="73" name="text72"/>
          <p:cNvSpPr txBox="1"/>
          <p:nvPr/>
        </p:nvSpPr>
        <p:spPr>
          <a:xfrm>
            <a:off x="7242048" y="51389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Bank-connection limits at peak sign-up</a:t>
            </a:r>
            <a:endParaRPr lang="en" sz="1250" dirty="0"/>
          </a:p>
        </p:txBody>
      </p:sp>
      <p:sp>
        <p:nvSpPr>
          <p:cNvPr id="74" name="text73"/>
          <p:cNvSpPr txBox="1"/>
          <p:nvPr/>
        </p:nvSpPr>
        <p:spPr>
          <a:xfrm>
            <a:off x="10241280" y="5138928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Omar · Eng</a:t>
            </a:r>
            <a:endParaRPr lang="en" sz="1050" dirty="0"/>
          </a:p>
        </p:txBody>
      </p:sp>
      <p:sp>
        <p:nvSpPr>
          <p:cNvPr id="75" name="shape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5490972"/>
            <a:ext cx="5056723" cy="914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76" name="row75-surface"/>
          <p:cNvSpPr/>
          <p:nvPr/>
        </p:nvSpPr>
        <p:spPr>
          <a:xfrm>
            <a:off x="6400800" y="5568696"/>
            <a:ext cx="713232" cy="228600"/>
          </a:xfrm>
          <a:prstGeom prst="roundRect">
            <a:avLst>
              <a:gd name="adj" fmla="val 50000"/>
            </a:avLst>
          </a:prstGeom>
          <a:solidFill>
            <a:srgbClr val="FAEFD2"/>
          </a:solidFill>
          <a:ln>
            <a:noFill/>
          </a:ln>
        </p:spPr>
      </p:sp>
      <p:sp>
        <p:nvSpPr>
          <p:cNvPr id="77" name="text76"/>
          <p:cNvSpPr txBox="1"/>
          <p:nvPr/>
        </p:nvSpPr>
        <p:spPr>
          <a:xfrm>
            <a:off x="6400800" y="5603626"/>
            <a:ext cx="71323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8A5A00"/>
                </a:solidFill>
                <a:latin typeface="+mn-lt"/>
                <a:ea typeface="+mn-lt"/>
                <a:cs typeface="+mn-lt"/>
              </a:rPr>
              <a:t>Medium</a:t>
            </a:r>
            <a:endParaRPr lang="en" sz="1000" dirty="0"/>
          </a:p>
        </p:txBody>
      </p:sp>
      <p:sp>
        <p:nvSpPr>
          <p:cNvPr id="78" name="text77"/>
          <p:cNvSpPr txBox="1"/>
          <p:nvPr/>
        </p:nvSpPr>
        <p:spPr>
          <a:xfrm>
            <a:off x="7242048" y="55412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Support volume in launch week</a:t>
            </a:r>
            <a:endParaRPr lang="en" sz="1250" dirty="0"/>
          </a:p>
        </p:txBody>
      </p:sp>
      <p:sp>
        <p:nvSpPr>
          <p:cNvPr id="79" name="text78"/>
          <p:cNvSpPr txBox="1"/>
          <p:nvPr/>
        </p:nvSpPr>
        <p:spPr>
          <a:xfrm>
            <a:off x="10241280" y="5541264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Lena · Support</a:t>
            </a:r>
            <a:endParaRPr lang="en" sz="1050" dirty="0"/>
          </a:p>
        </p:txBody>
      </p:sp>
      <p:sp>
        <p:nvSpPr>
          <p:cNvPr id="80" name="text79"/>
          <p:cNvSpPr txBox="1"/>
          <p:nvPr/>
        </p:nvSpPr>
        <p:spPr>
          <a:xfrm>
            <a:off x="457200" y="6217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Fern — Launch plan  ·  Illustrative demo</a:t>
            </a:r>
            <a:endParaRPr lang="en" sz="1000" dirty="0"/>
          </a:p>
        </p:txBody>
      </p:sp>
      <p:sp>
        <p:nvSpPr>
          <p:cNvPr id="81" name="text80"/>
          <p:cNvSpPr txBox="1"/>
          <p:nvPr/>
        </p:nvSpPr>
        <p:spPr>
          <a:xfrm>
            <a:off x="10360152" y="6217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01 / 05</a:t>
            </a:r>
            <a:endParaRPr lang="e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9768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0000"/>
                </a:moveTo>
                <a:cubicBezTo>
                  <a:pt x="16523" y="20000"/>
                  <a:pt x="21000" y="15523"/>
                  <a:pt x="21000" y="10000"/>
                </a:cubicBezTo>
                <a:cubicBezTo>
                  <a:pt x="21001" y="7536"/>
                  <a:pt x="20651" y="5084"/>
                  <a:pt x="19960" y="2719"/>
                </a:cubicBezTo>
                <a:cubicBezTo>
                  <a:pt x="19854" y="2357"/>
                  <a:pt x="19553" y="2086"/>
                  <a:pt x="19182" y="2017"/>
                </a:cubicBezTo>
                <a:cubicBezTo>
                  <a:pt x="18812" y="1948"/>
                  <a:pt x="18434" y="2094"/>
                  <a:pt x="18205" y="2394"/>
                </a:cubicBezTo>
                <a:cubicBezTo>
                  <a:pt x="15833" y="5500"/>
                  <a:pt x="13000" y="5500"/>
                  <a:pt x="9800" y="6100"/>
                </a:cubicBezTo>
                <a:cubicBezTo>
                  <a:pt x="6211" y="6713"/>
                  <a:pt x="3692" y="9975"/>
                  <a:pt x="4005" y="13602"/>
                </a:cubicBezTo>
                <a:cubicBezTo>
                  <a:pt x="4318" y="17229"/>
                  <a:pt x="7359" y="20011"/>
                  <a:pt x="11000" y="20000"/>
                </a:cubicBezTo>
              </a:path>
              <a:path w="24000" h="24000" fill="none">
                <a:moveTo>
                  <a:pt x="2000" y="21000"/>
                </a:moveTo>
                <a:cubicBezTo>
                  <a:pt x="1999" y="19047"/>
                  <a:pt x="3136" y="17272"/>
                  <a:pt x="4911" y="16456"/>
                </a:cubicBezTo>
                <a:cubicBezTo>
                  <a:pt x="7613" y="15212"/>
                  <a:pt x="8351" y="15240"/>
                  <a:pt x="11000" y="13000"/>
                </a:cubicBezTo>
              </a:path>
            </a:pathLst>
          </a:custGeom>
          <a:noFill/>
          <a:ln w="16764" cap="rnd">
            <a:solidFill>
              <a:schemeClr val="accent1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31520" y="411480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LAUNCH PLAN  ·  TIMELINE</a:t>
            </a:r>
            <a:endParaRPr lang="en" sz="1050" dirty="0"/>
          </a:p>
        </p:txBody>
      </p:sp>
      <p:sp>
        <p:nvSpPr>
          <p:cNvPr id="4" name="shape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44768"/>
            <a:ext cx="11277295" cy="10973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5" name="text4"/>
          <p:cNvSpPr txBox="1"/>
          <p:nvPr/>
        </p:nvSpPr>
        <p:spPr>
          <a:xfrm>
            <a:off x="457200" y="6217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Fern — Launch plan  ·  Illustrative demo</a:t>
            </a:r>
            <a:endParaRPr lang="en" sz="1000" dirty="0"/>
          </a:p>
        </p:txBody>
      </p:sp>
      <p:sp>
        <p:nvSpPr>
          <p:cNvPr id="6" name="text5"/>
          <p:cNvSpPr txBox="1"/>
          <p:nvPr/>
        </p:nvSpPr>
        <p:spPr>
          <a:xfrm>
            <a:off x="10360152" y="6217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02 / 05</a:t>
            </a:r>
            <a:endParaRPr lang="en" sz="1000" dirty="0"/>
          </a:p>
        </p:txBody>
      </p:sp>
      <p:sp>
        <p:nvSpPr>
          <p:cNvPr id="7" name="text6"/>
          <p:cNvSpPr>
            <a:spLocks noGrp="1"/>
          </p:cNvSpPr>
          <p:nvPr>
            <p:ph type="title"/>
          </p:nvPr>
        </p:nvSpPr>
        <p:spPr>
          <a:xfrm>
            <a:off x="457200" y="777240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spc="-60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Twelve weeks, three teams, one launch date.</a:t>
            </a:r>
            <a:endParaRPr lang="en" sz="3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1371600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Store submission on February 2 is the gate: it leaves six weeks of review buffer before March 18.</a:t>
            </a:r>
            <a:endParaRPr lang="en" sz="1500" dirty="0"/>
          </a:p>
        </p:txBody>
      </p:sp>
      <p:sp>
        <p:nvSpPr>
          <p:cNvPr id="9" name="text8"/>
          <p:cNvSpPr txBox="1"/>
          <p:nvPr/>
        </p:nvSpPr>
        <p:spPr>
          <a:xfrm>
            <a:off x="2386584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January</a:t>
            </a:r>
            <a:endParaRPr lang="en" sz="1400" dirty="0"/>
          </a:p>
        </p:txBody>
      </p:sp>
      <p:sp>
        <p:nvSpPr>
          <p:cNvPr id="10" name="shape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2331720"/>
            <a:ext cx="307851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10"/>
          <p:cNvSpPr txBox="1"/>
          <p:nvPr/>
        </p:nvSpPr>
        <p:spPr>
          <a:xfrm>
            <a:off x="5519867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February</a:t>
            </a:r>
            <a:endParaRPr lang="en" sz="1400" dirty="0"/>
          </a:p>
        </p:txBody>
      </p:sp>
      <p:sp>
        <p:nvSpPr>
          <p:cNvPr id="12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5094" y="2331720"/>
            <a:ext cx="3078510" cy="3200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13" name="text12"/>
          <p:cNvSpPr txBox="1"/>
          <p:nvPr/>
        </p:nvSpPr>
        <p:spPr>
          <a:xfrm>
            <a:off x="8653333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March</a:t>
            </a:r>
            <a:endParaRPr lang="en" sz="1400" dirty="0"/>
          </a:p>
        </p:txBody>
      </p:sp>
      <p:sp>
        <p:nvSpPr>
          <p:cNvPr id="14" name="shape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8378" y="2331720"/>
            <a:ext cx="3078510" cy="3200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15" name="text14"/>
          <p:cNvSpPr txBox="1"/>
          <p:nvPr/>
        </p:nvSpPr>
        <p:spPr>
          <a:xfrm>
            <a:off x="2331720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W1</a:t>
            </a:r>
            <a:endParaRPr lang="en" sz="1000" dirty="0"/>
          </a:p>
        </p:txBody>
      </p:sp>
      <p:sp>
        <p:nvSpPr>
          <p:cNvPr id="16" name="text15"/>
          <p:cNvSpPr txBox="1"/>
          <p:nvPr/>
        </p:nvSpPr>
        <p:spPr>
          <a:xfrm>
            <a:off x="3115086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W2</a:t>
            </a:r>
            <a:endParaRPr lang="en" sz="1000" dirty="0"/>
          </a:p>
        </p:txBody>
      </p:sp>
      <p:sp>
        <p:nvSpPr>
          <p:cNvPr id="17" name="text16"/>
          <p:cNvSpPr txBox="1"/>
          <p:nvPr/>
        </p:nvSpPr>
        <p:spPr>
          <a:xfrm>
            <a:off x="3898362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W3</a:t>
            </a:r>
            <a:endParaRPr lang="en" sz="1000" dirty="0"/>
          </a:p>
        </p:txBody>
      </p:sp>
      <p:sp>
        <p:nvSpPr>
          <p:cNvPr id="18" name="text17"/>
          <p:cNvSpPr txBox="1"/>
          <p:nvPr/>
        </p:nvSpPr>
        <p:spPr>
          <a:xfrm>
            <a:off x="4681728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W4</a:t>
            </a:r>
            <a:endParaRPr lang="en" sz="1000" dirty="0"/>
          </a:p>
        </p:txBody>
      </p:sp>
      <p:sp>
        <p:nvSpPr>
          <p:cNvPr id="19" name="text18"/>
          <p:cNvSpPr txBox="1"/>
          <p:nvPr/>
        </p:nvSpPr>
        <p:spPr>
          <a:xfrm>
            <a:off x="5465094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W5</a:t>
            </a:r>
            <a:endParaRPr lang="en" sz="1000" dirty="0"/>
          </a:p>
        </p:txBody>
      </p:sp>
      <p:sp>
        <p:nvSpPr>
          <p:cNvPr id="20" name="text19"/>
          <p:cNvSpPr txBox="1"/>
          <p:nvPr/>
        </p:nvSpPr>
        <p:spPr>
          <a:xfrm>
            <a:off x="6248461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W6</a:t>
            </a:r>
            <a:endParaRPr lang="en" sz="1000" dirty="0"/>
          </a:p>
        </p:txBody>
      </p:sp>
      <p:sp>
        <p:nvSpPr>
          <p:cNvPr id="21" name="text20"/>
          <p:cNvSpPr txBox="1"/>
          <p:nvPr/>
        </p:nvSpPr>
        <p:spPr>
          <a:xfrm>
            <a:off x="7031736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W7</a:t>
            </a:r>
            <a:endParaRPr lang="en" sz="1000" dirty="0"/>
          </a:p>
        </p:txBody>
      </p:sp>
      <p:sp>
        <p:nvSpPr>
          <p:cNvPr id="22" name="text21"/>
          <p:cNvSpPr txBox="1"/>
          <p:nvPr/>
        </p:nvSpPr>
        <p:spPr>
          <a:xfrm>
            <a:off x="7815102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W8</a:t>
            </a:r>
            <a:endParaRPr lang="en" sz="1000" dirty="0"/>
          </a:p>
        </p:txBody>
      </p:sp>
      <p:sp>
        <p:nvSpPr>
          <p:cNvPr id="23" name="text22"/>
          <p:cNvSpPr txBox="1"/>
          <p:nvPr/>
        </p:nvSpPr>
        <p:spPr>
          <a:xfrm>
            <a:off x="8598378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W9</a:t>
            </a:r>
            <a:endParaRPr lang="en" sz="1000" dirty="0"/>
          </a:p>
        </p:txBody>
      </p:sp>
      <p:sp>
        <p:nvSpPr>
          <p:cNvPr id="24" name="text23"/>
          <p:cNvSpPr txBox="1"/>
          <p:nvPr/>
        </p:nvSpPr>
        <p:spPr>
          <a:xfrm>
            <a:off x="9381744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W10</a:t>
            </a:r>
            <a:endParaRPr lang="en" sz="1000" dirty="0"/>
          </a:p>
        </p:txBody>
      </p:sp>
      <p:sp>
        <p:nvSpPr>
          <p:cNvPr id="25" name="text24"/>
          <p:cNvSpPr txBox="1"/>
          <p:nvPr/>
        </p:nvSpPr>
        <p:spPr>
          <a:xfrm>
            <a:off x="10165110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W11</a:t>
            </a:r>
            <a:endParaRPr lang="en" sz="1000" dirty="0"/>
          </a:p>
        </p:txBody>
      </p:sp>
      <p:sp>
        <p:nvSpPr>
          <p:cNvPr id="26" name="text25"/>
          <p:cNvSpPr txBox="1"/>
          <p:nvPr/>
        </p:nvSpPr>
        <p:spPr>
          <a:xfrm>
            <a:off x="10948477" y="2404872"/>
            <a:ext cx="78336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W12</a:t>
            </a:r>
            <a:endParaRPr lang="en" sz="1000" dirty="0"/>
          </a:p>
        </p:txBody>
      </p:sp>
      <p:sp>
        <p:nvSpPr>
          <p:cNvPr id="27" name="shape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1531" y="2670048"/>
            <a:ext cx="10973" cy="2267712"/>
          </a:xfrm>
          <a:prstGeom prst="rect">
            <a:avLst/>
          </a:prstGeom>
          <a:solidFill>
            <a:srgbClr val="B9B3A4"/>
          </a:solidFill>
          <a:ln>
            <a:noFill/>
          </a:ln>
        </p:spPr>
      </p:sp>
      <p:sp>
        <p:nvSpPr>
          <p:cNvPr id="28" name="shape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1447" y="2670048"/>
            <a:ext cx="10973" cy="2267712"/>
          </a:xfrm>
          <a:prstGeom prst="rect">
            <a:avLst/>
          </a:prstGeom>
          <a:solidFill>
            <a:srgbClr val="B9B3A4"/>
          </a:solidFill>
          <a:ln>
            <a:noFill/>
          </a:ln>
        </p:spPr>
      </p:sp>
      <p:sp>
        <p:nvSpPr>
          <p:cNvPr id="29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95300" y="2670048"/>
            <a:ext cx="10973" cy="2267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" name="free29-surface"/>
          <p:cNvSpPr/>
          <p:nvPr/>
        </p:nvSpPr>
        <p:spPr>
          <a:xfrm>
            <a:off x="457200" y="2715768"/>
            <a:ext cx="11277295" cy="566928"/>
          </a:xfrm>
          <a:prstGeom prst="roundRect">
            <a:avLst>
              <a:gd name="adj" fmla="val 17921"/>
            </a:avLst>
          </a:prstGeom>
          <a:solidFill>
            <a:srgbClr val="EFECE3"/>
          </a:solidFill>
          <a:ln>
            <a:noFill/>
          </a:ln>
        </p:spPr>
      </p:sp>
      <p:sp>
        <p:nvSpPr>
          <p:cNvPr id="31" name="text30"/>
          <p:cNvSpPr txBox="1"/>
          <p:nvPr/>
        </p:nvSpPr>
        <p:spPr>
          <a:xfrm>
            <a:off x="658368" y="2788920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Product</a:t>
            </a:r>
            <a:endParaRPr lang="en" sz="1400" dirty="0"/>
          </a:p>
        </p:txBody>
      </p:sp>
      <p:sp>
        <p:nvSpPr>
          <p:cNvPr id="32" name="row31-surface"/>
          <p:cNvSpPr/>
          <p:nvPr/>
        </p:nvSpPr>
        <p:spPr>
          <a:xfrm>
            <a:off x="3142518" y="2825496"/>
            <a:ext cx="2295144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3" name="text32"/>
          <p:cNvSpPr txBox="1"/>
          <p:nvPr/>
        </p:nvSpPr>
        <p:spPr>
          <a:xfrm>
            <a:off x="3294949" y="2911907"/>
            <a:ext cx="1990283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Private beta</a:t>
            </a:r>
            <a:endParaRPr lang="en" sz="1100" dirty="0"/>
          </a:p>
        </p:txBody>
      </p:sp>
      <p:sp>
        <p:nvSpPr>
          <p:cNvPr id="34" name="row33-surface"/>
          <p:cNvSpPr/>
          <p:nvPr/>
        </p:nvSpPr>
        <p:spPr>
          <a:xfrm>
            <a:off x="5492526" y="2825496"/>
            <a:ext cx="307851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5" name="text34"/>
          <p:cNvSpPr txBox="1"/>
          <p:nvPr/>
        </p:nvSpPr>
        <p:spPr>
          <a:xfrm>
            <a:off x="5644957" y="2911907"/>
            <a:ext cx="2773741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Fixes and polish</a:t>
            </a:r>
            <a:endParaRPr lang="en" sz="1100" dirty="0"/>
          </a:p>
        </p:txBody>
      </p:sp>
      <p:sp>
        <p:nvSpPr>
          <p:cNvPr id="36" name="row35-surface"/>
          <p:cNvSpPr/>
          <p:nvPr/>
        </p:nvSpPr>
        <p:spPr>
          <a:xfrm>
            <a:off x="8625810" y="2825496"/>
            <a:ext cx="1511778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7" name="text36"/>
          <p:cNvSpPr txBox="1"/>
          <p:nvPr/>
        </p:nvSpPr>
        <p:spPr>
          <a:xfrm>
            <a:off x="8778240" y="2911907"/>
            <a:ext cx="1207008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Release build</a:t>
            </a:r>
            <a:endParaRPr lang="en" sz="1100" dirty="0"/>
          </a:p>
        </p:txBody>
      </p:sp>
      <p:sp>
        <p:nvSpPr>
          <p:cNvPr id="38" name="free37-surface"/>
          <p:cNvSpPr/>
          <p:nvPr/>
        </p:nvSpPr>
        <p:spPr>
          <a:xfrm>
            <a:off x="457200" y="3374136"/>
            <a:ext cx="11277295" cy="566928"/>
          </a:xfrm>
          <a:prstGeom prst="roundRect">
            <a:avLst>
              <a:gd name="adj" fmla="val 17921"/>
            </a:avLst>
          </a:prstGeom>
          <a:solidFill>
            <a:srgbClr val="EFECE3"/>
          </a:solidFill>
          <a:ln>
            <a:noFill/>
          </a:ln>
        </p:spPr>
      </p:sp>
      <p:sp>
        <p:nvSpPr>
          <p:cNvPr id="39" name="text38"/>
          <p:cNvSpPr txBox="1"/>
          <p:nvPr/>
        </p:nvSpPr>
        <p:spPr>
          <a:xfrm>
            <a:off x="658368" y="3447288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Marketing</a:t>
            </a:r>
            <a:endParaRPr lang="en" sz="1400" dirty="0"/>
          </a:p>
        </p:txBody>
      </p:sp>
      <p:sp>
        <p:nvSpPr>
          <p:cNvPr id="40" name="row39-surface"/>
          <p:cNvSpPr/>
          <p:nvPr/>
        </p:nvSpPr>
        <p:spPr>
          <a:xfrm>
            <a:off x="2359152" y="3483864"/>
            <a:ext cx="3861786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1" name="text40"/>
          <p:cNvSpPr txBox="1"/>
          <p:nvPr/>
        </p:nvSpPr>
        <p:spPr>
          <a:xfrm>
            <a:off x="2511491" y="3570275"/>
            <a:ext cx="3557016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Waitlist</a:t>
            </a:r>
            <a:endParaRPr lang="en" sz="1100" dirty="0"/>
          </a:p>
        </p:txBody>
      </p:sp>
      <p:sp>
        <p:nvSpPr>
          <p:cNvPr id="42" name="row41-surface"/>
          <p:cNvSpPr/>
          <p:nvPr/>
        </p:nvSpPr>
        <p:spPr>
          <a:xfrm>
            <a:off x="6275802" y="3483864"/>
            <a:ext cx="307851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3" name="text42"/>
          <p:cNvSpPr txBox="1"/>
          <p:nvPr/>
        </p:nvSpPr>
        <p:spPr>
          <a:xfrm>
            <a:off x="6428232" y="3570275"/>
            <a:ext cx="2773741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Creator content</a:t>
            </a:r>
            <a:endParaRPr lang="en" sz="1100" dirty="0"/>
          </a:p>
        </p:txBody>
      </p:sp>
      <p:sp>
        <p:nvSpPr>
          <p:cNvPr id="44" name="row43-surface"/>
          <p:cNvSpPr/>
          <p:nvPr/>
        </p:nvSpPr>
        <p:spPr>
          <a:xfrm>
            <a:off x="9409267" y="3483864"/>
            <a:ext cx="2295144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45" name="text44"/>
          <p:cNvSpPr txBox="1"/>
          <p:nvPr/>
        </p:nvSpPr>
        <p:spPr>
          <a:xfrm>
            <a:off x="9561606" y="3570275"/>
            <a:ext cx="1990283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Launch campaign</a:t>
            </a:r>
            <a:endParaRPr lang="en" sz="1100" dirty="0"/>
          </a:p>
        </p:txBody>
      </p:sp>
      <p:sp>
        <p:nvSpPr>
          <p:cNvPr id="46" name="free45-surface"/>
          <p:cNvSpPr/>
          <p:nvPr/>
        </p:nvSpPr>
        <p:spPr>
          <a:xfrm>
            <a:off x="457200" y="4032504"/>
            <a:ext cx="11277295" cy="566928"/>
          </a:xfrm>
          <a:prstGeom prst="roundRect">
            <a:avLst>
              <a:gd name="adj" fmla="val 17921"/>
            </a:avLst>
          </a:prstGeom>
          <a:solidFill>
            <a:srgbClr val="EFECE3"/>
          </a:solidFill>
          <a:ln>
            <a:noFill/>
          </a:ln>
        </p:spPr>
      </p:sp>
      <p:sp>
        <p:nvSpPr>
          <p:cNvPr id="47" name="text46"/>
          <p:cNvSpPr txBox="1"/>
          <p:nvPr/>
        </p:nvSpPr>
        <p:spPr>
          <a:xfrm>
            <a:off x="658368" y="410565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Support</a:t>
            </a:r>
            <a:endParaRPr lang="en" sz="1400" dirty="0"/>
          </a:p>
        </p:txBody>
      </p:sp>
      <p:sp>
        <p:nvSpPr>
          <p:cNvPr id="48" name="row47-surface"/>
          <p:cNvSpPr/>
          <p:nvPr/>
        </p:nvSpPr>
        <p:spPr>
          <a:xfrm>
            <a:off x="3925794" y="4142232"/>
            <a:ext cx="3078510" cy="347472"/>
          </a:xfrm>
          <a:prstGeom prst="roundRect">
            <a:avLst>
              <a:gd name="adj" fmla="val 50000"/>
            </a:avLst>
          </a:prstGeom>
          <a:solidFill>
            <a:srgbClr val="1F7273"/>
          </a:solidFill>
          <a:ln>
            <a:noFill/>
          </a:ln>
        </p:spPr>
      </p:sp>
      <p:sp>
        <p:nvSpPr>
          <p:cNvPr id="49" name="text48"/>
          <p:cNvSpPr txBox="1"/>
          <p:nvPr/>
        </p:nvSpPr>
        <p:spPr>
          <a:xfrm>
            <a:off x="4078224" y="4228643"/>
            <a:ext cx="2773741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Help center</a:t>
            </a:r>
            <a:endParaRPr lang="en" sz="1100" dirty="0"/>
          </a:p>
        </p:txBody>
      </p:sp>
      <p:sp>
        <p:nvSpPr>
          <p:cNvPr id="50" name="row49-surface"/>
          <p:cNvSpPr/>
          <p:nvPr/>
        </p:nvSpPr>
        <p:spPr>
          <a:xfrm>
            <a:off x="7059259" y="4142232"/>
            <a:ext cx="2295144" cy="347472"/>
          </a:xfrm>
          <a:prstGeom prst="roundRect">
            <a:avLst>
              <a:gd name="adj" fmla="val 50000"/>
            </a:avLst>
          </a:prstGeom>
          <a:solidFill>
            <a:srgbClr val="1F7273"/>
          </a:solidFill>
          <a:ln>
            <a:noFill/>
          </a:ln>
        </p:spPr>
      </p:sp>
      <p:sp>
        <p:nvSpPr>
          <p:cNvPr id="51" name="text50"/>
          <p:cNvSpPr txBox="1"/>
          <p:nvPr/>
        </p:nvSpPr>
        <p:spPr>
          <a:xfrm>
            <a:off x="7211598" y="4228643"/>
            <a:ext cx="1990283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Team training</a:t>
            </a:r>
            <a:endParaRPr lang="en" sz="1100" dirty="0"/>
          </a:p>
        </p:txBody>
      </p:sp>
      <p:sp>
        <p:nvSpPr>
          <p:cNvPr id="52" name="row51-surface"/>
          <p:cNvSpPr/>
          <p:nvPr/>
        </p:nvSpPr>
        <p:spPr>
          <a:xfrm>
            <a:off x="9409267" y="4142232"/>
            <a:ext cx="2295144" cy="347472"/>
          </a:xfrm>
          <a:prstGeom prst="roundRect">
            <a:avLst>
              <a:gd name="adj" fmla="val 50000"/>
            </a:avLst>
          </a:prstGeom>
          <a:solidFill>
            <a:srgbClr val="1F7273"/>
          </a:solidFill>
          <a:ln>
            <a:noFill/>
          </a:ln>
        </p:spPr>
      </p:sp>
      <p:sp>
        <p:nvSpPr>
          <p:cNvPr id="53" name="text52"/>
          <p:cNvSpPr txBox="1"/>
          <p:nvPr/>
        </p:nvSpPr>
        <p:spPr>
          <a:xfrm>
            <a:off x="9561606" y="4228643"/>
            <a:ext cx="1990283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Launch-week desk</a:t>
            </a:r>
            <a:endParaRPr lang="en" sz="1100" dirty="0"/>
          </a:p>
        </p:txBody>
      </p:sp>
      <p:sp>
        <p:nvSpPr>
          <p:cNvPr id="54" name="text53"/>
          <p:cNvSpPr txBox="1"/>
          <p:nvPr/>
        </p:nvSpPr>
        <p:spPr>
          <a:xfrm>
            <a:off x="658368" y="487375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Milestones</a:t>
            </a:r>
            <a:endParaRPr lang="en" sz="1400" dirty="0"/>
          </a:p>
        </p:txBody>
      </p:sp>
      <p:sp>
        <p:nvSpPr>
          <p:cNvPr id="55" name="shape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6433" y="4956048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6" name="text55"/>
          <p:cNvSpPr txBox="1"/>
          <p:nvPr/>
        </p:nvSpPr>
        <p:spPr>
          <a:xfrm>
            <a:off x="5732374" y="4901275"/>
            <a:ext cx="2011680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Feb 2</a:t>
            </a:r>
            <a:r>
              <a:rPr lang="en" sz="12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 Store submission</a:t>
            </a:r>
            <a:endParaRPr lang="en" sz="1200" dirty="0"/>
          </a:p>
        </p:txBody>
      </p:sp>
      <p:sp>
        <p:nvSpPr>
          <p:cNvPr id="57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6441" y="4956048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8" name="text57"/>
          <p:cNvSpPr txBox="1"/>
          <p:nvPr/>
        </p:nvSpPr>
        <p:spPr>
          <a:xfrm>
            <a:off x="8082473" y="4901275"/>
            <a:ext cx="2011680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Feb 23</a:t>
            </a:r>
            <a:r>
              <a:rPr lang="en" sz="12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 Press preview</a:t>
            </a:r>
            <a:endParaRPr lang="en" sz="1200" dirty="0"/>
          </a:p>
        </p:txBody>
      </p:sp>
      <p:sp>
        <p:nvSpPr>
          <p:cNvPr id="59" name="shape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0294" y="4956048"/>
            <a:ext cx="201168" cy="201168"/>
          </a:xfrm>
          <a:prstGeom prst="diamond">
            <a:avLst/>
          </a:prstGeom>
          <a:solidFill>
            <a:srgbClr val="C9F26B"/>
          </a:solidFill>
          <a:ln w="25400">
            <a:solidFill>
              <a:schemeClr val="accent3"/>
            </a:solidFill>
          </a:ln>
        </p:spPr>
      </p:sp>
      <p:sp>
        <p:nvSpPr>
          <p:cNvPr id="60" name="text59"/>
          <p:cNvSpPr txBox="1"/>
          <p:nvPr/>
        </p:nvSpPr>
        <p:spPr>
          <a:xfrm>
            <a:off x="10656326" y="4901275"/>
            <a:ext cx="1143000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Mar 18</a:t>
            </a:r>
            <a:r>
              <a:rPr lang="en" sz="1200" b="0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  Launch</a:t>
            </a:r>
            <a:endParaRPr lang="en" sz="1200" dirty="0"/>
          </a:p>
        </p:txBody>
      </p:sp>
      <p:sp>
        <p:nvSpPr>
          <p:cNvPr id="61" name="free60-surface"/>
          <p:cNvSpPr/>
          <p:nvPr/>
        </p:nvSpPr>
        <p:spPr>
          <a:xfrm>
            <a:off x="457200" y="5413248"/>
            <a:ext cx="11277295" cy="530352"/>
          </a:xfrm>
          <a:prstGeom prst="roundRect">
            <a:avLst>
              <a:gd name="adj" fmla="val 23946"/>
            </a:avLst>
          </a:prstGeom>
          <a:solidFill>
            <a:srgbClr val="E2F1E7"/>
          </a:solidFill>
          <a:ln>
            <a:noFill/>
          </a:ln>
        </p:spPr>
      </p:sp>
      <p:sp>
        <p:nvSpPr>
          <p:cNvPr id="62" name="text61"/>
          <p:cNvSpPr txBox="1"/>
          <p:nvPr/>
        </p:nvSpPr>
        <p:spPr>
          <a:xfrm>
            <a:off x="713232" y="545896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buNone/>
            </a:pPr>
            <a:r>
              <a:rPr lang="en" sz="145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Every team finishes its build work by week 10, so launch week is execution only.</a:t>
            </a:r>
            <a:endParaRPr lang="en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dg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9768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0000"/>
                </a:moveTo>
                <a:cubicBezTo>
                  <a:pt x="16523" y="20000"/>
                  <a:pt x="21000" y="15523"/>
                  <a:pt x="21000" y="10000"/>
                </a:cubicBezTo>
                <a:cubicBezTo>
                  <a:pt x="21001" y="7536"/>
                  <a:pt x="20651" y="5084"/>
                  <a:pt x="19960" y="2719"/>
                </a:cubicBezTo>
                <a:cubicBezTo>
                  <a:pt x="19854" y="2357"/>
                  <a:pt x="19553" y="2086"/>
                  <a:pt x="19182" y="2017"/>
                </a:cubicBezTo>
                <a:cubicBezTo>
                  <a:pt x="18812" y="1948"/>
                  <a:pt x="18434" y="2094"/>
                  <a:pt x="18205" y="2394"/>
                </a:cubicBezTo>
                <a:cubicBezTo>
                  <a:pt x="15833" y="5500"/>
                  <a:pt x="13000" y="5500"/>
                  <a:pt x="9800" y="6100"/>
                </a:cubicBezTo>
                <a:cubicBezTo>
                  <a:pt x="6211" y="6713"/>
                  <a:pt x="3692" y="9975"/>
                  <a:pt x="4005" y="13602"/>
                </a:cubicBezTo>
                <a:cubicBezTo>
                  <a:pt x="4318" y="17229"/>
                  <a:pt x="7359" y="20011"/>
                  <a:pt x="11000" y="20000"/>
                </a:cubicBezTo>
              </a:path>
              <a:path w="24000" h="24000" fill="none">
                <a:moveTo>
                  <a:pt x="2000" y="21000"/>
                </a:moveTo>
                <a:cubicBezTo>
                  <a:pt x="1999" y="19047"/>
                  <a:pt x="3136" y="17272"/>
                  <a:pt x="4911" y="16456"/>
                </a:cubicBezTo>
                <a:cubicBezTo>
                  <a:pt x="7613" y="15212"/>
                  <a:pt x="8351" y="15240"/>
                  <a:pt x="11000" y="13000"/>
                </a:cubicBezTo>
              </a:path>
            </a:pathLst>
          </a:custGeom>
          <a:noFill/>
          <a:ln w="16764" cap="rnd">
            <a:solidFill>
              <a:schemeClr val="accent1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31520" y="411480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LAUNCH PLAN  ·  BUDGET</a:t>
            </a:r>
            <a:endParaRPr lang="en" sz="1050" dirty="0"/>
          </a:p>
        </p:txBody>
      </p:sp>
      <p:sp>
        <p:nvSpPr>
          <p:cNvPr id="4" name="shape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44768"/>
            <a:ext cx="11277295" cy="10973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5" name="text4"/>
          <p:cNvSpPr txBox="1"/>
          <p:nvPr/>
        </p:nvSpPr>
        <p:spPr>
          <a:xfrm>
            <a:off x="457200" y="6217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Fern — Launch plan  ·  Illustrative demo</a:t>
            </a:r>
            <a:endParaRPr lang="en" sz="1000" dirty="0"/>
          </a:p>
        </p:txBody>
      </p:sp>
      <p:sp>
        <p:nvSpPr>
          <p:cNvPr id="6" name="text5"/>
          <p:cNvSpPr txBox="1"/>
          <p:nvPr/>
        </p:nvSpPr>
        <p:spPr>
          <a:xfrm>
            <a:off x="10360152" y="6217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03 / 05</a:t>
            </a:r>
            <a:endParaRPr lang="en" sz="1000" dirty="0"/>
          </a:p>
        </p:txBody>
      </p:sp>
      <p:sp>
        <p:nvSpPr>
          <p:cNvPr id="7" name="text6"/>
          <p:cNvSpPr>
            <a:spLocks noGrp="1"/>
          </p:cNvSpPr>
          <p:nvPr>
            <p:ph type="title"/>
          </p:nvPr>
        </p:nvSpPr>
        <p:spPr>
          <a:xfrm>
            <a:off x="457200" y="777240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spc="-60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Paid social and creators carry 61% of the budget.</a:t>
            </a:r>
            <a:endParaRPr lang="en" sz="3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1371600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$420K across five channels. The $40K contingency is released only with approval in launch week.</a:t>
            </a:r>
            <a:endParaRPr lang="en" sz="1500" dirty="0"/>
          </a:p>
        </p:txBody>
      </p:sp>
      <p:graphicFrame>
        <p:nvGraphicFramePr>
          <p:cNvPr id="9" name="chart8" descr="Launch budget by channel in thousands of dollars: paid social 160, creators 95, PR and events 70, app store ads 55, contingency 40."/>
          <p:cNvGraphicFramePr/>
          <p:nvPr/>
        </p:nvGraphicFramePr>
        <p:xfrm>
          <a:off x="365760" y="1965960"/>
          <a:ext cx="7040880" cy="3977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211" y="2057400"/>
            <a:ext cx="10973" cy="3840480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11" name="text10"/>
          <p:cNvSpPr txBox="1"/>
          <p:nvPr/>
        </p:nvSpPr>
        <p:spPr>
          <a:xfrm>
            <a:off x="8183880" y="201168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buNone/>
            </a:pPr>
            <a:r>
              <a:rPr lang="en" sz="6000" b="1" i="0" spc="-120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$420K</a:t>
            </a:r>
            <a:endParaRPr lang="en" sz="6000" dirty="0"/>
          </a:p>
        </p:txBody>
      </p:sp>
      <p:sp>
        <p:nvSpPr>
          <p:cNvPr id="12" name="text11"/>
          <p:cNvSpPr txBox="1"/>
          <p:nvPr/>
        </p:nvSpPr>
        <p:spPr>
          <a:xfrm>
            <a:off x="8183880" y="28803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Total launch budget</a:t>
            </a:r>
            <a:endParaRPr lang="en" sz="1600" dirty="0"/>
          </a:p>
        </p:txBody>
      </p:sp>
      <p:sp>
        <p:nvSpPr>
          <p:cNvPr id="13" name="text12"/>
          <p:cNvSpPr txBox="1"/>
          <p:nvPr/>
        </p:nvSpPr>
        <p:spPr>
          <a:xfrm>
            <a:off x="8183880" y="31821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January 4 to April 15</a:t>
            </a:r>
            <a:endParaRPr lang="en" sz="1250" dirty="0"/>
          </a:p>
        </p:txBody>
      </p:sp>
      <p:sp>
        <p:nvSpPr>
          <p:cNvPr id="14" name="shape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83880" y="3639312"/>
            <a:ext cx="3547872" cy="10973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15" name="text14"/>
          <p:cNvSpPr txBox="1"/>
          <p:nvPr/>
        </p:nvSpPr>
        <p:spPr>
          <a:xfrm>
            <a:off x="8183880" y="376732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spc="-72" dirty="0">
                <a:solidFill>
                  <a:schemeClr val="accent6"/>
                </a:solidFill>
                <a:latin typeface="+mj-lt"/>
                <a:ea typeface="+mj-lt"/>
                <a:cs typeface="+mj-lt"/>
              </a:rPr>
              <a:t>61%</a:t>
            </a:r>
            <a:endParaRPr lang="en" sz="3600" dirty="0"/>
          </a:p>
        </p:txBody>
      </p:sp>
      <p:sp>
        <p:nvSpPr>
          <p:cNvPr id="16" name="text15"/>
          <p:cNvSpPr txBox="1"/>
          <p:nvPr/>
        </p:nvSpPr>
        <p:spPr>
          <a:xfrm>
            <a:off x="9646920" y="384048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Paid social and creators</a:t>
            </a:r>
            <a:endParaRPr lang="en" sz="1300" dirty="0"/>
          </a:p>
        </p:txBody>
      </p:sp>
      <p:sp>
        <p:nvSpPr>
          <p:cNvPr id="17" name="text16"/>
          <p:cNvSpPr txBox="1"/>
          <p:nvPr/>
        </p:nvSpPr>
        <p:spPr>
          <a:xfrm>
            <a:off x="9646920" y="40873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$255K of $420K</a:t>
            </a:r>
            <a:endParaRPr lang="en" sz="1200" dirty="0"/>
          </a:p>
        </p:txBody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83880" y="4572000"/>
            <a:ext cx="3547872" cy="10973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19" name="text18"/>
          <p:cNvSpPr txBox="1"/>
          <p:nvPr/>
        </p:nvSpPr>
        <p:spPr>
          <a:xfrm>
            <a:off x="8183880" y="470001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spc="-72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$40K</a:t>
            </a:r>
            <a:endParaRPr lang="en" sz="3600" dirty="0"/>
          </a:p>
        </p:txBody>
      </p:sp>
      <p:sp>
        <p:nvSpPr>
          <p:cNvPr id="20" name="text19"/>
          <p:cNvSpPr txBox="1"/>
          <p:nvPr/>
        </p:nvSpPr>
        <p:spPr>
          <a:xfrm>
            <a:off x="9646920" y="47731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Contingency</a:t>
            </a:r>
            <a:endParaRPr lang="en" sz="1300" dirty="0"/>
          </a:p>
        </p:txBody>
      </p:sp>
      <p:sp>
        <p:nvSpPr>
          <p:cNvPr id="21" name="text20"/>
          <p:cNvSpPr txBox="1"/>
          <p:nvPr/>
        </p:nvSpPr>
        <p:spPr>
          <a:xfrm>
            <a:off x="9646920" y="5020147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Held until launch week</a:t>
            </a:r>
            <a:endParaRPr lang="e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is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9768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0000"/>
                </a:moveTo>
                <a:cubicBezTo>
                  <a:pt x="16523" y="20000"/>
                  <a:pt x="21000" y="15523"/>
                  <a:pt x="21000" y="10000"/>
                </a:cubicBezTo>
                <a:cubicBezTo>
                  <a:pt x="21001" y="7536"/>
                  <a:pt x="20651" y="5084"/>
                  <a:pt x="19960" y="2719"/>
                </a:cubicBezTo>
                <a:cubicBezTo>
                  <a:pt x="19854" y="2357"/>
                  <a:pt x="19553" y="2086"/>
                  <a:pt x="19182" y="2017"/>
                </a:cubicBezTo>
                <a:cubicBezTo>
                  <a:pt x="18812" y="1948"/>
                  <a:pt x="18434" y="2094"/>
                  <a:pt x="18205" y="2394"/>
                </a:cubicBezTo>
                <a:cubicBezTo>
                  <a:pt x="15833" y="5500"/>
                  <a:pt x="13000" y="5500"/>
                  <a:pt x="9800" y="6100"/>
                </a:cubicBezTo>
                <a:cubicBezTo>
                  <a:pt x="6211" y="6713"/>
                  <a:pt x="3692" y="9975"/>
                  <a:pt x="4005" y="13602"/>
                </a:cubicBezTo>
                <a:cubicBezTo>
                  <a:pt x="4318" y="17229"/>
                  <a:pt x="7359" y="20011"/>
                  <a:pt x="11000" y="20000"/>
                </a:cubicBezTo>
              </a:path>
              <a:path w="24000" h="24000" fill="none">
                <a:moveTo>
                  <a:pt x="2000" y="21000"/>
                </a:moveTo>
                <a:cubicBezTo>
                  <a:pt x="1999" y="19047"/>
                  <a:pt x="3136" y="17272"/>
                  <a:pt x="4911" y="16456"/>
                </a:cubicBezTo>
                <a:cubicBezTo>
                  <a:pt x="7613" y="15212"/>
                  <a:pt x="8351" y="15240"/>
                  <a:pt x="11000" y="13000"/>
                </a:cubicBezTo>
              </a:path>
            </a:pathLst>
          </a:custGeom>
          <a:noFill/>
          <a:ln w="16764" cap="rnd">
            <a:solidFill>
              <a:schemeClr val="accent1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31520" y="411480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LAUNCH PLAN  ·  RISKS</a:t>
            </a:r>
            <a:endParaRPr lang="en" sz="1050" dirty="0"/>
          </a:p>
        </p:txBody>
      </p:sp>
      <p:sp>
        <p:nvSpPr>
          <p:cNvPr id="4" name="shape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44768"/>
            <a:ext cx="11277295" cy="10973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5" name="text4"/>
          <p:cNvSpPr txBox="1"/>
          <p:nvPr/>
        </p:nvSpPr>
        <p:spPr>
          <a:xfrm>
            <a:off x="457200" y="6217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Fern — Launch plan  ·  Illustrative demo</a:t>
            </a:r>
            <a:endParaRPr lang="en" sz="1000" dirty="0"/>
          </a:p>
        </p:txBody>
      </p:sp>
      <p:sp>
        <p:nvSpPr>
          <p:cNvPr id="6" name="text5"/>
          <p:cNvSpPr txBox="1"/>
          <p:nvPr/>
        </p:nvSpPr>
        <p:spPr>
          <a:xfrm>
            <a:off x="10360152" y="6217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04 / 05</a:t>
            </a:r>
            <a:endParaRPr lang="en" sz="1000" dirty="0"/>
          </a:p>
        </p:txBody>
      </p:sp>
      <p:sp>
        <p:nvSpPr>
          <p:cNvPr id="7" name="text6"/>
          <p:cNvSpPr>
            <a:spLocks noGrp="1"/>
          </p:cNvSpPr>
          <p:nvPr>
            <p:ph type="title"/>
          </p:nvPr>
        </p:nvSpPr>
        <p:spPr>
          <a:xfrm>
            <a:off x="457200" y="777240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spc="-60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Three risks. Each one has an owner and a trigger.</a:t>
            </a:r>
            <a:endParaRPr lang="en" sz="3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1371600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+mn-lt"/>
                <a:ea typeface="+mn-lt"/>
                <a:cs typeface="+mn-lt"/>
              </a:rPr>
              <a:t>Reviewed every Monday. A tripped trigger goes to the launch lead within 24 hours.</a:t>
            </a:r>
            <a:endParaRPr lang="en" sz="1500" dirty="0"/>
          </a:p>
        </p:txBody>
      </p:sp>
      <p:sp>
        <p:nvSpPr>
          <p:cNvPr id="9" name="free8-surface"/>
          <p:cNvSpPr/>
          <p:nvPr/>
        </p:nvSpPr>
        <p:spPr>
          <a:xfrm>
            <a:off x="457200" y="2011680"/>
            <a:ext cx="3627425" cy="3931920"/>
          </a:xfrm>
          <a:prstGeom prst="roundRect">
            <a:avLst>
              <a:gd name="adj" fmla="val 4201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0" name="row9-surface"/>
          <p:cNvSpPr/>
          <p:nvPr/>
        </p:nvSpPr>
        <p:spPr>
          <a:xfrm>
            <a:off x="731520" y="22677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BE4DD"/>
          </a:solidFill>
          <a:ln>
            <a:noFill/>
          </a:ln>
        </p:spPr>
      </p:sp>
      <p:sp>
        <p:nvSpPr>
          <p:cNvPr id="11" name="text10"/>
          <p:cNvSpPr txBox="1"/>
          <p:nvPr/>
        </p:nvSpPr>
        <p:spPr>
          <a:xfrm>
            <a:off x="731520" y="2312335"/>
            <a:ext cx="1097280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BC3C25"/>
                </a:solidFill>
                <a:latin typeface="+mn-lt"/>
                <a:ea typeface="+mn-lt"/>
                <a:cs typeface="+mn-lt"/>
              </a:rPr>
              <a:t>High risk</a:t>
            </a:r>
            <a:endParaRPr lang="en" sz="1050" dirty="0"/>
          </a:p>
        </p:txBody>
      </p:sp>
      <p:sp>
        <p:nvSpPr>
          <p:cNvPr id="12" name="icon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7697" y="2240189"/>
            <a:ext cx="292059" cy="2920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" y="12000"/>
                </a:move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lose/>
              </a:path>
              <a:path w="24000" h="24000" fill="none"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24338" cap="rnd">
            <a:solidFill>
              <a:schemeClr val="accent1"/>
            </a:solidFill>
            <a:round/>
          </a:ln>
        </p:spPr>
      </p:sp>
      <p:sp>
        <p:nvSpPr>
          <p:cNvPr id="13" name="text12"/>
          <p:cNvSpPr txBox="1"/>
          <p:nvPr/>
        </p:nvSpPr>
        <p:spPr>
          <a:xfrm>
            <a:off x="731520" y="2670048"/>
            <a:ext cx="3078785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App Store review slips</a:t>
            </a:r>
            <a:endParaRPr lang="en" sz="1800" dirty="0"/>
          </a:p>
        </p:txBody>
      </p:sp>
      <p:sp>
        <p:nvSpPr>
          <p:cNvPr id="14" name="text13"/>
          <p:cNvSpPr txBox="1"/>
          <p:nvPr/>
        </p:nvSpPr>
        <p:spPr>
          <a:xfrm>
            <a:off x="731520" y="3163733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IMPACT</a:t>
            </a:r>
            <a:endParaRPr lang="en" sz="1000" dirty="0"/>
          </a:p>
        </p:txBody>
      </p:sp>
      <p:sp>
        <p:nvSpPr>
          <p:cNvPr id="15" name="text14"/>
          <p:cNvSpPr txBox="1"/>
          <p:nvPr/>
        </p:nvSpPr>
        <p:spPr>
          <a:xfrm>
            <a:off x="731520" y="3383189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Launch date moves and paid media is wasted.</a:t>
            </a:r>
            <a:endParaRPr lang="en" sz="1250" dirty="0"/>
          </a:p>
        </p:txBody>
      </p:sp>
      <p:sp>
        <p:nvSpPr>
          <p:cNvPr id="16" name="text15"/>
          <p:cNvSpPr txBox="1"/>
          <p:nvPr/>
        </p:nvSpPr>
        <p:spPr>
          <a:xfrm>
            <a:off x="731520" y="387696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MITIGATION</a:t>
            </a:r>
            <a:endParaRPr lang="en" sz="1000" dirty="0"/>
          </a:p>
        </p:txBody>
      </p:sp>
      <p:sp>
        <p:nvSpPr>
          <p:cNvPr id="17" name="text16"/>
          <p:cNvSpPr txBox="1"/>
          <p:nvPr/>
        </p:nvSpPr>
        <p:spPr>
          <a:xfrm>
            <a:off x="731520" y="4096512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Submit on Feb 2, keeping six weeks of buffer.</a:t>
            </a:r>
            <a:endParaRPr lang="en" sz="1250" dirty="0"/>
          </a:p>
        </p:txBody>
      </p:sp>
      <p:sp>
        <p:nvSpPr>
          <p:cNvPr id="18" name="text17"/>
          <p:cNvSpPr txBox="1"/>
          <p:nvPr/>
        </p:nvSpPr>
        <p:spPr>
          <a:xfrm>
            <a:off x="731520" y="4590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TRIGGER</a:t>
            </a:r>
            <a:endParaRPr lang="en" sz="1000" dirty="0"/>
          </a:p>
        </p:txBody>
      </p:sp>
      <p:sp>
        <p:nvSpPr>
          <p:cNvPr id="19" name="text18"/>
          <p:cNvSpPr txBox="1"/>
          <p:nvPr/>
        </p:nvSpPr>
        <p:spPr>
          <a:xfrm>
            <a:off x="731520" y="4809744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No approval by March 1.</a:t>
            </a:r>
            <a:endParaRPr lang="en" sz="1250" dirty="0"/>
          </a:p>
        </p:txBody>
      </p:sp>
      <p:sp>
        <p:nvSpPr>
          <p:cNvPr id="20" name="shape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321808"/>
            <a:ext cx="3078785" cy="914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21" name="shape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E2F1E7"/>
          </a:solidFill>
          <a:ln>
            <a:noFill/>
          </a:ln>
        </p:spPr>
      </p:sp>
      <p:sp>
        <p:nvSpPr>
          <p:cNvPr id="22" name="text21"/>
          <p:cNvSpPr txBox="1"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DK</a:t>
            </a:r>
            <a:endParaRPr lang="en" sz="1050" dirty="0"/>
          </a:p>
        </p:txBody>
      </p:sp>
      <p:sp>
        <p:nvSpPr>
          <p:cNvPr id="23" name="text22"/>
          <p:cNvSpPr txBox="1"/>
          <p:nvPr/>
        </p:nvSpPr>
        <p:spPr>
          <a:xfrm>
            <a:off x="1207008" y="5468021"/>
            <a:ext cx="262158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Dana Kim</a:t>
            </a:r>
            <a:r>
              <a:rPr lang="en" sz="12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 ·  Product lead</a:t>
            </a:r>
            <a:endParaRPr lang="en" sz="1200" dirty="0"/>
          </a:p>
        </p:txBody>
      </p:sp>
      <p:sp>
        <p:nvSpPr>
          <p:cNvPr id="24" name="free23-surface"/>
          <p:cNvSpPr/>
          <p:nvPr/>
        </p:nvSpPr>
        <p:spPr>
          <a:xfrm>
            <a:off x="4282227" y="2011680"/>
            <a:ext cx="3627425" cy="3931920"/>
          </a:xfrm>
          <a:prstGeom prst="roundRect">
            <a:avLst>
              <a:gd name="adj" fmla="val 4201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25" name="row24-surface"/>
          <p:cNvSpPr/>
          <p:nvPr/>
        </p:nvSpPr>
        <p:spPr>
          <a:xfrm>
            <a:off x="4556547" y="22677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AEFD2"/>
          </a:solidFill>
          <a:ln>
            <a:noFill/>
          </a:ln>
        </p:spPr>
      </p:sp>
      <p:sp>
        <p:nvSpPr>
          <p:cNvPr id="26" name="text25"/>
          <p:cNvSpPr txBox="1"/>
          <p:nvPr/>
        </p:nvSpPr>
        <p:spPr>
          <a:xfrm>
            <a:off x="4556547" y="2312335"/>
            <a:ext cx="1097280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8A5A00"/>
                </a:solidFill>
                <a:latin typeface="+mn-lt"/>
                <a:ea typeface="+mn-lt"/>
                <a:cs typeface="+mn-lt"/>
              </a:rPr>
              <a:t>Medium risk</a:t>
            </a:r>
            <a:endParaRPr lang="en" sz="1050" dirty="0"/>
          </a:p>
        </p:txBody>
      </p:sp>
      <p:sp>
        <p:nvSpPr>
          <p:cNvPr id="27" name="icon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42723" y="2240189"/>
            <a:ext cx="292059" cy="2920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</a:path>
              <a:path w="24000" h="24000" fill="none"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</a:path>
              <a:path w="24000" h="24000" fill="none">
                <a:moveTo>
                  <a:pt x="14000" y="18000"/>
                </a:moveTo>
                <a:lnTo>
                  <a:pt x="14000" y="11000"/>
                </a:lnTo>
              </a:path>
              <a:path w="24000" h="24000" fill="none">
                <a:moveTo>
                  <a:pt x="18000" y="18000"/>
                </a:moveTo>
                <a:lnTo>
                  <a:pt x="18000" y="11000"/>
                </a:lnTo>
              </a:path>
              <a:path w="24000" h="24000" fill="none">
                <a:moveTo>
                  <a:pt x="3000" y="22000"/>
                </a:moveTo>
                <a:lnTo>
                  <a:pt x="21000" y="22000"/>
                </a:lnTo>
              </a:path>
              <a:path w="24000" h="24000" fill="none"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4338" cap="rnd">
            <a:solidFill>
              <a:schemeClr val="accent1"/>
            </a:solidFill>
            <a:round/>
          </a:ln>
        </p:spPr>
      </p:sp>
      <p:sp>
        <p:nvSpPr>
          <p:cNvPr id="28" name="text27"/>
          <p:cNvSpPr txBox="1"/>
          <p:nvPr/>
        </p:nvSpPr>
        <p:spPr>
          <a:xfrm>
            <a:off x="4556547" y="2670048"/>
            <a:ext cx="3078785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Bank-connection limits</a:t>
            </a:r>
            <a:endParaRPr lang="en" sz="1800" dirty="0"/>
          </a:p>
        </p:txBody>
      </p:sp>
      <p:sp>
        <p:nvSpPr>
          <p:cNvPr id="29" name="text28"/>
          <p:cNvSpPr txBox="1"/>
          <p:nvPr/>
        </p:nvSpPr>
        <p:spPr>
          <a:xfrm>
            <a:off x="4556547" y="3163733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IMPACT</a:t>
            </a:r>
            <a:endParaRPr lang="en" sz="1000" dirty="0"/>
          </a:p>
        </p:txBody>
      </p:sp>
      <p:sp>
        <p:nvSpPr>
          <p:cNvPr id="30" name="text29"/>
          <p:cNvSpPr txBox="1"/>
          <p:nvPr/>
        </p:nvSpPr>
        <p:spPr>
          <a:xfrm>
            <a:off x="4556547" y="3383189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New users fail to link accounts in week one.</a:t>
            </a:r>
            <a:endParaRPr lang="en" sz="1250" dirty="0"/>
          </a:p>
        </p:txBody>
      </p:sp>
      <p:sp>
        <p:nvSpPr>
          <p:cNvPr id="31" name="text30"/>
          <p:cNvSpPr txBox="1"/>
          <p:nvPr/>
        </p:nvSpPr>
        <p:spPr>
          <a:xfrm>
            <a:off x="4556547" y="387696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MITIGATION</a:t>
            </a:r>
            <a:endParaRPr lang="en" sz="1000" dirty="0"/>
          </a:p>
        </p:txBody>
      </p:sp>
      <p:sp>
        <p:nvSpPr>
          <p:cNvPr id="32" name="text31"/>
          <p:cNvSpPr txBox="1"/>
          <p:nvPr/>
        </p:nvSpPr>
        <p:spPr>
          <a:xfrm>
            <a:off x="4556547" y="4096512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Raise partner quota; queue links at peak.</a:t>
            </a:r>
            <a:endParaRPr lang="en" sz="1250" dirty="0"/>
          </a:p>
        </p:txBody>
      </p:sp>
      <p:sp>
        <p:nvSpPr>
          <p:cNvPr id="33" name="text32"/>
          <p:cNvSpPr txBox="1"/>
          <p:nvPr/>
        </p:nvSpPr>
        <p:spPr>
          <a:xfrm>
            <a:off x="4556547" y="4590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TRIGGER</a:t>
            </a:r>
            <a:endParaRPr lang="en" sz="1000" dirty="0"/>
          </a:p>
        </p:txBody>
      </p:sp>
      <p:sp>
        <p:nvSpPr>
          <p:cNvPr id="34" name="text33"/>
          <p:cNvSpPr txBox="1"/>
          <p:nvPr/>
        </p:nvSpPr>
        <p:spPr>
          <a:xfrm>
            <a:off x="4556547" y="4809744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Link failures above 3%.</a:t>
            </a:r>
            <a:endParaRPr lang="en" sz="1250" dirty="0"/>
          </a:p>
        </p:txBody>
      </p:sp>
      <p:sp>
        <p:nvSpPr>
          <p:cNvPr id="35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6547" y="5321808"/>
            <a:ext cx="3078785" cy="914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36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6547" y="5440680"/>
            <a:ext cx="365760" cy="365760"/>
          </a:xfrm>
          <a:prstGeom prst="ellipse">
            <a:avLst/>
          </a:prstGeom>
          <a:solidFill>
            <a:srgbClr val="E2F1E7"/>
          </a:solidFill>
          <a:ln>
            <a:noFill/>
          </a:ln>
        </p:spPr>
      </p:sp>
      <p:sp>
        <p:nvSpPr>
          <p:cNvPr id="37" name="text36"/>
          <p:cNvSpPr txBox="1"/>
          <p:nvPr/>
        </p:nvSpPr>
        <p:spPr>
          <a:xfrm>
            <a:off x="4556547" y="5440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OR</a:t>
            </a:r>
            <a:endParaRPr lang="en" sz="1050" dirty="0"/>
          </a:p>
        </p:txBody>
      </p:sp>
      <p:sp>
        <p:nvSpPr>
          <p:cNvPr id="38" name="text37"/>
          <p:cNvSpPr txBox="1"/>
          <p:nvPr/>
        </p:nvSpPr>
        <p:spPr>
          <a:xfrm>
            <a:off x="5032035" y="5468021"/>
            <a:ext cx="262158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Omar Reyes</a:t>
            </a:r>
            <a:r>
              <a:rPr lang="en" sz="12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 ·  Engineering</a:t>
            </a:r>
            <a:endParaRPr lang="en" sz="1200" dirty="0"/>
          </a:p>
        </p:txBody>
      </p:sp>
      <p:sp>
        <p:nvSpPr>
          <p:cNvPr id="39" name="free38-surface"/>
          <p:cNvSpPr/>
          <p:nvPr/>
        </p:nvSpPr>
        <p:spPr>
          <a:xfrm>
            <a:off x="8107070" y="2011680"/>
            <a:ext cx="3627425" cy="3931920"/>
          </a:xfrm>
          <a:prstGeom prst="roundRect">
            <a:avLst>
              <a:gd name="adj" fmla="val 4201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40" name="row39-surface"/>
          <p:cNvSpPr/>
          <p:nvPr/>
        </p:nvSpPr>
        <p:spPr>
          <a:xfrm>
            <a:off x="8381390" y="22677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AEFD2"/>
          </a:solidFill>
          <a:ln>
            <a:noFill/>
          </a:ln>
        </p:spPr>
      </p:sp>
      <p:sp>
        <p:nvSpPr>
          <p:cNvPr id="41" name="text40"/>
          <p:cNvSpPr txBox="1"/>
          <p:nvPr/>
        </p:nvSpPr>
        <p:spPr>
          <a:xfrm>
            <a:off x="8381390" y="2312335"/>
            <a:ext cx="1097280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8A5A00"/>
                </a:solidFill>
                <a:latin typeface="+mn-lt"/>
                <a:ea typeface="+mn-lt"/>
                <a:cs typeface="+mn-lt"/>
              </a:rPr>
              <a:t>Medium risk</a:t>
            </a:r>
            <a:endParaRPr lang="en" sz="1050" dirty="0"/>
          </a:p>
        </p:txBody>
      </p:sp>
      <p:sp>
        <p:nvSpPr>
          <p:cNvPr id="42" name="icon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7567" y="2240189"/>
            <a:ext cx="292059" cy="2920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11000"/>
                </a:moveTo>
                <a:lnTo>
                  <a:pt x="6000" y="11000"/>
                </a:lnTo>
                <a:cubicBezTo>
                  <a:pt x="7105" y="11000"/>
                  <a:pt x="8000" y="11895"/>
                  <a:pt x="8000" y="13000"/>
                </a:cubicBezTo>
                <a:lnTo>
                  <a:pt x="8000" y="16000"/>
                </a:lnTo>
                <a:cubicBezTo>
                  <a:pt x="8000" y="17105"/>
                  <a:pt x="7105" y="18000"/>
                  <a:pt x="6000" y="18000"/>
                </a:cubicBezTo>
                <a:lnTo>
                  <a:pt x="5000" y="18000"/>
                </a:lnTo>
                <a:cubicBezTo>
                  <a:pt x="3895" y="18000"/>
                  <a:pt x="3000" y="17105"/>
                  <a:pt x="3000" y="16000"/>
                </a:cubicBezTo>
                <a:lnTo>
                  <a:pt x="3000" y="11000"/>
                </a:lnTo>
                <a:close/>
                <a:moveTo>
                  <a:pt x="3000" y="11000"/>
                </a:moveTo>
                <a:cubicBezTo>
                  <a:pt x="3000" y="6029"/>
                  <a:pt x="7029" y="2000"/>
                  <a:pt x="12000" y="2000"/>
                </a:cubicBezTo>
                <a:cubicBezTo>
                  <a:pt x="16971" y="2000"/>
                  <a:pt x="21000" y="6029"/>
                  <a:pt x="21000" y="11000"/>
                </a:cubicBezTo>
                <a:moveTo>
                  <a:pt x="21000" y="11000"/>
                </a:moveTo>
                <a:lnTo>
                  <a:pt x="21000" y="16000"/>
                </a:lnTo>
                <a:cubicBezTo>
                  <a:pt x="21000" y="17105"/>
                  <a:pt x="20105" y="18000"/>
                  <a:pt x="19000" y="18000"/>
                </a:cubicBezTo>
                <a:lnTo>
                  <a:pt x="18000" y="18000"/>
                </a:lnTo>
                <a:cubicBezTo>
                  <a:pt x="16895" y="18000"/>
                  <a:pt x="16000" y="17105"/>
                  <a:pt x="16000" y="16000"/>
                </a:cubicBezTo>
                <a:lnTo>
                  <a:pt x="16000" y="13000"/>
                </a:lnTo>
                <a:cubicBezTo>
                  <a:pt x="16000" y="11895"/>
                  <a:pt x="16895" y="11000"/>
                  <a:pt x="18000" y="11000"/>
                </a:cubicBezTo>
                <a:lnTo>
                  <a:pt x="21000" y="11000"/>
                </a:lnTo>
                <a:close/>
              </a:path>
              <a:path w="24000" h="24000" fill="none">
                <a:moveTo>
                  <a:pt x="21000" y="16000"/>
                </a:moveTo>
                <a:lnTo>
                  <a:pt x="21000" y="18000"/>
                </a:lnTo>
                <a:cubicBezTo>
                  <a:pt x="21000" y="20209"/>
                  <a:pt x="19209" y="22000"/>
                  <a:pt x="17000" y="22000"/>
                </a:cubicBezTo>
                <a:lnTo>
                  <a:pt x="12000" y="22000"/>
                </a:lnTo>
              </a:path>
            </a:pathLst>
          </a:custGeom>
          <a:noFill/>
          <a:ln w="24338" cap="rnd">
            <a:solidFill>
              <a:schemeClr val="accent1"/>
            </a:solidFill>
            <a:round/>
          </a:ln>
        </p:spPr>
      </p:sp>
      <p:sp>
        <p:nvSpPr>
          <p:cNvPr id="43" name="text42"/>
          <p:cNvSpPr txBox="1"/>
          <p:nvPr/>
        </p:nvSpPr>
        <p:spPr>
          <a:xfrm>
            <a:off x="8381390" y="2670048"/>
            <a:ext cx="3078785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Launch-week support load</a:t>
            </a:r>
            <a:endParaRPr lang="en" sz="1800" dirty="0"/>
          </a:p>
        </p:txBody>
      </p:sp>
      <p:sp>
        <p:nvSpPr>
          <p:cNvPr id="44" name="text43"/>
          <p:cNvSpPr txBox="1"/>
          <p:nvPr/>
        </p:nvSpPr>
        <p:spPr>
          <a:xfrm>
            <a:off x="8381390" y="3163733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IMPACT</a:t>
            </a:r>
            <a:endParaRPr lang="en" sz="1000" dirty="0"/>
          </a:p>
        </p:txBody>
      </p:sp>
      <p:sp>
        <p:nvSpPr>
          <p:cNvPr id="45" name="text44"/>
          <p:cNvSpPr txBox="1"/>
          <p:nvPr/>
        </p:nvSpPr>
        <p:spPr>
          <a:xfrm>
            <a:off x="8381390" y="3383189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Slow replies pull the store rating down.</a:t>
            </a:r>
            <a:endParaRPr lang="en" sz="1250" dirty="0"/>
          </a:p>
        </p:txBody>
      </p:sp>
      <p:sp>
        <p:nvSpPr>
          <p:cNvPr id="46" name="text45"/>
          <p:cNvSpPr txBox="1"/>
          <p:nvPr/>
        </p:nvSpPr>
        <p:spPr>
          <a:xfrm>
            <a:off x="8381390" y="387696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MITIGATION</a:t>
            </a:r>
            <a:endParaRPr lang="en" sz="1000" dirty="0"/>
          </a:p>
        </p:txBody>
      </p:sp>
      <p:sp>
        <p:nvSpPr>
          <p:cNvPr id="47" name="text46"/>
          <p:cNvSpPr txBox="1"/>
          <p:nvPr/>
        </p:nvSpPr>
        <p:spPr>
          <a:xfrm>
            <a:off x="8381390" y="4096512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Train six extra agents; in-app help first.</a:t>
            </a:r>
            <a:endParaRPr lang="en" sz="1250" dirty="0"/>
          </a:p>
        </p:txBody>
      </p:sp>
      <p:sp>
        <p:nvSpPr>
          <p:cNvPr id="48" name="text47"/>
          <p:cNvSpPr txBox="1"/>
          <p:nvPr/>
        </p:nvSpPr>
        <p:spPr>
          <a:xfrm>
            <a:off x="8381390" y="4590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100" dirty="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TRIGGER</a:t>
            </a:r>
            <a:endParaRPr lang="en" sz="1000" dirty="0"/>
          </a:p>
        </p:txBody>
      </p:sp>
      <p:sp>
        <p:nvSpPr>
          <p:cNvPr id="49" name="text48"/>
          <p:cNvSpPr txBox="1"/>
          <p:nvPr/>
        </p:nvSpPr>
        <p:spPr>
          <a:xfrm>
            <a:off x="8381390" y="4809744"/>
            <a:ext cx="3078785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First reply over 4 hours.</a:t>
            </a:r>
            <a:endParaRPr lang="en" sz="1250" dirty="0"/>
          </a:p>
        </p:txBody>
      </p:sp>
      <p:sp>
        <p:nvSpPr>
          <p:cNvPr id="50" name="shape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1390" y="5321808"/>
            <a:ext cx="3078785" cy="9144"/>
          </a:xfrm>
          <a:prstGeom prst="rect">
            <a:avLst/>
          </a:prstGeom>
          <a:solidFill>
            <a:srgbClr val="E7E3D8"/>
          </a:solidFill>
          <a:ln>
            <a:noFill/>
          </a:ln>
        </p:spPr>
      </p:sp>
      <p:sp>
        <p:nvSpPr>
          <p:cNvPr id="51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1390" y="5440680"/>
            <a:ext cx="365760" cy="365760"/>
          </a:xfrm>
          <a:prstGeom prst="ellipse">
            <a:avLst/>
          </a:prstGeom>
          <a:solidFill>
            <a:srgbClr val="E2F1E7"/>
          </a:solidFill>
          <a:ln>
            <a:noFill/>
          </a:ln>
        </p:spPr>
      </p:sp>
      <p:sp>
        <p:nvSpPr>
          <p:cNvPr id="52" name="text51"/>
          <p:cNvSpPr txBox="1"/>
          <p:nvPr/>
        </p:nvSpPr>
        <p:spPr>
          <a:xfrm>
            <a:off x="8381390" y="5440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LN</a:t>
            </a:r>
            <a:endParaRPr lang="en" sz="1050" dirty="0"/>
          </a:p>
        </p:txBody>
      </p:sp>
      <p:sp>
        <p:nvSpPr>
          <p:cNvPr id="53" name="text52"/>
          <p:cNvSpPr txBox="1"/>
          <p:nvPr/>
        </p:nvSpPr>
        <p:spPr>
          <a:xfrm>
            <a:off x="8856878" y="5468021"/>
            <a:ext cx="262158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Lena Novak</a:t>
            </a:r>
            <a:r>
              <a:rPr lang="en" sz="1200" b="0" i="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 ·  Support</a:t>
            </a:r>
            <a:endParaRPr lang="e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9768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0000"/>
                </a:moveTo>
                <a:cubicBezTo>
                  <a:pt x="16523" y="20000"/>
                  <a:pt x="21000" y="15523"/>
                  <a:pt x="21000" y="10000"/>
                </a:cubicBezTo>
                <a:cubicBezTo>
                  <a:pt x="21001" y="7536"/>
                  <a:pt x="20651" y="5084"/>
                  <a:pt x="19960" y="2719"/>
                </a:cubicBezTo>
                <a:cubicBezTo>
                  <a:pt x="19854" y="2357"/>
                  <a:pt x="19553" y="2086"/>
                  <a:pt x="19182" y="2017"/>
                </a:cubicBezTo>
                <a:cubicBezTo>
                  <a:pt x="18812" y="1948"/>
                  <a:pt x="18434" y="2094"/>
                  <a:pt x="18205" y="2394"/>
                </a:cubicBezTo>
                <a:cubicBezTo>
                  <a:pt x="15833" y="5500"/>
                  <a:pt x="13000" y="5500"/>
                  <a:pt x="9800" y="6100"/>
                </a:cubicBezTo>
                <a:cubicBezTo>
                  <a:pt x="6211" y="6713"/>
                  <a:pt x="3692" y="9975"/>
                  <a:pt x="4005" y="13602"/>
                </a:cubicBezTo>
                <a:cubicBezTo>
                  <a:pt x="4318" y="17229"/>
                  <a:pt x="7359" y="20011"/>
                  <a:pt x="11000" y="20000"/>
                </a:cubicBezTo>
              </a:path>
              <a:path w="24000" h="24000" fill="none">
                <a:moveTo>
                  <a:pt x="2000" y="21000"/>
                </a:moveTo>
                <a:cubicBezTo>
                  <a:pt x="1999" y="19047"/>
                  <a:pt x="3136" y="17272"/>
                  <a:pt x="4911" y="16456"/>
                </a:cubicBezTo>
                <a:cubicBezTo>
                  <a:pt x="7613" y="15212"/>
                  <a:pt x="8351" y="15240"/>
                  <a:pt x="11000" y="13000"/>
                </a:cubicBezTo>
              </a:path>
            </a:pathLst>
          </a:custGeom>
          <a:noFill/>
          <a:ln w="16764" cap="rnd">
            <a:solidFill>
              <a:srgbClr val="C9F26B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31520" y="411480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C9F26B"/>
                </a:solidFill>
                <a:latin typeface="+mn-lt"/>
                <a:ea typeface="+mn-lt"/>
                <a:cs typeface="+mn-lt"/>
              </a:rPr>
              <a:t>LAUNCH PLAN  ·  DECISION</a:t>
            </a:r>
            <a:endParaRPr lang="en" sz="1050" dirty="0"/>
          </a:p>
        </p:txBody>
      </p:sp>
      <p:sp>
        <p:nvSpPr>
          <p:cNvPr id="4" name="text3"/>
          <p:cNvSpPr>
            <a:spLocks noGrp="1"/>
          </p:cNvSpPr>
          <p:nvPr>
            <p:ph type="title"/>
          </p:nvPr>
        </p:nvSpPr>
        <p:spPr>
          <a:xfrm>
            <a:off x="457200" y="1234440"/>
            <a:ext cx="5089825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752"/>
              </a:lnSpc>
              <a:spcBef>
                <a:spcPts val="0"/>
              </a:spcBef>
              <a:buNone/>
            </a:pPr>
            <a:r>
              <a:rPr lang="en" sz="4400" b="1" i="0" spc="-88" dirty="0">
                <a:solidFill>
                  <a:schemeClr val="bg2"/>
                </a:solidFill>
                <a:latin typeface="+mj-lt"/>
                <a:ea typeface="+mj-lt"/>
                <a:cs typeface="+mj-lt"/>
              </a:rPr>
              <a:t>Approve $420K and the March 18 date by January 15.</a:t>
            </a:r>
            <a:endParaRPr lang="en" sz="4400" dirty="0"/>
          </a:p>
        </p:txBody>
      </p:sp>
      <p:sp>
        <p:nvSpPr>
          <p:cNvPr id="5" name="text4"/>
          <p:cNvSpPr txBox="1"/>
          <p:nvPr/>
        </p:nvSpPr>
        <p:spPr>
          <a:xfrm>
            <a:off x="457200" y="32918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rgbClr val="CFE5D8"/>
                </a:solidFill>
                <a:latin typeface="+mn-lt"/>
                <a:ea typeface="+mn-lt"/>
                <a:cs typeface="+mn-lt"/>
              </a:rPr>
              <a:t>A decision this month protects the February 2 store submission and the creator bookings behind it.</a:t>
            </a:r>
            <a:endParaRPr lang="en" sz="1600" dirty="0"/>
          </a:p>
        </p:txBody>
      </p:sp>
      <p:sp>
        <p:nvSpPr>
          <p:cNvPr id="6" name="text5"/>
          <p:cNvSpPr txBox="1"/>
          <p:nvPr/>
        </p:nvSpPr>
        <p:spPr>
          <a:xfrm>
            <a:off x="7680960" y="1280160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C9F26B"/>
                </a:solidFill>
                <a:latin typeface="+mn-lt"/>
                <a:ea typeface="+mn-lt"/>
                <a:cs typeface="+mn-lt"/>
              </a:rPr>
              <a:t>WHAT WE COMMIT TO, 30 DAYS AFTER LAUNCH</a:t>
            </a:r>
            <a:endParaRPr lang="en" sz="1050" dirty="0"/>
          </a:p>
        </p:txBody>
      </p:sp>
      <p:sp>
        <p:nvSpPr>
          <p:cNvPr id="7" name="free6-surface"/>
          <p:cNvSpPr/>
          <p:nvPr/>
        </p:nvSpPr>
        <p:spPr>
          <a:xfrm>
            <a:off x="7680960" y="1691731"/>
            <a:ext cx="4053535" cy="1060704"/>
          </a:xfrm>
          <a:prstGeom prst="roundRect">
            <a:avLst>
              <a:gd name="adj" fmla="val 14368"/>
            </a:avLst>
          </a:prstGeom>
          <a:solidFill>
            <a:schemeClr val="accent4"/>
          </a:solidFill>
          <a:ln>
            <a:noFill/>
          </a:ln>
        </p:spPr>
      </p:sp>
      <p:sp>
        <p:nvSpPr>
          <p:cNvPr id="8" name="text7"/>
          <p:cNvSpPr txBox="1"/>
          <p:nvPr/>
        </p:nvSpPr>
        <p:spPr>
          <a:xfrm>
            <a:off x="7955280" y="1874611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buNone/>
            </a:pPr>
            <a:r>
              <a:rPr lang="en" sz="4000" b="1" i="0" spc="-80" dirty="0">
                <a:solidFill>
                  <a:srgbClr val="C9F26B"/>
                </a:solidFill>
                <a:latin typeface="+mj-lt"/>
                <a:ea typeface="+mj-lt"/>
                <a:cs typeface="+mj-lt"/>
              </a:rPr>
              <a:t>50K</a:t>
            </a:r>
            <a:endParaRPr lang="en" sz="4000" dirty="0"/>
          </a:p>
        </p:txBody>
      </p:sp>
      <p:sp>
        <p:nvSpPr>
          <p:cNvPr id="9" name="text8"/>
          <p:cNvSpPr txBox="1"/>
          <p:nvPr/>
        </p:nvSpPr>
        <p:spPr>
          <a:xfrm>
            <a:off x="9646920" y="1874611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app installs</a:t>
            </a:r>
            <a:endParaRPr lang="en" sz="1400" dirty="0"/>
          </a:p>
        </p:txBody>
      </p:sp>
      <p:sp>
        <p:nvSpPr>
          <p:cNvPr id="10" name="free9-surface"/>
          <p:cNvSpPr/>
          <p:nvPr/>
        </p:nvSpPr>
        <p:spPr>
          <a:xfrm>
            <a:off x="7680960" y="2898648"/>
            <a:ext cx="4053535" cy="1060704"/>
          </a:xfrm>
          <a:prstGeom prst="roundRect">
            <a:avLst>
              <a:gd name="adj" fmla="val 14368"/>
            </a:avLst>
          </a:prstGeom>
          <a:solidFill>
            <a:schemeClr val="accent4"/>
          </a:solidFill>
          <a:ln>
            <a:noFill/>
          </a:ln>
        </p:spPr>
      </p:sp>
      <p:sp>
        <p:nvSpPr>
          <p:cNvPr id="11" name="text10"/>
          <p:cNvSpPr txBox="1"/>
          <p:nvPr/>
        </p:nvSpPr>
        <p:spPr>
          <a:xfrm>
            <a:off x="7955280" y="3081528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buNone/>
            </a:pPr>
            <a:r>
              <a:rPr lang="en" sz="4000" b="1" i="0" spc="-80" dirty="0">
                <a:solidFill>
                  <a:srgbClr val="C9F26B"/>
                </a:solidFill>
                <a:latin typeface="+mj-lt"/>
                <a:ea typeface="+mj-lt"/>
                <a:cs typeface="+mj-lt"/>
              </a:rPr>
              <a:t>4.5</a:t>
            </a:r>
            <a:endParaRPr lang="en" sz="4000" dirty="0"/>
          </a:p>
        </p:txBody>
      </p:sp>
      <p:sp>
        <p:nvSpPr>
          <p:cNvPr id="12" name="text11"/>
          <p:cNvSpPr txBox="1"/>
          <p:nvPr/>
        </p:nvSpPr>
        <p:spPr>
          <a:xfrm>
            <a:off x="9646920" y="3081528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average star rating in the stores</a:t>
            </a:r>
            <a:endParaRPr lang="en" sz="1400" dirty="0"/>
          </a:p>
        </p:txBody>
      </p:sp>
      <p:sp>
        <p:nvSpPr>
          <p:cNvPr id="13" name="free12-surface"/>
          <p:cNvSpPr/>
          <p:nvPr/>
        </p:nvSpPr>
        <p:spPr>
          <a:xfrm>
            <a:off x="7680960" y="4105656"/>
            <a:ext cx="4053535" cy="1060704"/>
          </a:xfrm>
          <a:prstGeom prst="roundRect">
            <a:avLst>
              <a:gd name="adj" fmla="val 14368"/>
            </a:avLst>
          </a:prstGeom>
          <a:solidFill>
            <a:schemeClr val="accent4"/>
          </a:solidFill>
          <a:ln>
            <a:noFill/>
          </a:ln>
        </p:spPr>
      </p:sp>
      <p:sp>
        <p:nvSpPr>
          <p:cNvPr id="14" name="text13"/>
          <p:cNvSpPr txBox="1"/>
          <p:nvPr/>
        </p:nvSpPr>
        <p:spPr>
          <a:xfrm>
            <a:off x="7955280" y="4288536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buNone/>
            </a:pPr>
            <a:r>
              <a:rPr lang="en" sz="4000" b="1" i="0" spc="-80" dirty="0">
                <a:solidFill>
                  <a:srgbClr val="C9F26B"/>
                </a:solidFill>
                <a:latin typeface="+mj-lt"/>
                <a:ea typeface="+mj-lt"/>
                <a:cs typeface="+mj-lt"/>
              </a:rPr>
              <a:t>25%</a:t>
            </a:r>
            <a:endParaRPr lang="en" sz="4000" dirty="0"/>
          </a:p>
        </p:txBody>
      </p:sp>
      <p:sp>
        <p:nvSpPr>
          <p:cNvPr id="15" name="text14"/>
          <p:cNvSpPr txBox="1"/>
          <p:nvPr/>
        </p:nvSpPr>
        <p:spPr>
          <a:xfrm>
            <a:off x="9646920" y="4288536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of new users still active in week 4</a:t>
            </a:r>
            <a:endParaRPr lang="en" sz="1400" dirty="0"/>
          </a:p>
        </p:txBody>
      </p:sp>
      <p:sp>
        <p:nvSpPr>
          <p:cNvPr id="16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486400"/>
            <a:ext cx="6675120" cy="109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7" name="text16"/>
          <p:cNvSpPr txBox="1"/>
          <p:nvPr/>
        </p:nvSpPr>
        <p:spPr>
          <a:xfrm>
            <a:off x="457200" y="559612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1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Next review: April 15</a:t>
            </a:r>
            <a:r>
              <a:rPr lang="en" sz="1350" b="0" i="0" dirty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, 30 days after launch, against these three goals.</a:t>
            </a:r>
            <a:endParaRPr lang="en" sz="1350" dirty="0"/>
          </a:p>
        </p:txBody>
      </p:sp>
      <p:sp>
        <p:nvSpPr>
          <p:cNvPr id="18" name="text17"/>
          <p:cNvSpPr txBox="1"/>
          <p:nvPr/>
        </p:nvSpPr>
        <p:spPr>
          <a:xfrm>
            <a:off x="457200" y="62179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CFE5D8"/>
                </a:solidFill>
                <a:latin typeface="+mn-lt"/>
                <a:ea typeface="+mn-lt"/>
                <a:cs typeface="+mn-lt"/>
              </a:rPr>
              <a:t>Fern — Launch plan  ·  Illustrative demo</a:t>
            </a:r>
            <a:endParaRPr lang="en" sz="1000" dirty="0"/>
          </a:p>
        </p:txBody>
      </p:sp>
      <p:sp>
        <p:nvSpPr>
          <p:cNvPr id="19" name="text18"/>
          <p:cNvSpPr txBox="1"/>
          <p:nvPr/>
        </p:nvSpPr>
        <p:spPr>
          <a:xfrm>
            <a:off x="10360152" y="62179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CFE5D8"/>
                </a:solidFill>
                <a:latin typeface="+mn-lt"/>
                <a:ea typeface="+mn-lt"/>
                <a:cs typeface="+mn-lt"/>
              </a:rPr>
              <a:t>05 / 05</a:t>
            </a:r>
            <a:endParaRPr lang="e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n — Launch plan">
  <a:themeElements>
    <a:clrScheme name="Fern — Launch plan">
      <a:dk1>
        <a:srgbClr val="10261D"/>
      </a:dk1>
      <a:lt1>
        <a:srgbClr val="F6F4EE"/>
      </a:lt1>
      <a:dk2>
        <a:srgbClr val="5B6A62"/>
      </a:dk2>
      <a:lt2>
        <a:srgbClr val="FFFFFF"/>
      </a:lt2>
      <a:accent1>
        <a:srgbClr val="1E6B4A"/>
      </a:accent1>
      <a:accent2>
        <a:srgbClr val="5FAE7E"/>
      </a:accent2>
      <a:accent3>
        <a:srgbClr val="123526"/>
      </a:accent3>
      <a:accent4>
        <a:srgbClr val="1B4734"/>
      </a:accent4>
      <a:accent5>
        <a:srgbClr val="2E5E48"/>
      </a:accent5>
      <a:accent6>
        <a:srgbClr val="2F7A51"/>
      </a:accent6>
      <a:hlink>
        <a:srgbClr val="1E6B4A"/>
      </a:hlink>
      <a:folHlink>
        <a:srgbClr val="5B6A62"/>
      </a:folHlink>
    </a:clrScheme>
    <a:fontScheme name="Fern — Launch plan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Fern — Launch plan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teal">
      <a:srgbClr val="1F7273"/>
    </a:custClr>
    <a:custClr name="lime">
      <a:srgbClr val="C9F26B"/>
    </a:custClr>
    <a:custClr name="mint">
      <a:srgbClr val="E2F1E7"/>
    </a:custClr>
    <a:custClr name="mintText">
      <a:srgbClr val="CFE5D8"/>
    </a:custClr>
    <a:custClr name="sand">
      <a:srgbClr val="CFC7B4"/>
    </a:custClr>
    <a:custClr name="track">
      <a:srgbClr val="E7E3D8"/>
    </a:custClr>
    <a:custClr name="laneBg">
      <a:srgbClr val="EFECE3"/>
    </a:custClr>
    <a:custClr name="planned">
      <a:srgbClr val="B9B3A4"/>
    </a:custClr>
    <a:custClr name="coral">
      <a:srgbClr val="BC3C25"/>
    </a:custClr>
    <a:custClr name="coralSoft">
      <a:srgbClr val="FBE4DD"/>
    </a:custClr>
    <a:custClr name="amberText">
      <a:srgbClr val="8A5A00"/>
    </a:custClr>
    <a:custClr name="amberSoft">
      <a:srgbClr val="FAEFD2"/>
    </a:custClr>
  </a:custClrLst>
</a:theme>
</file>

<file path=ppt/theme/theme2.xml><?xml version="1.0" encoding="utf-8"?>
<a:theme xmlns:a="http://schemas.openxmlformats.org/drawingml/2006/main" name="Notes">
  <a:themeElements>
    <a:clrScheme name="Notes">
      <a:dk1>
        <a:srgbClr val="10261D"/>
      </a:dk1>
      <a:lt1>
        <a:srgbClr val="F6F4EE"/>
      </a:lt1>
      <a:dk2>
        <a:srgbClr val="5B6A62"/>
      </a:dk2>
      <a:lt2>
        <a:srgbClr val="FFFFFF"/>
      </a:lt2>
      <a:accent1>
        <a:srgbClr val="1E6B4A"/>
      </a:accent1>
      <a:accent2>
        <a:srgbClr val="5FAE7E"/>
      </a:accent2>
      <a:accent3>
        <a:srgbClr val="123526"/>
      </a:accent3>
      <a:accent4>
        <a:srgbClr val="1B4734"/>
      </a:accent4>
      <a:accent5>
        <a:srgbClr val="2E5E48"/>
      </a:accent5>
      <a:accent6>
        <a:srgbClr val="2F7A51"/>
      </a:accent6>
      <a:hlink>
        <a:srgbClr val="1E6B4A"/>
      </a:hlink>
      <a:folHlink>
        <a:srgbClr val="5B6A62"/>
      </a:folHlink>
    </a:clrScheme>
    <a:fontScheme name="Note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Notes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teal">
      <a:srgbClr val="1F7273"/>
    </a:custClr>
    <a:custClr name="lime">
      <a:srgbClr val="C9F26B"/>
    </a:custClr>
    <a:custClr name="mint">
      <a:srgbClr val="E2F1E7"/>
    </a:custClr>
    <a:custClr name="mintText">
      <a:srgbClr val="CFE5D8"/>
    </a:custClr>
    <a:custClr name="sand">
      <a:srgbClr val="CFC7B4"/>
    </a:custClr>
    <a:custClr name="track">
      <a:srgbClr val="E7E3D8"/>
    </a:custClr>
    <a:custClr name="laneBg">
      <a:srgbClr val="EFECE3"/>
    </a:custClr>
    <a:custClr name="planned">
      <a:srgbClr val="B9B3A4"/>
    </a:custClr>
    <a:custClr name="coral">
      <a:srgbClr val="BC3C25"/>
    </a:custClr>
    <a:custClr name="coralSoft">
      <a:srgbClr val="FBE4DD"/>
    </a:custClr>
    <a:custClr name="amberText">
      <a:srgbClr val="8A5A00"/>
    </a:custClr>
    <a:custClr name="amberSoft">
      <a:srgbClr val="FAEFD2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 Agent</Application>
  <Slides>5</Slides>
  <Notes>1</Notes>
  <HiddenSlides>0</HiddenSlides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Fern — Launch plan</dc:title>
  <dc:language>en</dc:language>
  <dcterms:created xsi:type="dcterms:W3CDTF">2026-10-03T02:18:03Z</dcterms:created>
  <dcterms:modified xsi:type="dcterms:W3CDTF">2026-10-03T02:18:03Z</dcterms:modified>
</cp:coreProperties>
</file>