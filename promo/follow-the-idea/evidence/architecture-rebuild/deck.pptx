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Helvetica Neue"/>
      <p:regular r:id="rId15"/>
      <p:bold r:id="rId12"/>
      <p:italic r:id="rId14"/>
      <p:boldItalic r:id="rId13"/>
    </p:embeddedFont>
    <p:embeddedFont>
      <p:font typeface="Menlo"/>
      <p:regular r:id="rId19"/>
      <p:bold r:id="rId16"/>
      <p:italic r:id="rId18"/>
      <p:boldItalic r:id="rId17"/>
    </p:embeddedFont>
  </p:embeddedFontLst>
  <p:defaultText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1042416" y="685800"/>
            <a:ext cx="4773168" cy="26883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3"/>
          </p:nvPr>
        </p:nvSpPr>
        <p:spPr>
          <a:xfrm>
            <a:off x="685800" y="3657600"/>
            <a:ext cx="5486400" cy="429768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Technical architecture: grouped system boundaries, orthogonal routed wiring, domain colour coding, icons, an infrastructure layer.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Every production request is traceable and bounded.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Retrieval preserves tenant permissions and citations.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Identity, execution and audit form explicit trust boundaries.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Canary releases and SLOs close the operating loop.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645920"/>
            <a:ext cx="11277600" cy="47548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idx="11"/>
          </p:nvPr>
        </p:nvSpPr>
        <p:spPr>
          <a:xfrm>
            <a:off x="457200" y="6492240"/>
            <a:ext cx="676656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12"/>
          </p:nvPr>
        </p:nvSpPr>
        <p:spPr>
          <a:xfrm>
            <a:off x="11003280" y="6492240"/>
            <a:ext cx="731520" cy="274320"/>
          </a:xfrm>
        </p:spPr>
        <p:txBody>
          <a:bodyPr/>
          <a:lstStyle/>
          <a:p>
            <a:pPr algn="r"/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ure1-gradient-wash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A78BFA">
                  <a:alpha val="8000"/>
                </a:srgbClr>
              </a:gs>
            </a:gsLst>
            <a:lin ang="18900000" scaled="0"/>
          </a:gradFill>
          <a:ln>
            <a:noFill/>
          </a:ln>
        </p:spPr>
      </p:sp>
      <p:sp>
        <p:nvSpPr>
          <p:cNvPr id="3" name="texture2-line-gri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4" name="texture2-line-grid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5" name="texture2-line-grid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6" name="texture2-line-grid-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7" name="texture2-line-grid-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8" name="texture2-line-grid-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9" name="texture2-line-grid-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0" name="texture2-line-grid-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1" name="texture2-line-grid-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2" name="texture2-line-grid-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3" name="texture2-line-grid-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4" name="texture2-line-grid-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5" name="texture2-line-grid-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6" name="texture2-line-grid-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7" name="texture2-line-grid-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8" name="texture2-line-grid-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19" name="texture2-line-grid-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0" name="texture2-line-grid-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1" name="texture2-line-grid-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2" name="texture2-line-grid-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3" name="texture2-line-grid-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4" name="texture2-line-grid-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5" name="texture2-line-grid-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6" name="texture2-line-grid-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7" name="texture2-line-grid-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0" y="1371600"/>
            <a:ext cx="6309" cy="5029200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8" name="texture2-line-grid-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29" name="texture2-line-grid-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288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0" name="texture2-line-grid-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860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1" name="texture2-line-grid-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432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2" name="texture2-line-grid-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004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3" name="texture2-line-grid-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576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4" name="texture2-line-grid-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1148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5" name="texture2-line-grid-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5720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6" name="texture2-line-grid-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0292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7" name="texture2-line-grid-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4864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8" name="texture2-line-grid-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943600"/>
            <a:ext cx="11277295" cy="6309"/>
          </a:xfrm>
          <a:prstGeom prst="rect">
            <a:avLst/>
          </a:prstGeom>
          <a:solidFill>
            <a:srgbClr val="1A2442">
              <a:alpha val="18000"/>
            </a:srgbClr>
          </a:solidFill>
          <a:ln>
            <a:noFill/>
          </a:ln>
        </p:spPr>
      </p:sp>
      <p:sp>
        <p:nvSpPr>
          <p:cNvPr id="39" name="text3"/>
          <p:cNvSpPr>
            <a:spLocks noGrp="1"/>
          </p:cNvSpPr>
          <p:nvPr>
            <p:ph type="title"/>
          </p:nvPr>
        </p:nvSpPr>
        <p:spPr>
          <a:xfrm>
            <a:off x="457200" y="420624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940"/>
              </a:lnSpc>
              <a:spcBef>
                <a:spcPts val="0"/>
              </a:spcBef>
              <a:buNone/>
            </a:pPr>
            <a:r>
              <a:rPr lang="en" sz="2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AI Platform — Production Architecture</a:t>
            </a:r>
            <a:endParaRPr lang="en" sz="2800" dirty="0"/>
          </a:p>
        </p:txBody>
      </p:sp>
      <p:sp>
        <p:nvSpPr>
          <p:cNvPr id="40" name="text4"/>
          <p:cNvSpPr txBox="1"/>
          <p:nvPr/>
        </p:nvSpPr>
        <p:spPr>
          <a:xfrm>
            <a:off x="457200" y="90525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Scalable, secure and modular architecture for AI-powered applications</a:t>
            </a:r>
            <a:endParaRPr lang="en" sz="1300" dirty="0"/>
          </a:p>
        </p:txBody>
      </p:sp>
      <p:sp>
        <p:nvSpPr>
          <p:cNvPr id="41" name="text5"/>
          <p:cNvSpPr txBox="1"/>
          <p:nvPr/>
        </p:nvSpPr>
        <p:spPr>
          <a:xfrm>
            <a:off x="8229600" y="457200"/>
            <a:ext cx="35048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200" dirty="0">
                <a:solidFill>
                  <a:schemeClr val="accent1"/>
                </a:solidFill>
                <a:latin typeface="Menlo"/>
                <a:ea typeface="Menlo"/>
                <a:cs typeface="Menlo"/>
              </a:rPr>
              <a:t>ARCHITECTURE REVIEW</a:t>
            </a:r>
            <a:endParaRPr lang="en" sz="1000" dirty="0"/>
          </a:p>
        </p:txBody>
      </p:sp>
      <p:sp>
        <p:nvSpPr>
          <p:cNvPr id="42" name="text6"/>
          <p:cNvSpPr txBox="1"/>
          <p:nvPr/>
        </p:nvSpPr>
        <p:spPr>
          <a:xfrm>
            <a:off x="8229600" y="685800"/>
            <a:ext cx="35048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Menlo"/>
                <a:ea typeface="Menlo"/>
                <a:cs typeface="Menlo"/>
              </a:rPr>
              <a:t>rev 2.3  ·  prod / us-east-1</a:t>
            </a:r>
            <a:endParaRPr lang="en" sz="1000" dirty="0"/>
          </a:p>
        </p:txBody>
      </p:sp>
      <p:sp>
        <p:nvSpPr>
          <p:cNvPr id="43" name="shape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065276"/>
            <a:ext cx="82296" cy="822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4" name="text8"/>
          <p:cNvSpPr txBox="1"/>
          <p:nvPr/>
        </p:nvSpPr>
        <p:spPr>
          <a:xfrm>
            <a:off x="8403427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Request path</a:t>
            </a:r>
            <a:endParaRPr lang="en" sz="1000" dirty="0"/>
          </a:p>
        </p:txBody>
      </p:sp>
      <p:sp>
        <p:nvSpPr>
          <p:cNvPr id="45" name="shape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411" y="1065276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46" name="text10"/>
          <p:cNvSpPr txBox="1"/>
          <p:nvPr/>
        </p:nvSpPr>
        <p:spPr>
          <a:xfrm>
            <a:off x="9546336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AI runtime</a:t>
            </a:r>
            <a:endParaRPr lang="en" sz="1000" dirty="0"/>
          </a:p>
        </p:txBody>
      </p:sp>
      <p:sp>
        <p:nvSpPr>
          <p:cNvPr id="47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1320" y="106527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8" name="text12"/>
          <p:cNvSpPr txBox="1"/>
          <p:nvPr/>
        </p:nvSpPr>
        <p:spPr>
          <a:xfrm>
            <a:off x="10689336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Data plane</a:t>
            </a:r>
            <a:endParaRPr lang="en" sz="1000" dirty="0"/>
          </a:p>
        </p:txBody>
      </p:sp>
      <p:sp>
        <p:nvSpPr>
          <p:cNvPr id="49" name="shape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3040" y="2395728"/>
            <a:ext cx="1609344" cy="2176272"/>
          </a:xfrm>
          <a:prstGeom prst="roundRect">
            <a:avLst>
              <a:gd name="adj" fmla="val 9470"/>
            </a:avLst>
          </a:prstGeom>
          <a:solidFill>
            <a:schemeClr val="accent4">
              <a:alpha val="55000"/>
            </a:schemeClr>
          </a:solidFill>
          <a:ln w="12700">
            <a:solidFill>
              <a:schemeClr val="accent6"/>
            </a:solidFill>
          </a:ln>
        </p:spPr>
      </p:sp>
      <p:sp>
        <p:nvSpPr>
          <p:cNvPr id="50" name="text14"/>
          <p:cNvSpPr txBox="1"/>
          <p:nvPr/>
        </p:nvSpPr>
        <p:spPr>
          <a:xfrm>
            <a:off x="1591056" y="245059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chemeClr val="tx2"/>
                </a:solidFill>
                <a:latin typeface="Menlo"/>
                <a:ea typeface="Menlo"/>
                <a:cs typeface="Menlo"/>
              </a:rPr>
              <a:t>CLIENTS</a:t>
            </a:r>
            <a:endParaRPr lang="en" sz="1000" dirty="0"/>
          </a:p>
        </p:txBody>
      </p:sp>
      <p:sp>
        <p:nvSpPr>
          <p:cNvPr id="51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783080"/>
            <a:ext cx="3931920" cy="3291840"/>
          </a:xfrm>
          <a:prstGeom prst="roundRect">
            <a:avLst>
              <a:gd name="adj" fmla="val 4630"/>
            </a:avLst>
          </a:prstGeom>
          <a:solidFill>
            <a:schemeClr val="accent4">
              <a:alpha val="55000"/>
            </a:schemeClr>
          </a:solidFill>
          <a:ln w="12700">
            <a:solidFill>
              <a:schemeClr val="accent6"/>
            </a:solidFill>
          </a:ln>
        </p:spPr>
      </p:sp>
      <p:sp>
        <p:nvSpPr>
          <p:cNvPr id="52" name="text16"/>
          <p:cNvSpPr txBox="1"/>
          <p:nvPr/>
        </p:nvSpPr>
        <p:spPr>
          <a:xfrm>
            <a:off x="4974336" y="1837944"/>
            <a:ext cx="36758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chemeClr val="tx2"/>
                </a:solidFill>
                <a:latin typeface="Menlo"/>
                <a:ea typeface="Menlo"/>
                <a:cs typeface="Menlo"/>
              </a:rPr>
              <a:t>CORE SERVICES  ·  ns/platform</a:t>
            </a:r>
            <a:endParaRPr lang="en" sz="1000" dirty="0"/>
          </a:p>
        </p:txBody>
      </p:sp>
      <p:sp>
        <p:nvSpPr>
          <p:cNvPr id="53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1417320"/>
            <a:ext cx="2727655" cy="1929384"/>
          </a:xfrm>
          <a:prstGeom prst="roundRect">
            <a:avLst>
              <a:gd name="adj" fmla="val 7899"/>
            </a:avLst>
          </a:prstGeom>
          <a:solidFill>
            <a:schemeClr val="accent4">
              <a:alpha val="55000"/>
            </a:schemeClr>
          </a:solidFill>
          <a:ln w="12700">
            <a:solidFill>
              <a:srgbClr val="433779"/>
            </a:solidFill>
          </a:ln>
        </p:spPr>
      </p:sp>
      <p:sp>
        <p:nvSpPr>
          <p:cNvPr id="54" name="text18"/>
          <p:cNvSpPr txBox="1"/>
          <p:nvPr/>
        </p:nvSpPr>
        <p:spPr>
          <a:xfrm>
            <a:off x="9134856" y="1472184"/>
            <a:ext cx="24717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A78BFA"/>
                </a:solidFill>
                <a:latin typeface="Menlo"/>
                <a:ea typeface="Menlo"/>
                <a:cs typeface="Menlo"/>
              </a:rPr>
              <a:t>AI RUNTIME</a:t>
            </a:r>
            <a:endParaRPr lang="en" sz="1000" dirty="0"/>
          </a:p>
        </p:txBody>
      </p:sp>
      <p:sp>
        <p:nvSpPr>
          <p:cNvPr id="55" name="shape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3529584"/>
            <a:ext cx="2727655" cy="1920240"/>
          </a:xfrm>
          <a:prstGeom prst="roundRect">
            <a:avLst>
              <a:gd name="adj" fmla="val 7937"/>
            </a:avLst>
          </a:prstGeom>
          <a:solidFill>
            <a:schemeClr val="accent4">
              <a:alpha val="55000"/>
            </a:schemeClr>
          </a:solidFill>
          <a:ln w="12700">
            <a:solidFill>
              <a:srgbClr val="1A5552"/>
            </a:solidFill>
          </a:ln>
        </p:spPr>
      </p:sp>
      <p:sp>
        <p:nvSpPr>
          <p:cNvPr id="56" name="text20"/>
          <p:cNvSpPr txBox="1"/>
          <p:nvPr/>
        </p:nvSpPr>
        <p:spPr>
          <a:xfrm>
            <a:off x="9134856" y="3584448"/>
            <a:ext cx="24717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2DD4BF"/>
                </a:solidFill>
                <a:latin typeface="Menlo"/>
                <a:ea typeface="Menlo"/>
                <a:cs typeface="Menlo"/>
              </a:rPr>
              <a:t>DATA PLANE</a:t>
            </a:r>
            <a:endParaRPr lang="en" sz="1000" dirty="0"/>
          </a:p>
        </p:txBody>
      </p:sp>
      <p:sp>
        <p:nvSpPr>
          <p:cNvPr id="57" name="text21"/>
          <p:cNvSpPr txBox="1"/>
          <p:nvPr/>
        </p:nvSpPr>
        <p:spPr>
          <a:xfrm>
            <a:off x="3291840" y="277977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chemeClr val="tx2"/>
                </a:solidFill>
                <a:latin typeface="Menlo"/>
                <a:ea typeface="Menlo"/>
                <a:cs typeface="Menlo"/>
              </a:rPr>
              <a:t>EDGE</a:t>
            </a:r>
            <a:endParaRPr lang="en" sz="1000" dirty="0"/>
          </a:p>
        </p:txBody>
      </p:sp>
      <p:sp>
        <p:nvSpPr>
          <p:cNvPr id="58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4440" y="3512485"/>
            <a:ext cx="11887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59" name="shape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45448" y="3017520"/>
            <a:ext cx="15911" cy="100584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0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53312" y="3009565"/>
            <a:ext cx="16459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1" name="shape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04188" y="297637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2" name="shape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53312" y="4015405"/>
            <a:ext cx="16459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3" name="shape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04188" y="398221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0088" y="3009565"/>
            <a:ext cx="16459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5" name="shape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0088" y="4015405"/>
            <a:ext cx="16459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6" name="shape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6725" y="3017520"/>
            <a:ext cx="15911" cy="100584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7" name="shape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3512485"/>
            <a:ext cx="82296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68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351" y="347929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9" name="shape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512485"/>
            <a:ext cx="356616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0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91" y="347929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512485"/>
            <a:ext cx="164592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2" name="shape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1808" y="2386584"/>
            <a:ext cx="15911" cy="225856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3" name="shape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2378629"/>
            <a:ext cx="100584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4" name="shape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2345527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5" name="shape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146816"/>
            <a:ext cx="100584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6" name="shape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311353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7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896533"/>
            <a:ext cx="100584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78" name="shape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3863340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shape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4637197"/>
            <a:ext cx="100584" cy="1581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sp>
      <p:sp>
        <p:nvSpPr>
          <p:cNvPr id="80" name="shape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4604095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1" name="shape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0315" y="2378629"/>
            <a:ext cx="201168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2" name="shape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3528" y="1965960"/>
            <a:ext cx="15911" cy="1060704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3" name="shape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1958096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4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192481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5" name="shape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2488357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6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2455164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7" name="shape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3018709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8" name="shape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2985516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9" name="shape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0315" y="4637197"/>
            <a:ext cx="201168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0" name="shape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3528" y="4069080"/>
            <a:ext cx="15911" cy="1060704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1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4061125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2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402793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3" name="shape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4591477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4" name="shape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4558284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5" name="shape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5121829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6" name="shape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5088636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7" name="column61-surface"/>
          <p:cNvSpPr/>
          <p:nvPr/>
        </p:nvSpPr>
        <p:spPr>
          <a:xfrm>
            <a:off x="457200" y="3063240"/>
            <a:ext cx="777240" cy="914400"/>
          </a:xfrm>
          <a:prstGeom prst="roundRect">
            <a:avLst>
              <a:gd name="adj" fmla="val 16340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98" name="icon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00" y="3256361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</a:path>
              <a:path w="24000" h="24000" fill="none"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</a:path>
              <a:path w="24000" h="24000" fill="none"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</a:path>
              <a:path w="24000" h="24000" fill="none">
                <a:moveTo>
                  <a:pt x="5000" y="7000"/>
                </a:moveTo>
                <a:cubicBezTo>
                  <a:pt x="5000" y="9209"/>
                  <a:pt x="6791" y="11000"/>
                  <a:pt x="9000" y="11000"/>
                </a:cubicBezTo>
                <a:cubicBezTo>
                  <a:pt x="11209" y="11000"/>
                  <a:pt x="13000" y="9209"/>
                  <a:pt x="13000" y="7000"/>
                </a:cubicBezTo>
                <a:cubicBezTo>
                  <a:pt x="13000" y="4791"/>
                  <a:pt x="11209" y="3000"/>
                  <a:pt x="9000" y="3000"/>
                </a:cubicBezTo>
                <a:cubicBezTo>
                  <a:pt x="6791" y="3000"/>
                  <a:pt x="5000" y="4791"/>
                  <a:pt x="5000" y="7000"/>
                </a:cubicBezTo>
                <a:close/>
              </a:path>
            </a:pathLst>
          </a:custGeom>
          <a:noFill/>
          <a:ln w="23287" cap="rnd">
            <a:solidFill>
              <a:schemeClr val="accent1"/>
            </a:solidFill>
            <a:round/>
          </a:ln>
        </p:spPr>
      </p:sp>
      <p:sp>
        <p:nvSpPr>
          <p:cNvPr id="99" name="text63"/>
          <p:cNvSpPr txBox="1"/>
          <p:nvPr/>
        </p:nvSpPr>
        <p:spPr>
          <a:xfrm>
            <a:off x="621792" y="3586551"/>
            <a:ext cx="448147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Users</a:t>
            </a:r>
            <a:endParaRPr lang="en" sz="1200" dirty="0"/>
          </a:p>
        </p:txBody>
      </p:sp>
      <p:sp>
        <p:nvSpPr>
          <p:cNvPr id="100" name="row64-surface"/>
          <p:cNvSpPr/>
          <p:nvPr/>
        </p:nvSpPr>
        <p:spPr>
          <a:xfrm>
            <a:off x="1572768" y="2743200"/>
            <a:ext cx="1417320" cy="548549"/>
          </a:xfrm>
          <a:prstGeom prst="roundRect">
            <a:avLst>
              <a:gd name="adj" fmla="val 18522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101" name="icon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7068" y="291593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</a:path>
              <a:path w="24000" h="24000" fill="none">
                <a:moveTo>
                  <a:pt x="8000" y="21000"/>
                </a:moveTo>
                <a:lnTo>
                  <a:pt x="16000" y="21000"/>
                </a:lnTo>
              </a:path>
              <a:path w="24000" h="24000" fill="none"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16932" cap="rnd">
            <a:solidFill>
              <a:schemeClr val="accent1"/>
            </a:solidFill>
            <a:round/>
          </a:ln>
        </p:spPr>
      </p:sp>
      <p:sp>
        <p:nvSpPr>
          <p:cNvPr id="102" name="text67"/>
          <p:cNvSpPr txBox="1"/>
          <p:nvPr/>
        </p:nvSpPr>
        <p:spPr>
          <a:xfrm>
            <a:off x="1991838" y="2832720"/>
            <a:ext cx="883950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Web app</a:t>
            </a:r>
            <a:endParaRPr lang="en" sz="1200" dirty="0"/>
          </a:p>
        </p:txBody>
      </p:sp>
      <p:sp>
        <p:nvSpPr>
          <p:cNvPr id="103" name="text68"/>
          <p:cNvSpPr txBox="1"/>
          <p:nvPr/>
        </p:nvSpPr>
        <p:spPr>
          <a:xfrm>
            <a:off x="1991838" y="3043580"/>
            <a:ext cx="88395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React · Next.js</a:t>
            </a:r>
            <a:endParaRPr lang="en" sz="1000" dirty="0"/>
          </a:p>
        </p:txBody>
      </p:sp>
      <p:sp>
        <p:nvSpPr>
          <p:cNvPr id="104" name="row69-surface"/>
          <p:cNvSpPr/>
          <p:nvPr/>
        </p:nvSpPr>
        <p:spPr>
          <a:xfrm>
            <a:off x="1572768" y="3749040"/>
            <a:ext cx="1417320" cy="548549"/>
          </a:xfrm>
          <a:prstGeom prst="roundRect">
            <a:avLst>
              <a:gd name="adj" fmla="val 18522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105" name="icon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7068" y="392177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</a:path>
              <a:path w="24000" h="24000" fill="none"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16932" cap="rnd">
            <a:solidFill>
              <a:schemeClr val="accent1"/>
            </a:solidFill>
            <a:round/>
          </a:ln>
        </p:spPr>
      </p:sp>
      <p:sp>
        <p:nvSpPr>
          <p:cNvPr id="106" name="text72"/>
          <p:cNvSpPr txBox="1"/>
          <p:nvPr/>
        </p:nvSpPr>
        <p:spPr>
          <a:xfrm>
            <a:off x="1991838" y="3838560"/>
            <a:ext cx="883950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Mobile app</a:t>
            </a:r>
            <a:endParaRPr lang="en" sz="1200" dirty="0"/>
          </a:p>
        </p:txBody>
      </p:sp>
      <p:sp>
        <p:nvSpPr>
          <p:cNvPr id="107" name="text73"/>
          <p:cNvSpPr txBox="1"/>
          <p:nvPr/>
        </p:nvSpPr>
        <p:spPr>
          <a:xfrm>
            <a:off x="1991838" y="4049420"/>
            <a:ext cx="88395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iOS · Android</a:t>
            </a:r>
            <a:endParaRPr lang="en" sz="1000" dirty="0"/>
          </a:p>
        </p:txBody>
      </p:sp>
      <p:sp>
        <p:nvSpPr>
          <p:cNvPr id="108" name="column74-surface"/>
          <p:cNvSpPr/>
          <p:nvPr/>
        </p:nvSpPr>
        <p:spPr>
          <a:xfrm>
            <a:off x="3291840" y="3017520"/>
            <a:ext cx="1280160" cy="1005840"/>
          </a:xfrm>
          <a:prstGeom prst="roundRect">
            <a:avLst>
              <a:gd name="adj" fmla="val 12626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109" name="icon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2200" y="3093690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586" y="5414"/>
                </a:moveTo>
                <a:lnTo>
                  <a:pt x="5414" y="10586"/>
                </a:lnTo>
              </a:path>
              <a:path w="24000" h="24000" fill="none">
                <a:moveTo>
                  <a:pt x="18586" y="13414"/>
                </a:moveTo>
                <a:lnTo>
                  <a:pt x="13414" y="18586"/>
                </a:lnTo>
              </a:path>
              <a:path w="24000" h="24000" fill="none">
                <a:moveTo>
                  <a:pt x="6000" y="12000"/>
                </a:moveTo>
                <a:lnTo>
                  <a:pt x="18000" y="12000"/>
                </a:lnTo>
              </a:path>
              <a:path w="24000" h="24000" fill="none">
                <a:moveTo>
                  <a:pt x="10000" y="20000"/>
                </a:moveTo>
                <a:cubicBezTo>
                  <a:pt x="10000" y="21105"/>
                  <a:pt x="10895" y="22000"/>
                  <a:pt x="12000" y="22000"/>
                </a:cubicBezTo>
                <a:cubicBezTo>
                  <a:pt x="13105" y="22000"/>
                  <a:pt x="14000" y="21105"/>
                  <a:pt x="14000" y="20000"/>
                </a:cubicBezTo>
                <a:cubicBezTo>
                  <a:pt x="14000" y="18895"/>
                  <a:pt x="13105" y="18000"/>
                  <a:pt x="12000" y="18000"/>
                </a:cubicBezTo>
                <a:cubicBezTo>
                  <a:pt x="10895" y="18000"/>
                  <a:pt x="10000" y="18895"/>
                  <a:pt x="10000" y="20000"/>
                </a:cubicBezTo>
                <a:close/>
              </a:path>
              <a:path w="24000" h="24000" fill="none">
                <a:moveTo>
                  <a:pt x="10000" y="4000"/>
                </a:moveTo>
                <a:cubicBezTo>
                  <a:pt x="10000" y="5105"/>
                  <a:pt x="10895" y="6000"/>
                  <a:pt x="12000" y="6000"/>
                </a:cubicBezTo>
                <a:cubicBezTo>
                  <a:pt x="13105" y="6000"/>
                  <a:pt x="14000" y="5105"/>
                  <a:pt x="14000" y="4000"/>
                </a:cubicBezTo>
                <a:cubicBezTo>
                  <a:pt x="14000" y="2895"/>
                  <a:pt x="13105" y="2000"/>
                  <a:pt x="12000" y="2000"/>
                </a:cubicBezTo>
                <a:cubicBezTo>
                  <a:pt x="10895" y="2000"/>
                  <a:pt x="10000" y="2895"/>
                  <a:pt x="10000" y="4000"/>
                </a:cubicBezTo>
                <a:close/>
              </a:path>
              <a:path w="24000" h="24000" fill="none">
                <a:moveTo>
                  <a:pt x="18000" y="12000"/>
                </a:moveTo>
                <a:cubicBezTo>
                  <a:pt x="18000" y="13105"/>
                  <a:pt x="18895" y="14000"/>
                  <a:pt x="20000" y="14000"/>
                </a:cubicBezTo>
                <a:cubicBezTo>
                  <a:pt x="21105" y="14000"/>
                  <a:pt x="22000" y="13105"/>
                  <a:pt x="22000" y="12000"/>
                </a:cubicBezTo>
                <a:cubicBezTo>
                  <a:pt x="22000" y="10895"/>
                  <a:pt x="21105" y="10000"/>
                  <a:pt x="20000" y="10000"/>
                </a:cubicBezTo>
                <a:cubicBezTo>
                  <a:pt x="18895" y="10000"/>
                  <a:pt x="18000" y="10895"/>
                  <a:pt x="18000" y="12000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2000" y="13105"/>
                  <a:pt x="2895" y="14000"/>
                  <a:pt x="4000" y="14000"/>
                </a:cubicBezTo>
                <a:cubicBezTo>
                  <a:pt x="5105" y="14000"/>
                  <a:pt x="6000" y="13105"/>
                  <a:pt x="6000" y="12000"/>
                </a:cubicBezTo>
                <a:cubicBezTo>
                  <a:pt x="6000" y="10895"/>
                  <a:pt x="5105" y="10000"/>
                  <a:pt x="4000" y="10000"/>
                </a:cubicBezTo>
                <a:cubicBezTo>
                  <a:pt x="2895" y="10000"/>
                  <a:pt x="2000" y="10895"/>
                  <a:pt x="2000" y="12000"/>
                </a:cubicBezTo>
                <a:close/>
              </a:path>
            </a:pathLst>
          </a:custGeom>
          <a:noFill/>
          <a:ln w="23287" cap="rnd">
            <a:solidFill>
              <a:schemeClr val="accent1"/>
            </a:solidFill>
            <a:round/>
          </a:ln>
        </p:spPr>
      </p:sp>
      <p:sp>
        <p:nvSpPr>
          <p:cNvPr id="110" name="text76"/>
          <p:cNvSpPr txBox="1"/>
          <p:nvPr/>
        </p:nvSpPr>
        <p:spPr>
          <a:xfrm>
            <a:off x="3451586" y="3423879"/>
            <a:ext cx="960669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API Gateway</a:t>
            </a:r>
            <a:endParaRPr lang="en" sz="1200" dirty="0"/>
          </a:p>
        </p:txBody>
      </p:sp>
      <p:sp>
        <p:nvSpPr>
          <p:cNvPr id="111" name="text77"/>
          <p:cNvSpPr txBox="1"/>
          <p:nvPr/>
        </p:nvSpPr>
        <p:spPr>
          <a:xfrm>
            <a:off x="3393430" y="3672870"/>
            <a:ext cx="1076980" cy="31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Routing · rate limits</a:t>
            </a:r>
            <a:endParaRPr lang="en" sz="1000" dirty="0"/>
          </a:p>
        </p:txBody>
      </p:sp>
      <p:sp>
        <p:nvSpPr>
          <p:cNvPr id="112" name="column78-surface"/>
          <p:cNvSpPr/>
          <p:nvPr/>
        </p:nvSpPr>
        <p:spPr>
          <a:xfrm>
            <a:off x="4983480" y="2898648"/>
            <a:ext cx="1371600" cy="1243584"/>
          </a:xfrm>
          <a:prstGeom prst="roundRect">
            <a:avLst>
              <a:gd name="adj" fmla="val 10212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113" name="icon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9560" y="2974818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970" y="12920"/>
                </a:moveTo>
                <a:cubicBezTo>
                  <a:pt x="2369" y="13281"/>
                  <a:pt x="2002" y="13929"/>
                  <a:pt x="2000" y="14630"/>
                </a:cubicBezTo>
                <a:lnTo>
                  <a:pt x="2000" y="17870"/>
                </a:lnTo>
                <a:cubicBezTo>
                  <a:pt x="2002" y="18571"/>
                  <a:pt x="2369" y="19219"/>
                  <a:pt x="2970" y="19580"/>
                </a:cubicBezTo>
                <a:lnTo>
                  <a:pt x="5970" y="21380"/>
                </a:lnTo>
                <a:cubicBezTo>
                  <a:pt x="6604" y="21761"/>
                  <a:pt x="7396" y="21761"/>
                  <a:pt x="8030" y="21380"/>
                </a:cubicBezTo>
                <a:lnTo>
                  <a:pt x="12000" y="19000"/>
                </a:lnTo>
                <a:lnTo>
                  <a:pt x="12000" y="13500"/>
                </a:lnTo>
                <a:lnTo>
                  <a:pt x="7000" y="10500"/>
                </a:lnTo>
                <a:lnTo>
                  <a:pt x="2970" y="12920"/>
                </a:lnTo>
                <a:close/>
              </a:path>
              <a:path w="24000" h="24000" fill="none">
                <a:moveTo>
                  <a:pt x="7000" y="16500"/>
                </a:moveTo>
                <a:lnTo>
                  <a:pt x="2260" y="13650"/>
                </a:lnTo>
              </a:path>
              <a:path w="24000" h="24000" fill="none">
                <a:moveTo>
                  <a:pt x="7000" y="16500"/>
                </a:moveTo>
                <a:lnTo>
                  <a:pt x="12000" y="13500"/>
                </a:lnTo>
              </a:path>
              <a:path w="24000" h="24000" fill="none">
                <a:moveTo>
                  <a:pt x="7000" y="16500"/>
                </a:moveTo>
                <a:lnTo>
                  <a:pt x="7000" y="21670"/>
                </a:lnTo>
              </a:path>
              <a:path w="24000" h="24000" fill="none">
                <a:moveTo>
                  <a:pt x="12000" y="13500"/>
                </a:moveTo>
                <a:lnTo>
                  <a:pt x="12000" y="19000"/>
                </a:lnTo>
                <a:lnTo>
                  <a:pt x="15970" y="21380"/>
                </a:lnTo>
                <a:cubicBezTo>
                  <a:pt x="16604" y="21761"/>
                  <a:pt x="17396" y="21761"/>
                  <a:pt x="18030" y="21380"/>
                </a:cubicBezTo>
                <a:lnTo>
                  <a:pt x="21030" y="19580"/>
                </a:lnTo>
                <a:cubicBezTo>
                  <a:pt x="21631" y="19219"/>
                  <a:pt x="21998" y="18571"/>
                  <a:pt x="22000" y="17870"/>
                </a:cubicBezTo>
                <a:lnTo>
                  <a:pt x="22000" y="14630"/>
                </a:lnTo>
                <a:cubicBezTo>
                  <a:pt x="21998" y="13929"/>
                  <a:pt x="21631" y="13281"/>
                  <a:pt x="21030" y="12920"/>
                </a:cubicBezTo>
                <a:lnTo>
                  <a:pt x="17000" y="10500"/>
                </a:lnTo>
                <a:lnTo>
                  <a:pt x="12000" y="13500"/>
                </a:lnTo>
                <a:close/>
              </a:path>
              <a:path w="24000" h="24000" fill="none">
                <a:moveTo>
                  <a:pt x="17000" y="16500"/>
                </a:moveTo>
                <a:lnTo>
                  <a:pt x="12000" y="13500"/>
                </a:lnTo>
              </a:path>
              <a:path w="24000" h="24000" fill="none">
                <a:moveTo>
                  <a:pt x="17000" y="16500"/>
                </a:moveTo>
                <a:lnTo>
                  <a:pt x="21740" y="13650"/>
                </a:lnTo>
              </a:path>
              <a:path w="24000" h="24000" fill="none">
                <a:moveTo>
                  <a:pt x="17000" y="16500"/>
                </a:moveTo>
                <a:lnTo>
                  <a:pt x="17000" y="21670"/>
                </a:lnTo>
              </a:path>
              <a:path w="24000" h="24000" fill="none">
                <a:moveTo>
                  <a:pt x="7970" y="4420"/>
                </a:moveTo>
                <a:cubicBezTo>
                  <a:pt x="7369" y="4781"/>
                  <a:pt x="7002" y="5429"/>
                  <a:pt x="7000" y="6130"/>
                </a:cubicBezTo>
                <a:lnTo>
                  <a:pt x="7000" y="10500"/>
                </a:lnTo>
                <a:lnTo>
                  <a:pt x="12000" y="13500"/>
                </a:lnTo>
                <a:lnTo>
                  <a:pt x="17000" y="10500"/>
                </a:lnTo>
                <a:lnTo>
                  <a:pt x="17000" y="6130"/>
                </a:lnTo>
                <a:cubicBezTo>
                  <a:pt x="16998" y="5429"/>
                  <a:pt x="16631" y="4781"/>
                  <a:pt x="16030" y="4420"/>
                </a:cubicBezTo>
                <a:lnTo>
                  <a:pt x="13030" y="2620"/>
                </a:lnTo>
                <a:cubicBezTo>
                  <a:pt x="12396" y="2239"/>
                  <a:pt x="11604" y="2239"/>
                  <a:pt x="10970" y="2620"/>
                </a:cubicBezTo>
                <a:lnTo>
                  <a:pt x="7970" y="4420"/>
                </a:lnTo>
                <a:close/>
              </a:path>
              <a:path w="24000" h="24000" fill="none">
                <a:moveTo>
                  <a:pt x="12000" y="8000"/>
                </a:moveTo>
                <a:lnTo>
                  <a:pt x="7260" y="5150"/>
                </a:lnTo>
              </a:path>
              <a:path w="24000" h="24000" fill="none">
                <a:moveTo>
                  <a:pt x="12000" y="8000"/>
                </a:moveTo>
                <a:lnTo>
                  <a:pt x="16740" y="5150"/>
                </a:lnTo>
              </a:path>
              <a:path w="24000" h="24000" fill="none">
                <a:moveTo>
                  <a:pt x="12000" y="13500"/>
                </a:moveTo>
                <a:lnTo>
                  <a:pt x="12000" y="8000"/>
                </a:lnTo>
              </a:path>
            </a:pathLst>
          </a:custGeom>
          <a:noFill/>
          <a:ln w="23287" cap="rnd">
            <a:solidFill>
              <a:schemeClr val="accent1"/>
            </a:solidFill>
            <a:round/>
          </a:ln>
        </p:spPr>
      </p:sp>
      <p:sp>
        <p:nvSpPr>
          <p:cNvPr id="114" name="text80"/>
          <p:cNvSpPr txBox="1"/>
          <p:nvPr/>
        </p:nvSpPr>
        <p:spPr>
          <a:xfrm>
            <a:off x="5085070" y="3305007"/>
            <a:ext cx="1168420" cy="3962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Application services</a:t>
            </a:r>
            <a:endParaRPr lang="en" sz="1200" dirty="0"/>
          </a:p>
        </p:txBody>
      </p:sp>
      <p:sp>
        <p:nvSpPr>
          <p:cNvPr id="115" name="text81"/>
          <p:cNvSpPr txBox="1"/>
          <p:nvPr/>
        </p:nvSpPr>
        <p:spPr>
          <a:xfrm>
            <a:off x="5085070" y="3752058"/>
            <a:ext cx="1168420" cy="31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Microservices · gRPC</a:t>
            </a:r>
            <a:endParaRPr lang="en" sz="1000" dirty="0"/>
          </a:p>
        </p:txBody>
      </p:sp>
      <p:sp>
        <p:nvSpPr>
          <p:cNvPr id="116" name="shape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2039112"/>
            <a:ext cx="2157984" cy="694944"/>
          </a:xfrm>
          <a:prstGeom prst="roundRect">
            <a:avLst>
              <a:gd name="adj" fmla="val 25585"/>
            </a:avLst>
          </a:prstGeom>
          <a:solidFill>
            <a:srgbClr val="A78BFA">
              <a:alpha val="14000"/>
            </a:srgbClr>
          </a:solidFill>
          <a:ln>
            <a:noFill/>
          </a:ln>
        </p:spPr>
      </p:sp>
      <p:sp>
        <p:nvSpPr>
          <p:cNvPr id="117" name="row83-surface"/>
          <p:cNvSpPr/>
          <p:nvPr/>
        </p:nvSpPr>
        <p:spPr>
          <a:xfrm>
            <a:off x="6675120" y="2130552"/>
            <a:ext cx="1975104" cy="512064"/>
          </a:xfrm>
          <a:prstGeom prst="roundRect">
            <a:avLst>
              <a:gd name="adj" fmla="val 19841"/>
            </a:avLst>
          </a:prstGeom>
          <a:solidFill>
            <a:schemeClr val="accent3"/>
          </a:solidFill>
          <a:ln w="12700">
            <a:solidFill>
              <a:srgbClr val="A78BFA"/>
            </a:solidFill>
          </a:ln>
        </p:spPr>
      </p:sp>
      <p:sp>
        <p:nvSpPr>
          <p:cNvPr id="118" name="icon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2284903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</a:path>
              <a:path w="24000" h="24000" fill="none"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</a:path>
              <a:path w="24000" h="24000" fill="none"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</a:path>
              <a:path w="24000" h="24000" fill="none"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</a:path>
              <a:path w="24000" h="24000" fill="none"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</a:path>
              <a:path w="24000" h="24000" fill="none">
                <a:moveTo>
                  <a:pt x="12000" y="13000"/>
                </a:moveTo>
                <a:lnTo>
                  <a:pt x="16000" y="13000"/>
                </a:lnTo>
              </a:path>
              <a:path w="24000" h="24000" fill="none"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</a:path>
              <a:path w="24000" h="24000" fill="none">
                <a:moveTo>
                  <a:pt x="12000" y="8000"/>
                </a:moveTo>
                <a:lnTo>
                  <a:pt x="20000" y="8000"/>
                </a:lnTo>
              </a:path>
              <a:path w="24000" h="24000" fill="none"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</a:path>
              <a:path w="24000" h="24000" fill="none">
                <a:moveTo>
                  <a:pt x="15500" y="13000"/>
                </a:moveTo>
                <a:cubicBezTo>
                  <a:pt x="15500" y="13276"/>
                  <a:pt x="15724" y="13500"/>
                  <a:pt x="16000" y="13500"/>
                </a:cubicBezTo>
                <a:cubicBezTo>
                  <a:pt x="16276" y="13500"/>
                  <a:pt x="16500" y="13276"/>
                  <a:pt x="16500" y="13000"/>
                </a:cubicBezTo>
                <a:cubicBezTo>
                  <a:pt x="16500" y="12724"/>
                  <a:pt x="16276" y="12500"/>
                  <a:pt x="16000" y="12500"/>
                </a:cubicBezTo>
                <a:cubicBezTo>
                  <a:pt x="15724" y="12500"/>
                  <a:pt x="15500" y="12724"/>
                  <a:pt x="15500" y="13000"/>
                </a:cubicBezTo>
                <a:close/>
              </a:path>
              <a:path w="24000" h="24000" fill="none">
                <a:moveTo>
                  <a:pt x="17500" y="3000"/>
                </a:moveTo>
                <a:cubicBezTo>
                  <a:pt x="17500" y="3276"/>
                  <a:pt x="17724" y="3500"/>
                  <a:pt x="18000" y="3500"/>
                </a:cubicBezTo>
                <a:cubicBezTo>
                  <a:pt x="18276" y="3500"/>
                  <a:pt x="18500" y="3276"/>
                  <a:pt x="18500" y="3000"/>
                </a:cubicBezTo>
                <a:cubicBezTo>
                  <a:pt x="18500" y="2724"/>
                  <a:pt x="18276" y="2500"/>
                  <a:pt x="18000" y="2500"/>
                </a:cubicBezTo>
                <a:cubicBezTo>
                  <a:pt x="17724" y="2500"/>
                  <a:pt x="17500" y="2724"/>
                  <a:pt x="17500" y="3000"/>
                </a:cubicBezTo>
                <a:close/>
              </a:path>
              <a:path w="24000" h="24000" fill="none">
                <a:moveTo>
                  <a:pt x="19500" y="21000"/>
                </a:moveTo>
                <a:cubicBezTo>
                  <a:pt x="19500" y="21276"/>
                  <a:pt x="19724" y="21500"/>
                  <a:pt x="20000" y="21500"/>
                </a:cubicBezTo>
                <a:cubicBezTo>
                  <a:pt x="20276" y="21500"/>
                  <a:pt x="20500" y="21276"/>
                  <a:pt x="20500" y="21000"/>
                </a:cubicBezTo>
                <a:cubicBezTo>
                  <a:pt x="20500" y="20724"/>
                  <a:pt x="20276" y="20500"/>
                  <a:pt x="20000" y="20500"/>
                </a:cubicBezTo>
                <a:cubicBezTo>
                  <a:pt x="19724" y="20500"/>
                  <a:pt x="19500" y="20724"/>
                  <a:pt x="19500" y="21000"/>
                </a:cubicBezTo>
                <a:close/>
              </a:path>
              <a:path w="24000" h="24000" fill="none">
                <a:moveTo>
                  <a:pt x="19500" y="8000"/>
                </a:moveTo>
                <a:cubicBezTo>
                  <a:pt x="19500" y="8276"/>
                  <a:pt x="19724" y="8500"/>
                  <a:pt x="20000" y="8500"/>
                </a:cubicBezTo>
                <a:cubicBezTo>
                  <a:pt x="20276" y="8500"/>
                  <a:pt x="20500" y="8276"/>
                  <a:pt x="20500" y="8000"/>
                </a:cubicBezTo>
                <a:cubicBezTo>
                  <a:pt x="20500" y="7724"/>
                  <a:pt x="20276" y="7500"/>
                  <a:pt x="20000" y="7500"/>
                </a:cubicBezTo>
                <a:cubicBezTo>
                  <a:pt x="19724" y="7500"/>
                  <a:pt x="19500" y="7724"/>
                  <a:pt x="19500" y="8000"/>
                </a:cubicBezTo>
                <a:close/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19" name="text86"/>
          <p:cNvSpPr txBox="1"/>
          <p:nvPr/>
        </p:nvSpPr>
        <p:spPr>
          <a:xfrm>
            <a:off x="7094190" y="2201784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AI orchestrator</a:t>
            </a:r>
            <a:endParaRPr lang="en" sz="1200" dirty="0"/>
          </a:p>
        </p:txBody>
      </p:sp>
      <p:sp>
        <p:nvSpPr>
          <p:cNvPr id="120" name="text87"/>
          <p:cNvSpPr txBox="1"/>
          <p:nvPr/>
        </p:nvSpPr>
        <p:spPr>
          <a:xfrm>
            <a:off x="7094190" y="2412553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Agents · tools · memory</a:t>
            </a:r>
            <a:endParaRPr lang="en" sz="1000" dirty="0"/>
          </a:p>
        </p:txBody>
      </p:sp>
      <p:sp>
        <p:nvSpPr>
          <p:cNvPr id="121" name="row88-surface"/>
          <p:cNvSpPr/>
          <p:nvPr/>
        </p:nvSpPr>
        <p:spPr>
          <a:xfrm>
            <a:off x="6675120" y="2898648"/>
            <a:ext cx="1975104" cy="512064"/>
          </a:xfrm>
          <a:prstGeom prst="roundRect">
            <a:avLst>
              <a:gd name="adj" fmla="val 19841"/>
            </a:avLst>
          </a:prstGeom>
          <a:solidFill>
            <a:schemeClr val="bg2"/>
          </a:solidFill>
          <a:ln w="12700">
            <a:solidFill>
              <a:srgbClr val="1E4466"/>
            </a:solidFill>
          </a:ln>
        </p:spPr>
      </p:sp>
      <p:sp>
        <p:nvSpPr>
          <p:cNvPr id="122" name="icon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305309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</a:path>
              <a:path w="24000" h="24000" fill="none"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6932" cap="rnd">
            <a:solidFill>
              <a:schemeClr val="accent1"/>
            </a:solidFill>
            <a:round/>
          </a:ln>
        </p:spPr>
      </p:sp>
      <p:sp>
        <p:nvSpPr>
          <p:cNvPr id="123" name="text91"/>
          <p:cNvSpPr txBox="1"/>
          <p:nvPr/>
        </p:nvSpPr>
        <p:spPr>
          <a:xfrm>
            <a:off x="7094190" y="2969880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  <a:endParaRPr lang="en" sz="1200" dirty="0"/>
          </a:p>
        </p:txBody>
      </p:sp>
      <p:sp>
        <p:nvSpPr>
          <p:cNvPr id="124" name="text92"/>
          <p:cNvSpPr txBox="1"/>
          <p:nvPr/>
        </p:nvSpPr>
        <p:spPr>
          <a:xfrm>
            <a:off x="7094190" y="3180649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OIDC · RBAC · SSO</a:t>
            </a:r>
            <a:endParaRPr lang="en" sz="1000" dirty="0"/>
          </a:p>
        </p:txBody>
      </p:sp>
      <p:sp>
        <p:nvSpPr>
          <p:cNvPr id="125" name="row93-surface"/>
          <p:cNvSpPr/>
          <p:nvPr/>
        </p:nvSpPr>
        <p:spPr>
          <a:xfrm>
            <a:off x="6675120" y="3648456"/>
            <a:ext cx="1975104" cy="512064"/>
          </a:xfrm>
          <a:prstGeom prst="roundRect">
            <a:avLst>
              <a:gd name="adj" fmla="val 19841"/>
            </a:avLst>
          </a:prstGeom>
          <a:solidFill>
            <a:schemeClr val="bg2"/>
          </a:solidFill>
          <a:ln w="12700">
            <a:solidFill>
              <a:srgbClr val="5A4514"/>
            </a:solidFill>
          </a:ln>
        </p:spPr>
      </p:sp>
      <p:sp>
        <p:nvSpPr>
          <p:cNvPr id="126" name="icon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3802807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</a:path>
              <a:path w="24000" h="24000" fill="none">
                <a:moveTo>
                  <a:pt x="22000" y="8000"/>
                </a:moveTo>
                <a:cubicBezTo>
                  <a:pt x="22000" y="5700"/>
                  <a:pt x="21200" y="3700"/>
                  <a:pt x="20000" y="2000"/>
                </a:cubicBezTo>
              </a:path>
              <a:path w="24000" h="24000" fill="none"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  <a:path w="24000" h="24000" fill="none">
                <a:moveTo>
                  <a:pt x="4000" y="2000"/>
                </a:moveTo>
                <a:cubicBezTo>
                  <a:pt x="2800" y="3700"/>
                  <a:pt x="2000" y="5700"/>
                  <a:pt x="2000" y="8000"/>
                </a:cubicBezTo>
              </a:path>
            </a:pathLst>
          </a:custGeom>
          <a:noFill/>
          <a:ln w="16932" cap="rnd">
            <a:solidFill>
              <a:srgbClr val="FBBF24"/>
            </a:solidFill>
            <a:round/>
          </a:ln>
        </p:spPr>
      </p:sp>
      <p:sp>
        <p:nvSpPr>
          <p:cNvPr id="127" name="text96"/>
          <p:cNvSpPr txBox="1"/>
          <p:nvPr/>
        </p:nvSpPr>
        <p:spPr>
          <a:xfrm>
            <a:off x="7094190" y="3719688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Notifications</a:t>
            </a:r>
            <a:endParaRPr lang="en" sz="1200" dirty="0"/>
          </a:p>
        </p:txBody>
      </p:sp>
      <p:sp>
        <p:nvSpPr>
          <p:cNvPr id="128" name="text97"/>
          <p:cNvSpPr txBox="1"/>
          <p:nvPr/>
        </p:nvSpPr>
        <p:spPr>
          <a:xfrm>
            <a:off x="7094190" y="3930457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Push · email · SMS</a:t>
            </a:r>
            <a:endParaRPr lang="en" sz="1000" dirty="0"/>
          </a:p>
        </p:txBody>
      </p:sp>
      <p:sp>
        <p:nvSpPr>
          <p:cNvPr id="129" name="row98-surface"/>
          <p:cNvSpPr/>
          <p:nvPr/>
        </p:nvSpPr>
        <p:spPr>
          <a:xfrm>
            <a:off x="6675120" y="4389120"/>
            <a:ext cx="1975104" cy="512064"/>
          </a:xfrm>
          <a:prstGeom prst="roundRect">
            <a:avLst>
              <a:gd name="adj" fmla="val 19841"/>
            </a:avLst>
          </a:prstGeom>
          <a:solidFill>
            <a:schemeClr val="bg2"/>
          </a:solidFill>
          <a:ln w="12700">
            <a:solidFill>
              <a:srgbClr val="1A5552"/>
            </a:solidFill>
          </a:ln>
        </p:spPr>
      </p:sp>
      <p:sp>
        <p:nvSpPr>
          <p:cNvPr id="130" name="icon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4543471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5000"/>
                </a:moveTo>
                <a:cubicBezTo>
                  <a:pt x="3000" y="6657"/>
                  <a:pt x="7029" y="8000"/>
                  <a:pt x="12000" y="8000"/>
                </a:cubicBezTo>
                <a:cubicBezTo>
                  <a:pt x="16971" y="8000"/>
                  <a:pt x="21000" y="6657"/>
                  <a:pt x="21000" y="5000"/>
                </a:cubicBezTo>
                <a:cubicBezTo>
                  <a:pt x="21000" y="3343"/>
                  <a:pt x="16971" y="2000"/>
                  <a:pt x="12000" y="2000"/>
                </a:cubicBezTo>
                <a:cubicBezTo>
                  <a:pt x="7029" y="2000"/>
                  <a:pt x="3000" y="3343"/>
                  <a:pt x="3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2989" y="19976"/>
                  <a:pt x="4402" y="20893"/>
                  <a:pt x="6790" y="21458"/>
                </a:cubicBezTo>
                <a:cubicBezTo>
                  <a:pt x="9177" y="22023"/>
                  <a:pt x="12240" y="22165"/>
                  <a:pt x="15000" y="21840"/>
                </a:cubicBezTo>
              </a:path>
              <a:path w="24000" h="24000" fill="none">
                <a:moveTo>
                  <a:pt x="21000" y="5000"/>
                </a:moveTo>
                <a:lnTo>
                  <a:pt x="21000" y="8000"/>
                </a:lnTo>
              </a:path>
              <a:path w="24000" h="24000" fill="none">
                <a:moveTo>
                  <a:pt x="21000" y="12000"/>
                </a:moveTo>
                <a:lnTo>
                  <a:pt x="18000" y="17000"/>
                </a:lnTo>
                <a:lnTo>
                  <a:pt x="22000" y="17000"/>
                </a:lnTo>
                <a:lnTo>
                  <a:pt x="19000" y="22000"/>
                </a:lnTo>
              </a:path>
              <a:path w="24000" h="24000" fill="none">
                <a:moveTo>
                  <a:pt x="3000" y="12000"/>
                </a:moveTo>
                <a:cubicBezTo>
                  <a:pt x="3003" y="12948"/>
                  <a:pt x="4350" y="13840"/>
                  <a:pt x="6633" y="14405"/>
                </a:cubicBezTo>
                <a:cubicBezTo>
                  <a:pt x="8916" y="14970"/>
                  <a:pt x="11866" y="15143"/>
                  <a:pt x="14590" y="14870"/>
                </a:cubicBez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31" name="text101"/>
          <p:cNvSpPr txBox="1"/>
          <p:nvPr/>
        </p:nvSpPr>
        <p:spPr>
          <a:xfrm>
            <a:off x="7094190" y="4460352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Data service</a:t>
            </a:r>
            <a:endParaRPr lang="en" sz="1200" dirty="0"/>
          </a:p>
        </p:txBody>
      </p:sp>
      <p:sp>
        <p:nvSpPr>
          <p:cNvPr id="132" name="text102"/>
          <p:cNvSpPr txBox="1"/>
          <p:nvPr/>
        </p:nvSpPr>
        <p:spPr>
          <a:xfrm>
            <a:off x="7094190" y="4671121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Queries · cache · files</a:t>
            </a:r>
            <a:endParaRPr lang="en" sz="1000" dirty="0"/>
          </a:p>
        </p:txBody>
      </p:sp>
      <p:sp>
        <p:nvSpPr>
          <p:cNvPr id="133" name="row103-surface"/>
          <p:cNvSpPr/>
          <p:nvPr/>
        </p:nvSpPr>
        <p:spPr>
          <a:xfrm>
            <a:off x="9144091" y="1737360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433779"/>
            </a:solidFill>
          </a:ln>
        </p:spPr>
      </p:sp>
      <p:sp>
        <p:nvSpPr>
          <p:cNvPr id="134" name="icon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186437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</a:path>
              <a:path w="24000" h="24000" fill="none">
                <a:moveTo>
                  <a:pt x="20000" y="2000"/>
                </a:moveTo>
                <a:lnTo>
                  <a:pt x="20000" y="6000"/>
                </a:lnTo>
              </a:path>
              <a:path w="24000" h="24000" fill="none">
                <a:moveTo>
                  <a:pt x="22000" y="4000"/>
                </a:moveTo>
                <a:lnTo>
                  <a:pt x="18000" y="4000"/>
                </a:lnTo>
              </a:path>
              <a:path w="24000" h="24000" fill="none">
                <a:moveTo>
                  <a:pt x="2000" y="20000"/>
                </a:moveTo>
                <a:cubicBezTo>
                  <a:pt x="2000" y="21105"/>
                  <a:pt x="2895" y="22000"/>
                  <a:pt x="4000" y="22000"/>
                </a:cubicBezTo>
                <a:cubicBezTo>
                  <a:pt x="5105" y="22000"/>
                  <a:pt x="6000" y="21105"/>
                  <a:pt x="6000" y="20000"/>
                </a:cubicBezTo>
                <a:cubicBezTo>
                  <a:pt x="6000" y="18895"/>
                  <a:pt x="5105" y="18000"/>
                  <a:pt x="4000" y="18000"/>
                </a:cubicBezTo>
                <a:cubicBezTo>
                  <a:pt x="2895" y="18000"/>
                  <a:pt x="2000" y="18895"/>
                  <a:pt x="2000" y="20000"/>
                </a:cubicBezTo>
                <a:close/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35" name="text106"/>
          <p:cNvSpPr txBox="1"/>
          <p:nvPr/>
        </p:nvSpPr>
        <p:spPr>
          <a:xfrm>
            <a:off x="9563161" y="1781160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LLM providers</a:t>
            </a:r>
            <a:endParaRPr lang="en" sz="1200" dirty="0"/>
          </a:p>
        </p:txBody>
      </p:sp>
      <p:sp>
        <p:nvSpPr>
          <p:cNvPr id="136" name="text107"/>
          <p:cNvSpPr txBox="1"/>
          <p:nvPr/>
        </p:nvSpPr>
        <p:spPr>
          <a:xfrm>
            <a:off x="9563161" y="1991929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Claude · GPT · open models</a:t>
            </a:r>
            <a:endParaRPr lang="en" sz="1000" dirty="0"/>
          </a:p>
        </p:txBody>
      </p:sp>
      <p:sp>
        <p:nvSpPr>
          <p:cNvPr id="137" name="row108-surface"/>
          <p:cNvSpPr/>
          <p:nvPr/>
        </p:nvSpPr>
        <p:spPr>
          <a:xfrm>
            <a:off x="9144091" y="2267712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433779"/>
            </a:solidFill>
          </a:ln>
        </p:spPr>
      </p:sp>
      <p:sp>
        <p:nvSpPr>
          <p:cNvPr id="138" name="icon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2394722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</a:path>
              <a:path w="24000" h="24000" fill="none"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39" name="text111"/>
          <p:cNvSpPr txBox="1"/>
          <p:nvPr/>
        </p:nvSpPr>
        <p:spPr>
          <a:xfrm>
            <a:off x="9563161" y="2311512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Vector database</a:t>
            </a:r>
            <a:endParaRPr lang="en" sz="1200" dirty="0"/>
          </a:p>
        </p:txBody>
      </p:sp>
      <p:sp>
        <p:nvSpPr>
          <p:cNvPr id="140" name="text112"/>
          <p:cNvSpPr txBox="1"/>
          <p:nvPr/>
        </p:nvSpPr>
        <p:spPr>
          <a:xfrm>
            <a:off x="9563161" y="2522372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pgvector · embeddings</a:t>
            </a:r>
            <a:endParaRPr lang="en" sz="1000" dirty="0"/>
          </a:p>
        </p:txBody>
      </p:sp>
      <p:sp>
        <p:nvSpPr>
          <p:cNvPr id="141" name="row113-surface"/>
          <p:cNvSpPr/>
          <p:nvPr/>
        </p:nvSpPr>
        <p:spPr>
          <a:xfrm>
            <a:off x="9144091" y="2798064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433779"/>
            </a:solidFill>
          </a:ln>
        </p:spPr>
      </p:sp>
      <p:sp>
        <p:nvSpPr>
          <p:cNvPr id="142" name="icon1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2925074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6300" y="20300"/>
                </a:moveTo>
                <a:cubicBezTo>
                  <a:pt x="6750" y="20752"/>
                  <a:pt x="7362" y="21006"/>
                  <a:pt x="8000" y="21006"/>
                </a:cubicBezTo>
                <a:cubicBezTo>
                  <a:pt x="8638" y="21006"/>
                  <a:pt x="9250" y="20752"/>
                  <a:pt x="9700" y="20300"/>
                </a:cubicBezTo>
                <a:lnTo>
                  <a:pt x="12000" y="18000"/>
                </a:lnTo>
                <a:lnTo>
                  <a:pt x="6000" y="12000"/>
                </a:lnTo>
                <a:lnTo>
                  <a:pt x="3700" y="14300"/>
                </a:lnTo>
                <a:cubicBezTo>
                  <a:pt x="3248" y="14750"/>
                  <a:pt x="2994" y="15362"/>
                  <a:pt x="2994" y="16000"/>
                </a:cubicBezTo>
                <a:cubicBezTo>
                  <a:pt x="2994" y="16638"/>
                  <a:pt x="3248" y="17250"/>
                  <a:pt x="3700" y="17700"/>
                </a:cubicBezTo>
                <a:close/>
              </a:path>
              <a:path w="24000" h="24000" fill="none">
                <a:moveTo>
                  <a:pt x="2000" y="22000"/>
                </a:moveTo>
                <a:lnTo>
                  <a:pt x="5000" y="19000"/>
                </a:lnTo>
              </a:path>
              <a:path w="24000" h="24000" fill="none">
                <a:moveTo>
                  <a:pt x="7500" y="13500"/>
                </a:moveTo>
                <a:lnTo>
                  <a:pt x="10000" y="11000"/>
                </a:lnTo>
              </a:path>
              <a:path w="24000" h="24000" fill="none">
                <a:moveTo>
                  <a:pt x="10500" y="16500"/>
                </a:moveTo>
                <a:lnTo>
                  <a:pt x="13000" y="14000"/>
                </a:lnTo>
              </a:path>
              <a:path w="24000" h="24000" fill="none">
                <a:moveTo>
                  <a:pt x="18000" y="3000"/>
                </a:moveTo>
                <a:lnTo>
                  <a:pt x="14000" y="7000"/>
                </a:lnTo>
                <a:lnTo>
                  <a:pt x="20000" y="7000"/>
                </a:lnTo>
                <a:lnTo>
                  <a:pt x="16000" y="11000"/>
                </a:lnTo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43" name="text116"/>
          <p:cNvSpPr txBox="1"/>
          <p:nvPr/>
        </p:nvSpPr>
        <p:spPr>
          <a:xfrm>
            <a:off x="9563161" y="2841864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Tool / MCP services</a:t>
            </a:r>
            <a:endParaRPr lang="en" sz="1200" dirty="0"/>
          </a:p>
        </p:txBody>
      </p:sp>
      <p:sp>
        <p:nvSpPr>
          <p:cNvPr id="144" name="text117"/>
          <p:cNvSpPr txBox="1"/>
          <p:nvPr/>
        </p:nvSpPr>
        <p:spPr>
          <a:xfrm>
            <a:off x="9563161" y="3052724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MCP servers · internal APIs</a:t>
            </a:r>
            <a:endParaRPr lang="en" sz="1000" dirty="0"/>
          </a:p>
        </p:txBody>
      </p:sp>
      <p:sp>
        <p:nvSpPr>
          <p:cNvPr id="145" name="row118-surface"/>
          <p:cNvSpPr/>
          <p:nvPr/>
        </p:nvSpPr>
        <p:spPr>
          <a:xfrm>
            <a:off x="9144091" y="3840480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1A5552"/>
            </a:solidFill>
          </a:ln>
        </p:spPr>
      </p:sp>
      <p:sp>
        <p:nvSpPr>
          <p:cNvPr id="146" name="icon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396749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5000"/>
                </a:moveTo>
                <a:cubicBezTo>
                  <a:pt x="3000" y="6657"/>
                  <a:pt x="7029" y="8000"/>
                  <a:pt x="12000" y="8000"/>
                </a:cubicBezTo>
                <a:cubicBezTo>
                  <a:pt x="16971" y="8000"/>
                  <a:pt x="21000" y="6657"/>
                  <a:pt x="21000" y="5000"/>
                </a:cubicBezTo>
                <a:cubicBezTo>
                  <a:pt x="21000" y="3343"/>
                  <a:pt x="16971" y="2000"/>
                  <a:pt x="12000" y="2000"/>
                </a:cubicBezTo>
                <a:cubicBezTo>
                  <a:pt x="7029" y="2000"/>
                  <a:pt x="3000" y="3343"/>
                  <a:pt x="3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</a:path>
              <a:path w="24000" h="24000" fill="none"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47" name="text121"/>
          <p:cNvSpPr txBox="1"/>
          <p:nvPr/>
        </p:nvSpPr>
        <p:spPr>
          <a:xfrm>
            <a:off x="9563161" y="3884280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PostgreSQL</a:t>
            </a:r>
            <a:endParaRPr lang="en" sz="1200" dirty="0"/>
          </a:p>
        </p:txBody>
      </p:sp>
      <p:sp>
        <p:nvSpPr>
          <p:cNvPr id="148" name="text122"/>
          <p:cNvSpPr txBox="1"/>
          <p:nvPr/>
        </p:nvSpPr>
        <p:spPr>
          <a:xfrm>
            <a:off x="9563161" y="4095140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Primary + 2 read replicas</a:t>
            </a:r>
            <a:endParaRPr lang="en" sz="1000" dirty="0"/>
          </a:p>
        </p:txBody>
      </p:sp>
      <p:sp>
        <p:nvSpPr>
          <p:cNvPr id="149" name="row123-surface"/>
          <p:cNvSpPr/>
          <p:nvPr/>
        </p:nvSpPr>
        <p:spPr>
          <a:xfrm>
            <a:off x="9144091" y="4370832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1A5552"/>
            </a:solidFill>
          </a:ln>
        </p:spPr>
      </p:sp>
      <p:sp>
        <p:nvSpPr>
          <p:cNvPr id="150" name="icon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4497842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914" y="4000"/>
                </a:moveTo>
                <a:cubicBezTo>
                  <a:pt x="16147" y="3340"/>
                  <a:pt x="15892" y="2606"/>
                  <a:pt x="15300" y="2232"/>
                </a:cubicBezTo>
                <a:cubicBezTo>
                  <a:pt x="14708" y="1859"/>
                  <a:pt x="13936" y="1944"/>
                  <a:pt x="13440" y="2439"/>
                </a:cubicBezTo>
                <a:lnTo>
                  <a:pt x="4440" y="11439"/>
                </a:lnTo>
                <a:cubicBezTo>
                  <a:pt x="4011" y="11868"/>
                  <a:pt x="3882" y="12513"/>
                  <a:pt x="4114" y="13074"/>
                </a:cubicBezTo>
                <a:cubicBezTo>
                  <a:pt x="4346" y="13634"/>
                  <a:pt x="4893" y="14000"/>
                  <a:pt x="5500" y="14000"/>
                </a:cubicBezTo>
                <a:lnTo>
                  <a:pt x="9502" y="14000"/>
                </a:lnTo>
                <a:cubicBezTo>
                  <a:pt x="9664" y="14000"/>
                  <a:pt x="9816" y="14079"/>
                  <a:pt x="9910" y="14211"/>
                </a:cubicBezTo>
                <a:cubicBezTo>
                  <a:pt x="10003" y="14344"/>
                  <a:pt x="10027" y="14513"/>
                  <a:pt x="9973" y="14666"/>
                </a:cubicBezTo>
                <a:lnTo>
                  <a:pt x="8086" y="20000"/>
                </a:lnTo>
                <a:cubicBezTo>
                  <a:pt x="7853" y="20661"/>
                  <a:pt x="8108" y="21395"/>
                  <a:pt x="8701" y="21768"/>
                </a:cubicBezTo>
                <a:cubicBezTo>
                  <a:pt x="9293" y="22142"/>
                  <a:pt x="10066" y="22055"/>
                  <a:pt x="10561" y="21560"/>
                </a:cubicBezTo>
                <a:lnTo>
                  <a:pt x="19561" y="12560"/>
                </a:lnTo>
                <a:cubicBezTo>
                  <a:pt x="19990" y="12131"/>
                  <a:pt x="20118" y="11486"/>
                  <a:pt x="19885" y="10926"/>
                </a:cubicBezTo>
                <a:cubicBezTo>
                  <a:pt x="19653" y="10365"/>
                  <a:pt x="19106" y="10000"/>
                  <a:pt x="18500" y="10000"/>
                </a:cubicBezTo>
                <a:lnTo>
                  <a:pt x="14503" y="10000"/>
                </a:lnTo>
                <a:cubicBezTo>
                  <a:pt x="14340" y="10000"/>
                  <a:pt x="14188" y="9921"/>
                  <a:pt x="14094" y="9789"/>
                </a:cubicBezTo>
                <a:cubicBezTo>
                  <a:pt x="14000" y="9656"/>
                  <a:pt x="13977" y="9486"/>
                  <a:pt x="14031" y="9333"/>
                </a:cubicBezTo>
                <a:close/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51" name="text126"/>
          <p:cNvSpPr txBox="1"/>
          <p:nvPr/>
        </p:nvSpPr>
        <p:spPr>
          <a:xfrm>
            <a:off x="9563161" y="4414632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Redis</a:t>
            </a:r>
            <a:endParaRPr lang="en" sz="1200" dirty="0"/>
          </a:p>
        </p:txBody>
      </p:sp>
      <p:sp>
        <p:nvSpPr>
          <p:cNvPr id="152" name="text127"/>
          <p:cNvSpPr txBox="1"/>
          <p:nvPr/>
        </p:nvSpPr>
        <p:spPr>
          <a:xfrm>
            <a:off x="9563161" y="4625492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Cache · sessions · queues</a:t>
            </a:r>
            <a:endParaRPr lang="en" sz="1000" dirty="0"/>
          </a:p>
        </p:txBody>
      </p:sp>
      <p:sp>
        <p:nvSpPr>
          <p:cNvPr id="153" name="row128-surface"/>
          <p:cNvSpPr/>
          <p:nvPr/>
        </p:nvSpPr>
        <p:spPr>
          <a:xfrm>
            <a:off x="9144091" y="4901275"/>
            <a:ext cx="2450592" cy="45720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1A5552"/>
            </a:solidFill>
          </a:ln>
        </p:spPr>
      </p:sp>
      <p:sp>
        <p:nvSpPr>
          <p:cNvPr id="154" name="icon1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5028194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000" y="16000"/>
                </a:moveTo>
                <a:lnTo>
                  <a:pt x="10010" y="16000"/>
                </a:lnTo>
              </a:path>
              <a:path w="24000" h="24000" fill="none">
                <a:moveTo>
                  <a:pt x="2212" y="11577"/>
                </a:moveTo>
                <a:cubicBezTo>
                  <a:pt x="2073" y="11855"/>
                  <a:pt x="2000" y="12162"/>
                  <a:pt x="2000" y="12473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lnTo>
                  <a:pt x="20000" y="20000"/>
                </a:lnTo>
                <a:cubicBezTo>
                  <a:pt x="21105" y="20000"/>
                  <a:pt x="22000" y="19105"/>
                  <a:pt x="22000" y="18000"/>
                </a:cubicBezTo>
                <a:lnTo>
                  <a:pt x="22000" y="12473"/>
                </a:lnTo>
                <a:cubicBezTo>
                  <a:pt x="22000" y="12162"/>
                  <a:pt x="21927" y="11855"/>
                  <a:pt x="21788" y="11577"/>
                </a:cubicBezTo>
                <a:lnTo>
                  <a:pt x="18550" y="5110"/>
                </a:lnTo>
                <a:cubicBezTo>
                  <a:pt x="18212" y="4430"/>
                  <a:pt x="17519" y="4000"/>
                  <a:pt x="16760" y="4000"/>
                </a:cubicBezTo>
                <a:lnTo>
                  <a:pt x="7240" y="4000"/>
                </a:lnTo>
                <a:cubicBezTo>
                  <a:pt x="6481" y="4000"/>
                  <a:pt x="5788" y="4430"/>
                  <a:pt x="5450" y="5110"/>
                </a:cubicBezTo>
                <a:close/>
              </a:path>
              <a:path w="24000" h="24000" fill="none">
                <a:moveTo>
                  <a:pt x="21946" y="12013"/>
                </a:moveTo>
                <a:lnTo>
                  <a:pt x="2054" y="12013"/>
                </a:lnTo>
              </a:path>
              <a:path w="24000" h="24000" fill="none">
                <a:moveTo>
                  <a:pt x="6000" y="16000"/>
                </a:moveTo>
                <a:lnTo>
                  <a:pt x="6010" y="16000"/>
                </a:ln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55" name="text131"/>
          <p:cNvSpPr txBox="1"/>
          <p:nvPr/>
        </p:nvSpPr>
        <p:spPr>
          <a:xfrm>
            <a:off x="9563161" y="4944984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 storage</a:t>
            </a:r>
            <a:endParaRPr lang="en" sz="1200" dirty="0"/>
          </a:p>
        </p:txBody>
      </p:sp>
      <p:sp>
        <p:nvSpPr>
          <p:cNvPr id="156" name="text132"/>
          <p:cNvSpPr txBox="1"/>
          <p:nvPr/>
        </p:nvSpPr>
        <p:spPr>
          <a:xfrm>
            <a:off x="9563161" y="5155844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S3 · documents &amp; media</a:t>
            </a:r>
            <a:endParaRPr lang="en" sz="1000" dirty="0"/>
          </a:p>
        </p:txBody>
      </p:sp>
      <p:sp>
        <p:nvSpPr>
          <p:cNvPr id="157" name="free133-surface"/>
          <p:cNvSpPr/>
          <p:nvPr/>
        </p:nvSpPr>
        <p:spPr>
          <a:xfrm>
            <a:off x="457200" y="5596128"/>
            <a:ext cx="11277295" cy="804672"/>
          </a:xfrm>
          <a:prstGeom prst="roundRect">
            <a:avLst>
              <a:gd name="adj" fmla="val 15783"/>
            </a:avLst>
          </a:prstGeom>
          <a:solidFill>
            <a:schemeClr val="accent5"/>
          </a:solidFill>
          <a:ln w="12700">
            <a:solidFill>
              <a:schemeClr val="accent6"/>
            </a:solidFill>
          </a:ln>
        </p:spPr>
      </p:sp>
      <p:sp>
        <p:nvSpPr>
          <p:cNvPr id="158" name="text134"/>
          <p:cNvSpPr txBox="1"/>
          <p:nvPr/>
        </p:nvSpPr>
        <p:spPr>
          <a:xfrm>
            <a:off x="658368" y="570585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chemeClr val="accent1"/>
                </a:solidFill>
                <a:latin typeface="Menlo"/>
                <a:ea typeface="Menlo"/>
                <a:cs typeface="Menlo"/>
              </a:rPr>
              <a:t>INFRASTRUCTURE LAYER</a:t>
            </a:r>
            <a:endParaRPr lang="en" sz="1000" dirty="0"/>
          </a:p>
        </p:txBody>
      </p:sp>
      <p:sp>
        <p:nvSpPr>
          <p:cNvPr id="159" name="text135"/>
          <p:cNvSpPr txBox="1"/>
          <p:nvPr/>
        </p:nvSpPr>
        <p:spPr>
          <a:xfrm>
            <a:off x="658368" y="59253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Runs, observes and ships everything above</a:t>
            </a:r>
            <a:endParaRPr lang="en" sz="1000" dirty="0"/>
          </a:p>
        </p:txBody>
      </p:sp>
      <p:sp>
        <p:nvSpPr>
          <p:cNvPr id="160" name="row136-surface"/>
          <p:cNvSpPr/>
          <p:nvPr/>
        </p:nvSpPr>
        <p:spPr>
          <a:xfrm>
            <a:off x="2697480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</p:sp>
      <p:sp>
        <p:nvSpPr>
          <p:cNvPr id="161" name="icon1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1780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2000" y="7700"/>
                </a:moveTo>
                <a:cubicBezTo>
                  <a:pt x="22000" y="7100"/>
                  <a:pt x="21600" y="6500"/>
                  <a:pt x="21200" y="6200"/>
                </a:cubicBezTo>
                <a:lnTo>
                  <a:pt x="14900" y="2300"/>
                </a:lnTo>
                <a:cubicBezTo>
                  <a:pt x="14373" y="2000"/>
                  <a:pt x="13727" y="2000"/>
                  <a:pt x="13200" y="2300"/>
                </a:cubicBezTo>
                <a:lnTo>
                  <a:pt x="2900" y="8300"/>
                </a:lnTo>
                <a:cubicBezTo>
                  <a:pt x="2400" y="8500"/>
                  <a:pt x="2000" y="9100"/>
                  <a:pt x="2000" y="9700"/>
                </a:cubicBezTo>
                <a:lnTo>
                  <a:pt x="2000" y="16300"/>
                </a:lnTo>
                <a:cubicBezTo>
                  <a:pt x="2000" y="16800"/>
                  <a:pt x="2400" y="17500"/>
                  <a:pt x="2800" y="17800"/>
                </a:cubicBezTo>
                <a:lnTo>
                  <a:pt x="9100" y="21700"/>
                </a:lnTo>
                <a:cubicBezTo>
                  <a:pt x="9627" y="22000"/>
                  <a:pt x="10273" y="22000"/>
                  <a:pt x="10800" y="21700"/>
                </a:cubicBezTo>
                <a:lnTo>
                  <a:pt x="21100" y="15700"/>
                </a:lnTo>
                <a:cubicBezTo>
                  <a:pt x="21600" y="15400"/>
                  <a:pt x="22000" y="14700"/>
                  <a:pt x="22000" y="14200"/>
                </a:cubicBezTo>
                <a:close/>
              </a:path>
              <a:path w="24000" h="24000" fill="none">
                <a:moveTo>
                  <a:pt x="10000" y="21900"/>
                </a:moveTo>
                <a:lnTo>
                  <a:pt x="10000" y="14000"/>
                </a:lnTo>
                <a:lnTo>
                  <a:pt x="2100" y="9100"/>
                </a:lnTo>
              </a:path>
              <a:path w="24000" h="24000" fill="none">
                <a:moveTo>
                  <a:pt x="10000" y="14000"/>
                </a:moveTo>
                <a:lnTo>
                  <a:pt x="21900" y="7100"/>
                </a:lnTo>
              </a:path>
              <a:path w="24000" h="24000" fill="none">
                <a:moveTo>
                  <a:pt x="14000" y="19800"/>
                </a:moveTo>
                <a:lnTo>
                  <a:pt x="14000" y="11700"/>
                </a:lnTo>
              </a:path>
              <a:path w="24000" h="24000" fill="none">
                <a:moveTo>
                  <a:pt x="18000" y="17500"/>
                </a:moveTo>
                <a:lnTo>
                  <a:pt x="18000" y="9400"/>
                </a:lnTo>
              </a:path>
            </a:pathLst>
          </a:custGeom>
          <a:noFill/>
          <a:ln w="19050" cap="rnd">
            <a:solidFill>
              <a:schemeClr val="accent1"/>
            </a:solidFill>
            <a:round/>
          </a:ln>
        </p:spPr>
      </p:sp>
      <p:sp>
        <p:nvSpPr>
          <p:cNvPr id="162" name="text139"/>
          <p:cNvSpPr txBox="1"/>
          <p:nvPr/>
        </p:nvSpPr>
        <p:spPr>
          <a:xfrm>
            <a:off x="3141970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Kubernetes</a:t>
            </a:r>
            <a:endParaRPr lang="en" sz="1200" dirty="0"/>
          </a:p>
        </p:txBody>
      </p:sp>
      <p:sp>
        <p:nvSpPr>
          <p:cNvPr id="163" name="text140"/>
          <p:cNvSpPr txBox="1"/>
          <p:nvPr/>
        </p:nvSpPr>
        <p:spPr>
          <a:xfrm>
            <a:off x="3141970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EKS · autoscaling node pools</a:t>
            </a:r>
            <a:endParaRPr lang="en" sz="1000" dirty="0"/>
          </a:p>
        </p:txBody>
      </p:sp>
      <p:sp>
        <p:nvSpPr>
          <p:cNvPr id="164" name="row141-surface"/>
          <p:cNvSpPr/>
          <p:nvPr/>
        </p:nvSpPr>
        <p:spPr>
          <a:xfrm>
            <a:off x="5742432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</p:sp>
      <p:sp>
        <p:nvSpPr>
          <p:cNvPr id="165" name="icon1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6732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19050" cap="rnd">
            <a:solidFill>
              <a:srgbClr val="A78BFA"/>
            </a:solidFill>
            <a:round/>
          </a:ln>
        </p:spPr>
      </p:sp>
      <p:sp>
        <p:nvSpPr>
          <p:cNvPr id="166" name="text144"/>
          <p:cNvSpPr txBox="1"/>
          <p:nvPr/>
        </p:nvSpPr>
        <p:spPr>
          <a:xfrm>
            <a:off x="6186922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Observability</a:t>
            </a:r>
            <a:endParaRPr lang="en" sz="1200" dirty="0"/>
          </a:p>
        </p:txBody>
      </p:sp>
      <p:sp>
        <p:nvSpPr>
          <p:cNvPr id="167" name="text145"/>
          <p:cNvSpPr txBox="1"/>
          <p:nvPr/>
        </p:nvSpPr>
        <p:spPr>
          <a:xfrm>
            <a:off x="6186922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OpenTelemetry · metrics, logs, traces</a:t>
            </a:r>
            <a:endParaRPr lang="en" sz="1000" dirty="0"/>
          </a:p>
        </p:txBody>
      </p:sp>
      <p:sp>
        <p:nvSpPr>
          <p:cNvPr id="168" name="row146-surface"/>
          <p:cNvSpPr/>
          <p:nvPr/>
        </p:nvSpPr>
        <p:spPr>
          <a:xfrm>
            <a:off x="8787384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</p:sp>
      <p:sp>
        <p:nvSpPr>
          <p:cNvPr id="169" name="icon1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1684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</a:path>
              <a:path w="24000" h="24000" fill="none">
                <a:moveTo>
                  <a:pt x="15000" y="6000"/>
                </a:moveTo>
                <a:cubicBezTo>
                  <a:pt x="15000" y="7657"/>
                  <a:pt x="16343" y="9000"/>
                  <a:pt x="18000" y="9000"/>
                </a:cubicBezTo>
                <a:cubicBezTo>
                  <a:pt x="19657" y="9000"/>
                  <a:pt x="21000" y="7657"/>
                  <a:pt x="21000" y="6000"/>
                </a:cubicBezTo>
                <a:cubicBezTo>
                  <a:pt x="21000" y="4343"/>
                  <a:pt x="19657" y="3000"/>
                  <a:pt x="18000" y="3000"/>
                </a:cubicBezTo>
                <a:cubicBezTo>
                  <a:pt x="16343" y="3000"/>
                  <a:pt x="15000" y="4343"/>
                  <a:pt x="15000" y="6000"/>
                </a:cubicBezTo>
                <a:close/>
              </a:path>
              <a:path w="24000" h="24000" fill="none">
                <a:moveTo>
                  <a:pt x="3000" y="18000"/>
                </a:moveTo>
                <a:cubicBezTo>
                  <a:pt x="3000" y="19657"/>
                  <a:pt x="4343" y="21000"/>
                  <a:pt x="6000" y="21000"/>
                </a:cubicBezTo>
                <a:cubicBezTo>
                  <a:pt x="7657" y="21000"/>
                  <a:pt x="9000" y="19657"/>
                  <a:pt x="9000" y="18000"/>
                </a:cubicBezTo>
                <a:cubicBezTo>
                  <a:pt x="9000" y="16343"/>
                  <a:pt x="7657" y="15000"/>
                  <a:pt x="6000" y="15000"/>
                </a:cubicBezTo>
                <a:cubicBezTo>
                  <a:pt x="4343" y="15000"/>
                  <a:pt x="3000" y="16343"/>
                  <a:pt x="3000" y="18000"/>
                </a:cubicBezTo>
                <a:close/>
              </a:path>
            </a:pathLst>
          </a:custGeom>
          <a:noFill/>
          <a:ln w="19050" cap="rnd">
            <a:solidFill>
              <a:srgbClr val="2DD4BF"/>
            </a:solidFill>
            <a:round/>
          </a:ln>
        </p:spPr>
      </p:sp>
      <p:sp>
        <p:nvSpPr>
          <p:cNvPr id="170" name="text149"/>
          <p:cNvSpPr txBox="1"/>
          <p:nvPr/>
        </p:nvSpPr>
        <p:spPr>
          <a:xfrm>
            <a:off x="9231874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CI/CD</a:t>
            </a:r>
            <a:endParaRPr lang="en" sz="1200" dirty="0"/>
          </a:p>
        </p:txBody>
      </p:sp>
      <p:sp>
        <p:nvSpPr>
          <p:cNvPr id="171" name="text150"/>
          <p:cNvSpPr txBox="1"/>
          <p:nvPr/>
        </p:nvSpPr>
        <p:spPr>
          <a:xfrm>
            <a:off x="9231874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GitHub Actions · Argo CD · canary</a:t>
            </a:r>
            <a:endParaRPr lang="e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que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One request. Four deliberate stages.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Bounded retries, streaming responses and trace context make the path production-ready.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AI Platform — Production Architecture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02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83464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640080" y="299923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lang="en" sz="1300" dirty="0"/>
          </a:p>
        </p:txBody>
      </p:sp>
      <p:sp>
        <p:nvSpPr>
          <p:cNvPr id="10" name="text9"/>
          <p:cNvSpPr txBox="1"/>
          <p:nvPr/>
        </p:nvSpPr>
        <p:spPr>
          <a:xfrm>
            <a:off x="640080" y="347472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Accept</a:t>
            </a:r>
            <a:endParaRPr lang="en" sz="1800" dirty="0"/>
          </a:p>
        </p:txBody>
      </p:sp>
      <p:sp>
        <p:nvSpPr>
          <p:cNvPr id="11" name="text10"/>
          <p:cNvSpPr txBox="1"/>
          <p:nvPr/>
        </p:nvSpPr>
        <p:spPr>
          <a:xfrm>
            <a:off x="640080" y="3959352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Gateway validates identity, quota and request schema.</a:t>
            </a:r>
            <a:endParaRPr lang="en" sz="1300" dirty="0"/>
          </a:p>
        </p:txBody>
      </p:sp>
      <p:sp>
        <p:nvSpPr>
          <p:cNvPr id="12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363016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free12-surface"/>
          <p:cNvSpPr/>
          <p:nvPr/>
        </p:nvSpPr>
        <p:spPr>
          <a:xfrm>
            <a:off x="3346704" y="283464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4" name="text13"/>
          <p:cNvSpPr txBox="1"/>
          <p:nvPr/>
        </p:nvSpPr>
        <p:spPr>
          <a:xfrm>
            <a:off x="3529584" y="299923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lang="en" sz="1300" dirty="0"/>
          </a:p>
        </p:txBody>
      </p:sp>
      <p:sp>
        <p:nvSpPr>
          <p:cNvPr id="15" name="text14"/>
          <p:cNvSpPr txBox="1"/>
          <p:nvPr/>
        </p:nvSpPr>
        <p:spPr>
          <a:xfrm>
            <a:off x="3529584" y="347472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Plan</a:t>
            </a:r>
            <a:endParaRPr lang="en" sz="1800" dirty="0"/>
          </a:p>
        </p:txBody>
      </p:sp>
      <p:sp>
        <p:nvSpPr>
          <p:cNvPr id="16" name="text15"/>
          <p:cNvSpPr txBox="1"/>
          <p:nvPr/>
        </p:nvSpPr>
        <p:spPr>
          <a:xfrm>
            <a:off x="3529584" y="3959352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Orchestrator selects retrieval, tools and model.</a:t>
            </a:r>
            <a:endParaRPr lang="en" sz="13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363016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free17-surface"/>
          <p:cNvSpPr/>
          <p:nvPr/>
        </p:nvSpPr>
        <p:spPr>
          <a:xfrm>
            <a:off x="6236208" y="283464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text18"/>
          <p:cNvSpPr txBox="1"/>
          <p:nvPr/>
        </p:nvSpPr>
        <p:spPr>
          <a:xfrm>
            <a:off x="6419088" y="299923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03</a:t>
            </a:r>
            <a:endParaRPr lang="en" sz="1300" dirty="0"/>
          </a:p>
        </p:txBody>
      </p:sp>
      <p:sp>
        <p:nvSpPr>
          <p:cNvPr id="20" name="text19"/>
          <p:cNvSpPr txBox="1"/>
          <p:nvPr/>
        </p:nvSpPr>
        <p:spPr>
          <a:xfrm>
            <a:off x="6419088" y="347472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Execute</a:t>
            </a:r>
            <a:endParaRPr lang="en" sz="1800" dirty="0"/>
          </a:p>
        </p:txBody>
      </p:sp>
      <p:sp>
        <p:nvSpPr>
          <p:cNvPr id="21" name="text20"/>
          <p:cNvSpPr txBox="1"/>
          <p:nvPr/>
        </p:nvSpPr>
        <p:spPr>
          <a:xfrm>
            <a:off x="6419088" y="3959352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Services retrieve context and invoke allowed tools.</a:t>
            </a:r>
            <a:endParaRPr lang="en" sz="13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363016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free22-surface"/>
          <p:cNvSpPr/>
          <p:nvPr/>
        </p:nvSpPr>
        <p:spPr>
          <a:xfrm>
            <a:off x="9125712" y="283464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9308592" y="299923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04</a:t>
            </a:r>
            <a:endParaRPr lang="en" sz="1300" dirty="0"/>
          </a:p>
        </p:txBody>
      </p:sp>
      <p:sp>
        <p:nvSpPr>
          <p:cNvPr id="25" name="text24"/>
          <p:cNvSpPr txBox="1"/>
          <p:nvPr/>
        </p:nvSpPr>
        <p:spPr>
          <a:xfrm>
            <a:off x="9308592" y="347472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Respond</a:t>
            </a:r>
            <a:endParaRPr lang="en" sz="1800" dirty="0"/>
          </a:p>
        </p:txBody>
      </p:sp>
      <p:sp>
        <p:nvSpPr>
          <p:cNvPr id="26" name="text25"/>
          <p:cNvSpPr txBox="1"/>
          <p:nvPr/>
        </p:nvSpPr>
        <p:spPr>
          <a:xfrm>
            <a:off x="9308592" y="3959352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Stream output and record usage, latency and trace.</a:t>
            </a:r>
            <a:endParaRPr lang="en" sz="1300" dirty="0"/>
          </a:p>
        </p:txBody>
      </p:sp>
      <p:sp>
        <p:nvSpPr>
          <p:cNvPr id="27" name="free26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One trace ID spans the gateway, orchestrator, tool calls and model response.</a:t>
            </a:r>
            <a:endParaRPr lang="e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riev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Ground the model in governed knowledge.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Separate ingestion from retrieval; keep citations and access control attached to context.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AI Platform — Production Architecture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03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404872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640080" y="258775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Documents</a:t>
            </a:r>
            <a:endParaRPr lang="en" sz="2000" dirty="0"/>
          </a:p>
        </p:txBody>
      </p:sp>
      <p:sp>
        <p:nvSpPr>
          <p:cNvPr id="10" name="text9"/>
          <p:cNvSpPr txBox="1"/>
          <p:nvPr/>
        </p:nvSpPr>
        <p:spPr>
          <a:xfrm>
            <a:off x="640080" y="3035899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Object storage</a:t>
            </a:r>
            <a:endParaRPr lang="en" sz="1100" dirty="0"/>
          </a:p>
        </p:txBody>
      </p:sp>
      <p:sp>
        <p:nvSpPr>
          <p:cNvPr id="11" name="shape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2816352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2" name="free11-surface"/>
          <p:cNvSpPr/>
          <p:nvPr/>
        </p:nvSpPr>
        <p:spPr>
          <a:xfrm>
            <a:off x="3346704" y="2404872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text12"/>
          <p:cNvSpPr txBox="1"/>
          <p:nvPr/>
        </p:nvSpPr>
        <p:spPr>
          <a:xfrm>
            <a:off x="3529584" y="258775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Prepare</a:t>
            </a:r>
            <a:endParaRPr lang="en" sz="2000" dirty="0"/>
          </a:p>
        </p:txBody>
      </p:sp>
      <p:sp>
        <p:nvSpPr>
          <p:cNvPr id="14" name="text13"/>
          <p:cNvSpPr txBox="1"/>
          <p:nvPr/>
        </p:nvSpPr>
        <p:spPr>
          <a:xfrm>
            <a:off x="3529584" y="3035899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Parse and chunk</a:t>
            </a:r>
            <a:endParaRPr lang="en" sz="1100" dirty="0"/>
          </a:p>
        </p:txBody>
      </p:sp>
      <p:sp>
        <p:nvSpPr>
          <p:cNvPr id="15" name="shape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2816352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6" name="free15-surface"/>
          <p:cNvSpPr/>
          <p:nvPr/>
        </p:nvSpPr>
        <p:spPr>
          <a:xfrm>
            <a:off x="6236208" y="2404872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text16"/>
          <p:cNvSpPr txBox="1"/>
          <p:nvPr/>
        </p:nvSpPr>
        <p:spPr>
          <a:xfrm>
            <a:off x="6419088" y="258775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Embed</a:t>
            </a:r>
            <a:endParaRPr lang="en" sz="2000" dirty="0"/>
          </a:p>
        </p:txBody>
      </p:sp>
      <p:sp>
        <p:nvSpPr>
          <p:cNvPr id="18" name="text17"/>
          <p:cNvSpPr txBox="1"/>
          <p:nvPr/>
        </p:nvSpPr>
        <p:spPr>
          <a:xfrm>
            <a:off x="6419088" y="3035899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Versioned model</a:t>
            </a:r>
            <a:endParaRPr lang="en" sz="1100" dirty="0"/>
          </a:p>
        </p:txBody>
      </p:sp>
      <p:sp>
        <p:nvSpPr>
          <p:cNvPr id="19" name="shape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2816352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0" name="free19-surface"/>
          <p:cNvSpPr/>
          <p:nvPr/>
        </p:nvSpPr>
        <p:spPr>
          <a:xfrm>
            <a:off x="9125712" y="2404872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text20"/>
          <p:cNvSpPr txBox="1"/>
          <p:nvPr/>
        </p:nvSpPr>
        <p:spPr>
          <a:xfrm>
            <a:off x="9308592" y="258775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Index</a:t>
            </a:r>
            <a:endParaRPr lang="en" sz="2000" dirty="0"/>
          </a:p>
        </p:txBody>
      </p:sp>
      <p:sp>
        <p:nvSpPr>
          <p:cNvPr id="22" name="text21"/>
          <p:cNvSpPr txBox="1"/>
          <p:nvPr/>
        </p:nvSpPr>
        <p:spPr>
          <a:xfrm>
            <a:off x="9308592" y="3035899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Vector database</a:t>
            </a:r>
            <a:endParaRPr lang="en" sz="1100" dirty="0"/>
          </a:p>
        </p:txBody>
      </p:sp>
      <p:sp>
        <p:nvSpPr>
          <p:cNvPr id="23" name="free22-surface"/>
          <p:cNvSpPr/>
          <p:nvPr/>
        </p:nvSpPr>
        <p:spPr>
          <a:xfrm>
            <a:off x="457200" y="3840480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640080" y="40233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Question</a:t>
            </a:r>
            <a:endParaRPr lang="en" sz="2000" dirty="0"/>
          </a:p>
        </p:txBody>
      </p:sp>
      <p:sp>
        <p:nvSpPr>
          <p:cNvPr id="25" name="text24"/>
          <p:cNvSpPr txBox="1"/>
          <p:nvPr/>
        </p:nvSpPr>
        <p:spPr>
          <a:xfrm>
            <a:off x="640080" y="447141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User context</a:t>
            </a:r>
            <a:endParaRPr lang="en" sz="1100" dirty="0"/>
          </a:p>
        </p:txBody>
      </p:sp>
      <p:sp>
        <p:nvSpPr>
          <p:cNvPr id="26" name="shape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4251960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7" name="free26-surface"/>
          <p:cNvSpPr/>
          <p:nvPr/>
        </p:nvSpPr>
        <p:spPr>
          <a:xfrm>
            <a:off x="3346704" y="3840480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3529584" y="40233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Retrieve</a:t>
            </a:r>
            <a:endParaRPr lang="en" sz="2000" dirty="0"/>
          </a:p>
        </p:txBody>
      </p:sp>
      <p:sp>
        <p:nvSpPr>
          <p:cNvPr id="29" name="text28"/>
          <p:cNvSpPr txBox="1"/>
          <p:nvPr/>
        </p:nvSpPr>
        <p:spPr>
          <a:xfrm>
            <a:off x="3529584" y="447141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Tenant filter</a:t>
            </a:r>
            <a:endParaRPr lang="en" sz="1100" dirty="0"/>
          </a:p>
        </p:txBody>
      </p:sp>
      <p:sp>
        <p:nvSpPr>
          <p:cNvPr id="30" name="shape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4251960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31" name="free30-surface"/>
          <p:cNvSpPr/>
          <p:nvPr/>
        </p:nvSpPr>
        <p:spPr>
          <a:xfrm>
            <a:off x="6236208" y="3840480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2" name="text31"/>
          <p:cNvSpPr txBox="1"/>
          <p:nvPr/>
        </p:nvSpPr>
        <p:spPr>
          <a:xfrm>
            <a:off x="6419088" y="40233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Generate</a:t>
            </a:r>
            <a:endParaRPr lang="en" sz="2000" dirty="0"/>
          </a:p>
        </p:txBody>
      </p:sp>
      <p:sp>
        <p:nvSpPr>
          <p:cNvPr id="33" name="text32"/>
          <p:cNvSpPr txBox="1"/>
          <p:nvPr/>
        </p:nvSpPr>
        <p:spPr>
          <a:xfrm>
            <a:off x="6419088" y="447141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LLM + citations</a:t>
            </a:r>
            <a:endParaRPr lang="en" sz="1100" dirty="0"/>
          </a:p>
        </p:txBody>
      </p:sp>
      <p:sp>
        <p:nvSpPr>
          <p:cNvPr id="34" name="shape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251960"/>
            <a:ext cx="137160" cy="21945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35" name="free34-surface"/>
          <p:cNvSpPr/>
          <p:nvPr/>
        </p:nvSpPr>
        <p:spPr>
          <a:xfrm>
            <a:off x="9125712" y="3840480"/>
            <a:ext cx="2615184" cy="1069848"/>
          </a:xfrm>
          <a:prstGeom prst="roundRect">
            <a:avLst>
              <a:gd name="adj" fmla="val 1187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6" name="text35"/>
          <p:cNvSpPr txBox="1"/>
          <p:nvPr/>
        </p:nvSpPr>
        <p:spPr>
          <a:xfrm>
            <a:off x="9308592" y="40233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Answer</a:t>
            </a:r>
            <a:endParaRPr lang="en" sz="2000" dirty="0"/>
          </a:p>
        </p:txBody>
      </p:sp>
      <p:sp>
        <p:nvSpPr>
          <p:cNvPr id="37" name="text36"/>
          <p:cNvSpPr txBox="1"/>
          <p:nvPr/>
        </p:nvSpPr>
        <p:spPr>
          <a:xfrm>
            <a:off x="9308592" y="447141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Source references</a:t>
            </a:r>
            <a:endParaRPr lang="en" sz="1100" dirty="0"/>
          </a:p>
        </p:txBody>
      </p:sp>
      <p:sp>
        <p:nvSpPr>
          <p:cNvPr id="38" name="free37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9" name="text38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Enforce document permissions during retrieval; cache only within a tenant boundary.</a:t>
            </a:r>
            <a:endParaRPr lang="e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Trust boundaries are part of the architecture.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Identity, policy and tool permissions are enforced before an action reaches a system.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AI Platform — Production Architecture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04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377440"/>
            <a:ext cx="3630168" cy="3227832"/>
          </a:xfrm>
          <a:prstGeom prst="roundRect">
            <a:avLst>
              <a:gd name="adj" fmla="val 39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9" name="icon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15184"/>
            <a:ext cx="355610" cy="3556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</a:path>
              <a:path w="24000" h="24000" fill="none"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9634" cap="rnd">
            <a:solidFill>
              <a:schemeClr val="accent1"/>
            </a:solidFill>
            <a:round/>
          </a:ln>
        </p:spPr>
      </p:sp>
      <p:sp>
        <p:nvSpPr>
          <p:cNvPr id="10" name="text9"/>
          <p:cNvSpPr txBox="1"/>
          <p:nvPr/>
        </p:nvSpPr>
        <p:spPr>
          <a:xfrm>
            <a:off x="685800" y="3182203"/>
            <a:ext cx="31729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96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Identity</a:t>
            </a:r>
            <a:endParaRPr lang="en" sz="2200" dirty="0"/>
          </a:p>
        </p:txBody>
      </p:sp>
      <p:sp>
        <p:nvSpPr>
          <p:cNvPr id="11" name="text10"/>
          <p:cNvSpPr txBox="1"/>
          <p:nvPr/>
        </p:nvSpPr>
        <p:spPr>
          <a:xfrm>
            <a:off x="685800" y="3877056"/>
            <a:ext cx="317296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OIDC and short-lived tokens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Tenant-scoped service calls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Least-privilege credentials</a:t>
            </a:r>
            <a:endParaRPr lang="en" sz="1400" dirty="0"/>
          </a:p>
        </p:txBody>
      </p:sp>
      <p:sp>
        <p:nvSpPr>
          <p:cNvPr id="12" name="free11-surface"/>
          <p:cNvSpPr/>
          <p:nvPr/>
        </p:nvSpPr>
        <p:spPr>
          <a:xfrm>
            <a:off x="4279392" y="2377440"/>
            <a:ext cx="3630168" cy="3227832"/>
          </a:xfrm>
          <a:prstGeom prst="roundRect">
            <a:avLst>
              <a:gd name="adj" fmla="val 39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icon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615184"/>
            <a:ext cx="355610" cy="3556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16000"/>
                </a:moveTo>
                <a:cubicBezTo>
                  <a:pt x="11000" y="16552"/>
                  <a:pt x="11448" y="17000"/>
                  <a:pt x="12000" y="17000"/>
                </a:cubicBezTo>
                <a:cubicBezTo>
                  <a:pt x="12552" y="17000"/>
                  <a:pt x="13000" y="16552"/>
                  <a:pt x="13000" y="16000"/>
                </a:cubicBezTo>
                <a:cubicBezTo>
                  <a:pt x="13000" y="15448"/>
                  <a:pt x="12552" y="15000"/>
                  <a:pt x="12000" y="15000"/>
                </a:cubicBezTo>
                <a:cubicBezTo>
                  <a:pt x="11448" y="15000"/>
                  <a:pt x="11000" y="15448"/>
                  <a:pt x="11000" y="16000"/>
                </a:cubicBezTo>
                <a:close/>
              </a:path>
              <a:path w="24000" h="24000" fill="none">
                <a:moveTo>
                  <a:pt x="5000" y="10000"/>
                </a:moveTo>
                <a:lnTo>
                  <a:pt x="19000" y="10000"/>
                </a:lnTo>
                <a:cubicBezTo>
                  <a:pt x="20105" y="10000"/>
                  <a:pt x="21000" y="10895"/>
                  <a:pt x="21000" y="12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2000"/>
                </a:lnTo>
                <a:cubicBezTo>
                  <a:pt x="3000" y="10895"/>
                  <a:pt x="3895" y="10000"/>
                  <a:pt x="5000" y="10000"/>
                </a:cubicBezTo>
                <a:close/>
              </a:path>
              <a:path w="24000" h="24000" fill="none">
                <a:moveTo>
                  <a:pt x="7000" y="10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0000"/>
                </a:lnTo>
              </a:path>
            </a:pathLst>
          </a:custGeom>
          <a:noFill/>
          <a:ln w="29634" cap="rnd">
            <a:solidFill>
              <a:srgbClr val="A78BFA"/>
            </a:solidFill>
            <a:round/>
          </a:ln>
        </p:spPr>
      </p:sp>
      <p:sp>
        <p:nvSpPr>
          <p:cNvPr id="14" name="text13"/>
          <p:cNvSpPr txBox="1"/>
          <p:nvPr/>
        </p:nvSpPr>
        <p:spPr>
          <a:xfrm>
            <a:off x="4507992" y="3182203"/>
            <a:ext cx="31729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96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Execution policy</a:t>
            </a:r>
            <a:endParaRPr lang="en" sz="2200" dirty="0"/>
          </a:p>
        </p:txBody>
      </p:sp>
      <p:sp>
        <p:nvSpPr>
          <p:cNvPr id="15" name="text14"/>
          <p:cNvSpPr txBox="1"/>
          <p:nvPr/>
        </p:nvSpPr>
        <p:spPr>
          <a:xfrm>
            <a:off x="4507992" y="3877056"/>
            <a:ext cx="317296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Tool allowlists and budgets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Human approval for writes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Sandboxed execution</a:t>
            </a:r>
            <a:endParaRPr lang="en" sz="1400" dirty="0"/>
          </a:p>
        </p:txBody>
      </p:sp>
      <p:sp>
        <p:nvSpPr>
          <p:cNvPr id="16" name="free15-surface"/>
          <p:cNvSpPr/>
          <p:nvPr/>
        </p:nvSpPr>
        <p:spPr>
          <a:xfrm>
            <a:off x="8101584" y="2377440"/>
            <a:ext cx="3630168" cy="3227832"/>
          </a:xfrm>
          <a:prstGeom prst="roundRect">
            <a:avLst>
              <a:gd name="adj" fmla="val 39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icon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30275" y="2615184"/>
            <a:ext cx="355610" cy="3556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5000"/>
                </a:moveTo>
                <a:cubicBezTo>
                  <a:pt x="3000" y="6657"/>
                  <a:pt x="7029" y="8000"/>
                  <a:pt x="12000" y="8000"/>
                </a:cubicBezTo>
                <a:cubicBezTo>
                  <a:pt x="16971" y="8000"/>
                  <a:pt x="21000" y="6657"/>
                  <a:pt x="21000" y="5000"/>
                </a:cubicBezTo>
                <a:cubicBezTo>
                  <a:pt x="21000" y="3343"/>
                  <a:pt x="16971" y="2000"/>
                  <a:pt x="12000" y="2000"/>
                </a:cubicBezTo>
                <a:cubicBezTo>
                  <a:pt x="7029" y="2000"/>
                  <a:pt x="3000" y="3343"/>
                  <a:pt x="3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</a:path>
              <a:path w="24000" h="24000" fill="none"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9634" cap="rnd">
            <a:solidFill>
              <a:srgbClr val="2DD4BF"/>
            </a:solidFill>
            <a:round/>
          </a:ln>
        </p:spPr>
      </p:sp>
      <p:sp>
        <p:nvSpPr>
          <p:cNvPr id="18" name="text17"/>
          <p:cNvSpPr txBox="1"/>
          <p:nvPr/>
        </p:nvSpPr>
        <p:spPr>
          <a:xfrm>
            <a:off x="8330275" y="3182203"/>
            <a:ext cx="31729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96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Audit and data</a:t>
            </a:r>
            <a:endParaRPr lang="en" sz="2200" dirty="0"/>
          </a:p>
        </p:txBody>
      </p:sp>
      <p:sp>
        <p:nvSpPr>
          <p:cNvPr id="19" name="text18"/>
          <p:cNvSpPr txBox="1"/>
          <p:nvPr/>
        </p:nvSpPr>
        <p:spPr>
          <a:xfrm>
            <a:off x="8330275" y="3877056"/>
            <a:ext cx="317296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Encrypted storage and transport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Redacted operational logs</a:t>
            </a:r>
            <a:endParaRPr lang="en" sz="1400" dirty="0"/>
          </a:p>
          <a:p>
            <a:pPr algn="l">
              <a:lnSpc>
                <a:spcPts val="2030"/>
              </a:lnSpc>
              <a:spcBef>
                <a:spcPts val="49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Immutable action history</a:t>
            </a:r>
            <a:endParaRPr lang="e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ra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Ship safely. Observe continuously.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Illustrative service targets: 99.9% availability and p95 first token below 1.5 seconds.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AI Platform — Production Architecture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05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46888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640080" y="263347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lang="en" sz="1300" dirty="0"/>
          </a:p>
        </p:txBody>
      </p:sp>
      <p:sp>
        <p:nvSpPr>
          <p:cNvPr id="10" name="text9"/>
          <p:cNvSpPr txBox="1"/>
          <p:nvPr/>
        </p:nvSpPr>
        <p:spPr>
          <a:xfrm>
            <a:off x="640080" y="310896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Build</a:t>
            </a:r>
            <a:endParaRPr lang="en" sz="1800" dirty="0"/>
          </a:p>
        </p:txBody>
      </p:sp>
      <p:sp>
        <p:nvSpPr>
          <p:cNvPr id="11" name="text10"/>
          <p:cNvSpPr txBox="1"/>
          <p:nvPr/>
        </p:nvSpPr>
        <p:spPr>
          <a:xfrm>
            <a:off x="640080" y="3593683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CI runs unit, integration and policy checks.</a:t>
            </a:r>
            <a:endParaRPr lang="en" sz="1300" dirty="0"/>
          </a:p>
        </p:txBody>
      </p:sp>
      <p:sp>
        <p:nvSpPr>
          <p:cNvPr id="12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326440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free12-surface"/>
          <p:cNvSpPr/>
          <p:nvPr/>
        </p:nvSpPr>
        <p:spPr>
          <a:xfrm>
            <a:off x="3346704" y="246888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4" name="text13"/>
          <p:cNvSpPr txBox="1"/>
          <p:nvPr/>
        </p:nvSpPr>
        <p:spPr>
          <a:xfrm>
            <a:off x="3529584" y="263347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lang="en" sz="1300" dirty="0"/>
          </a:p>
        </p:txBody>
      </p:sp>
      <p:sp>
        <p:nvSpPr>
          <p:cNvPr id="15" name="text14"/>
          <p:cNvSpPr txBox="1"/>
          <p:nvPr/>
        </p:nvSpPr>
        <p:spPr>
          <a:xfrm>
            <a:off x="3529584" y="310896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Evaluate</a:t>
            </a:r>
            <a:endParaRPr lang="en" sz="1800" dirty="0"/>
          </a:p>
        </p:txBody>
      </p:sp>
      <p:sp>
        <p:nvSpPr>
          <p:cNvPr id="16" name="text15"/>
          <p:cNvSpPr txBox="1"/>
          <p:nvPr/>
        </p:nvSpPr>
        <p:spPr>
          <a:xfrm>
            <a:off x="3529584" y="3593683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Versioned datasets score quality and safety.</a:t>
            </a:r>
            <a:endParaRPr lang="en" sz="13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326440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free17-surface"/>
          <p:cNvSpPr/>
          <p:nvPr/>
        </p:nvSpPr>
        <p:spPr>
          <a:xfrm>
            <a:off x="6236208" y="246888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text18"/>
          <p:cNvSpPr txBox="1"/>
          <p:nvPr/>
        </p:nvSpPr>
        <p:spPr>
          <a:xfrm>
            <a:off x="6419088" y="263347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03</a:t>
            </a:r>
            <a:endParaRPr lang="en" sz="1300" dirty="0"/>
          </a:p>
        </p:txBody>
      </p:sp>
      <p:sp>
        <p:nvSpPr>
          <p:cNvPr id="20" name="text19"/>
          <p:cNvSpPr txBox="1"/>
          <p:nvPr/>
        </p:nvSpPr>
        <p:spPr>
          <a:xfrm>
            <a:off x="6419088" y="310896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Canary</a:t>
            </a:r>
            <a:endParaRPr lang="en" sz="1800" dirty="0"/>
          </a:p>
        </p:txBody>
      </p:sp>
      <p:sp>
        <p:nvSpPr>
          <p:cNvPr id="21" name="text20"/>
          <p:cNvSpPr txBox="1"/>
          <p:nvPr/>
        </p:nvSpPr>
        <p:spPr>
          <a:xfrm>
            <a:off x="6419088" y="3593683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Route a small share of traffic to the new release.</a:t>
            </a:r>
            <a:endParaRPr lang="en" sz="13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3264408"/>
            <a:ext cx="137160" cy="21945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free22-surface"/>
          <p:cNvSpPr/>
          <p:nvPr/>
        </p:nvSpPr>
        <p:spPr>
          <a:xfrm>
            <a:off x="9125712" y="2468880"/>
            <a:ext cx="2615184" cy="1920240"/>
          </a:xfrm>
          <a:prstGeom prst="roundRect">
            <a:avLst>
              <a:gd name="adj" fmla="val 661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9308592" y="2633472"/>
            <a:ext cx="22494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04</a:t>
            </a:r>
            <a:endParaRPr lang="en" sz="1300" dirty="0"/>
          </a:p>
        </p:txBody>
      </p:sp>
      <p:sp>
        <p:nvSpPr>
          <p:cNvPr id="25" name="text24"/>
          <p:cNvSpPr txBox="1"/>
          <p:nvPr/>
        </p:nvSpPr>
        <p:spPr>
          <a:xfrm>
            <a:off x="9308592" y="3108960"/>
            <a:ext cx="224942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Operate</a:t>
            </a:r>
            <a:endParaRPr lang="en" sz="1800" dirty="0"/>
          </a:p>
        </p:txBody>
      </p:sp>
      <p:sp>
        <p:nvSpPr>
          <p:cNvPr id="26" name="text25"/>
          <p:cNvSpPr txBox="1"/>
          <p:nvPr/>
        </p:nvSpPr>
        <p:spPr>
          <a:xfrm>
            <a:off x="9308592" y="3593683"/>
            <a:ext cx="22494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Alert on SLO burn and roll back on regression.</a:t>
            </a:r>
            <a:endParaRPr lang="en" sz="1300" dirty="0"/>
          </a:p>
        </p:txBody>
      </p:sp>
      <p:sp>
        <p:nvSpPr>
          <p:cNvPr id="27" name="free26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Kubernetes runs the platform; observability connects release versions to live behavior.</a:t>
            </a:r>
            <a:endParaRPr lang="e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Platform — Production Architecture">
  <a:themeElements>
    <a:clrScheme name="AI Platform — Production Architecture">
      <a:dk1>
        <a:srgbClr val="0A1022"/>
      </a:dk1>
      <a:lt1>
        <a:srgbClr val="E8EDF7"/>
      </a:lt1>
      <a:dk2>
        <a:srgbClr val="111A33"/>
      </a:dk2>
      <a:lt2>
        <a:srgbClr val="97A3BF"/>
      </a:lt2>
      <a:accent1>
        <a:srgbClr val="38BDF8"/>
      </a:accent1>
      <a:accent2>
        <a:srgbClr val="152040"/>
      </a:accent2>
      <a:accent3>
        <a:srgbClr val="231B4D"/>
      </a:accent3>
      <a:accent4>
        <a:srgbClr val="0D1530"/>
      </a:accent4>
      <a:accent5>
        <a:srgbClr val="0E1730"/>
      </a:accent5>
      <a:accent6>
        <a:srgbClr val="2A3757"/>
      </a:accent6>
      <a:hlink>
        <a:srgbClr val="38BDF8"/>
      </a:hlink>
      <a:folHlink>
        <a:srgbClr val="97A3BF"/>
      </a:folHlink>
    </a:clrScheme>
    <a:fontScheme name="AI Platform — Production Architectur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AI Platform — Production Architectur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2skyDim">
      <a:srgbClr val="1E4466"/>
    </a:custClr>
    <a:custClr name="s2violet">
      <a:srgbClr val="A78BFA"/>
    </a:custClr>
    <a:custClr name="s2violetDim">
      <a:srgbClr val="433779"/>
    </a:custClr>
    <a:custClr name="s2teal">
      <a:srgbClr val="2DD4BF"/>
    </a:custClr>
    <a:custClr name="s2tealDim">
      <a:srgbClr val="1A5552"/>
    </a:custClr>
    <a:custClr name="s2amber">
      <a:srgbClr val="FBBF24"/>
    </a:custClr>
    <a:custClr name="s2amberDim">
      <a:srgbClr val="5A4514"/>
    </a:custClr>
    <a:custClr name="s2grid">
      <a:srgbClr val="1A2442"/>
    </a:custClr>
  </a:custClrLst>
</a:theme>
</file>

<file path=ppt/theme/theme2.xml><?xml version="1.0" encoding="utf-8"?>
<a:theme xmlns:a="http://schemas.openxmlformats.org/drawingml/2006/main" name="Notes">
  <a:themeElements>
    <a:clrScheme name="Notes">
      <a:dk1>
        <a:srgbClr val="0A1022"/>
      </a:dk1>
      <a:lt1>
        <a:srgbClr val="E8EDF7"/>
      </a:lt1>
      <a:dk2>
        <a:srgbClr val="111A33"/>
      </a:dk2>
      <a:lt2>
        <a:srgbClr val="97A3BF"/>
      </a:lt2>
      <a:accent1>
        <a:srgbClr val="38BDF8"/>
      </a:accent1>
      <a:accent2>
        <a:srgbClr val="152040"/>
      </a:accent2>
      <a:accent3>
        <a:srgbClr val="231B4D"/>
      </a:accent3>
      <a:accent4>
        <a:srgbClr val="0D1530"/>
      </a:accent4>
      <a:accent5>
        <a:srgbClr val="0E1730"/>
      </a:accent5>
      <a:accent6>
        <a:srgbClr val="2A3757"/>
      </a:accent6>
      <a:hlink>
        <a:srgbClr val="38BDF8"/>
      </a:hlink>
      <a:folHlink>
        <a:srgbClr val="97A3BF"/>
      </a:folHlink>
    </a:clrScheme>
    <a:fontScheme name="Note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Notes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2skyDim">
      <a:srgbClr val="1E4466"/>
    </a:custClr>
    <a:custClr name="s2violet">
      <a:srgbClr val="A78BFA"/>
    </a:custClr>
    <a:custClr name="s2violetDim">
      <a:srgbClr val="433779"/>
    </a:custClr>
    <a:custClr name="s2teal">
      <a:srgbClr val="2DD4BF"/>
    </a:custClr>
    <a:custClr name="s2tealDim">
      <a:srgbClr val="1A5552"/>
    </a:custClr>
    <a:custClr name="s2amber">
      <a:srgbClr val="FBBF24"/>
    </a:custClr>
    <a:custClr name="s2amberDim">
      <a:srgbClr val="5A4514"/>
    </a:custClr>
    <a:custClr name="s2grid">
      <a:srgbClr val="1A2442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 Agent</Application>
  <Slides>5</Slides>
  <Notes>5</Notes>
  <HiddenSlides>0</HiddenSlides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Platform — Production Architecture</dc:title>
  <dc:language>en</dc:language>
  <dcterms:created xsi:type="dcterms:W3CDTF">2026-10-02T23:39:38Z</dcterms:created>
  <dcterms:modified xsi:type="dcterms:W3CDTF">2026-10-02T23:39:38Z</dcterms:modified>
</cp:coreProperties>
</file>